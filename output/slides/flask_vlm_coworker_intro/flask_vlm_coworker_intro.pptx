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475488"/>
            <a:ext cx="4206240" cy="420624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AF8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32520" y="1115568"/>
            <a:ext cx="2651760" cy="265176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ECF4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217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 자동화 스택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640080" y="950976"/>
            <a:ext cx="5303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 소개용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Flask API + VLM 스택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8368" y="228600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docs/research, docs/setup_vlms, poc/work2를 기준으로 정리한 벤치마크 중심 소개 자료입니다.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계보, 강점과 한계, Flask 프록시 사용법, 이미지 전송, OCR, 프롬프트, 파이프라인 설계를 다룹니다.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658368" y="318211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2004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벤치마크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2240280" y="318211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32004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프록시 API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3822192" y="3182112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22192" y="32004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+ GUI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6537960" y="8046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설치된 프록시 서빙 모델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537960" y="10789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비교용 direct baseline을 포함한 현재 운영 모델 구성입니다.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6510528" y="1481328"/>
            <a:ext cx="4773168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28816" y="1499616"/>
            <a:ext cx="91440" cy="62179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9984" y="16276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ui-venus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8211312" y="162763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화면 1차 grounding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6510528" y="2322576"/>
            <a:ext cx="4773168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28816" y="2340864"/>
            <a:ext cx="91440" cy="6217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9984" y="24688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ui-tars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8211312" y="2468880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주력 대안이자 agent형 planner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6510528" y="3163824"/>
            <a:ext cx="4773168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28816" y="3182112"/>
            <a:ext cx="91440" cy="6217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9984" y="33101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mai-ui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8211312" y="331012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좁은 crop 재판독 sidecar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6510528" y="4005072"/>
            <a:ext cx="4773168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28816" y="4023360"/>
            <a:ext cx="91440" cy="62179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9984" y="41513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B6B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paddleocr-vl-1.5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8211312" y="4151376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OCR 및 구조 추출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6510528" y="4846320"/>
            <a:ext cx="4773168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28816" y="4864608"/>
            <a:ext cx="91440" cy="6217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9984" y="49926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got-ocr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8211312" y="499262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영역용 hard OCR fallback</a:t>
            </a:r>
            <a:endParaRPr lang="en-US" sz="940" dirty="0"/>
          </a:p>
        </p:txBody>
      </p:sp>
      <p:sp>
        <p:nvSpPr>
          <p:cNvPr id="38" name="Text 36"/>
          <p:cNvSpPr/>
          <p:nvPr/>
        </p:nvSpPr>
        <p:spPr>
          <a:xfrm>
            <a:off x="640080" y="59893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 온보딩용으로 재정리한 research / setup 맵을 기준으로 구성했습니다.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docs/research/flask_vlm_coworker_research_map.md, docs/setup_vlms/flask_vlm_coworker_setup_map.md, poc/work2/flask_vlm.py</a:t>
            </a:r>
            <a:endParaRPr lang="en-US" sz="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56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맵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420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마크다운 자료 정리 방식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8412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research map으로 벤치마크와 모델 역할을 잡고, 그다음 setup map으로 배포와 coworker-facing API 사용 흐름을 설명하는 구조입니다.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325880"/>
            <a:ext cx="5394960" cy="4096512"/>
          </a:xfrm>
          <a:prstGeom prst="roundRect">
            <a:avLst>
              <a:gd name="adj" fmla="val 1786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" y="1344168"/>
            <a:ext cx="5358384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472184"/>
            <a:ext cx="5065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리서치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22960" y="1627632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docs/research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1993392"/>
            <a:ext cx="5065776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발표용 기본 읽기 순서: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gui_model_selection_and_benchmark_plan.md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deploy_vlms_model_roles_and_pipeline_research.md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paddleocr_vl_ui_venus_pipeline_research.md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필요할 때만 보는 deep dive: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vllm_runtime_and_unsloth_finetuning.md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encode_decode_and_model_architecture.md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pagedattention_and_prefix_caching.md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172200" y="1325880"/>
            <a:ext cx="5376672" cy="4096512"/>
          </a:xfrm>
          <a:prstGeom prst="roundRect">
            <a:avLst>
              <a:gd name="adj" fmla="val 1786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0488" y="1344168"/>
            <a:ext cx="5340096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1472184"/>
            <a:ext cx="5047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셋업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6336792" y="1627632"/>
            <a:ext cx="5047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docs/setup_vlms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36792" y="1993392"/>
            <a:ext cx="5047488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관점 읽기 순서: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README.md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01-layout-and-settings.md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03-operations-and-repo-integration.md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기동 상세: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02-serve-ui-venus-and-mai-ui.md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05-ui-tars-vs-others.md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07-paddleocr-vl-1.5.md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08-got-ocr-2.0-hf.md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58368" y="5596128"/>
            <a:ext cx="10972800" cy="457200"/>
          </a:xfrm>
          <a:prstGeom prst="roundRect">
            <a:avLst>
              <a:gd name="adj" fmla="val 16000"/>
            </a:avLst>
          </a:prstGeom>
          <a:solidFill>
            <a:srgbClr val="F2F6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5742432"/>
            <a:ext cx="10607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코드 앵커: flask_vlm.py -&gt; registry와 기본값 | connection_check.py -&gt; 실제 route 확인 | vlm_client.py -&gt; 이미지 요청 | prompts/* -&gt; 작업별 프롬프트 계약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docs/research/flask_vlm_coworker_research_map.md, docs/setup_vlms/flask_vlm_coworker_setup_map.md</a:t>
            </a:r>
            <a:endParaRPr lang="en-US" sz="6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56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벤치마크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420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리서치 기준 비교 순서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8412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원칙은 명확합니다. 설치된 5개 모델을 매 step 모두 호출하지 말고, primary GUI 비교와 조건부 sidecar escalation을 분리해야 합니다.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335024"/>
            <a:ext cx="2578608" cy="1792224"/>
          </a:xfrm>
          <a:prstGeom prst="roundRect">
            <a:avLst>
              <a:gd name="adj" fmla="val 4082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" y="1353312"/>
            <a:ext cx="2542032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481328"/>
            <a:ext cx="2249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1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22960" y="163677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 정면 비교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002536"/>
            <a:ext cx="224942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Kimi-K2.5, Qwen3-VL-30B-Instruct, UI-Venus, UI-TARS를 같은 스크린샷 세트에서 sidecar 없이 비교합니다.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447288" y="1335024"/>
            <a:ext cx="2578608" cy="1792224"/>
          </a:xfrm>
          <a:prstGeom prst="roundRect">
            <a:avLst>
              <a:gd name="adj" fmla="val 4082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65576" y="1353312"/>
            <a:ext cx="254203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1481328"/>
            <a:ext cx="2249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2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3611880" y="163677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MAI-UI 추가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11880" y="2002536"/>
            <a:ext cx="224942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 승자를 고른 뒤에만 MAI-UI를 붙입니다. 작은 버튼, 과밀 탭, local crop retry에 씁니다.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236208" y="1335024"/>
            <a:ext cx="2578608" cy="1792224"/>
          </a:xfrm>
          <a:prstGeom prst="roundRect">
            <a:avLst>
              <a:gd name="adj" fmla="val 4082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54496" y="1353312"/>
            <a:ext cx="2542032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481328"/>
            <a:ext cx="2249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6B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3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6400800" y="163677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 추가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2002536"/>
            <a:ext cx="224942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text, parameter panel, table, exact string 검증이 필요할 때 PaddleOCR-VL을 붙입니다.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9025128" y="1335024"/>
            <a:ext cx="2578608" cy="1792224"/>
          </a:xfrm>
          <a:prstGeom prst="roundRect">
            <a:avLst>
              <a:gd name="adj" fmla="val 4082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43416" y="1353312"/>
            <a:ext cx="2542032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89720" y="1481328"/>
            <a:ext cx="2249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4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9189720" y="163677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GOT fallback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89720" y="2002536"/>
            <a:ext cx="224942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formatting 민감 OCR이나 hard small-crop 실패에만 GOT-OCR로 escalation합니다.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58368" y="342900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" y="3447288"/>
            <a:ext cx="5129784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3575304"/>
            <a:ext cx="4837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822960" y="3730752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규칙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77824" y="4096512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4128" y="4005072"/>
            <a:ext cx="4517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스크린샷 세트와 같은 task 세트를 유지합니다.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877824" y="4416552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4128" y="4325112"/>
            <a:ext cx="4517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단계에서 primary 모델 비교와 sidecar 변경을 섞지 않습니다.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877824" y="4736592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4128" y="4645152"/>
            <a:ext cx="4517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MAI-UI는 전체 화면 기본값이 아니라 crop sidecar로 봅니다.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877824" y="5056632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4128" y="4965192"/>
            <a:ext cx="4517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모델은 click planner가 아니라 exact-text authority로 둡니다.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6108192" y="342900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26480" y="3447288"/>
            <a:ext cx="5449824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72784" y="3575304"/>
            <a:ext cx="5157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6272784" y="3730752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유형을 직접 측정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327648" y="405993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73952" y="3968496"/>
            <a:ext cx="4700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element hit rate (타깃 적중률)</a:t>
            </a:r>
            <a:endParaRPr lang="en-US" sz="895" dirty="0"/>
          </a:p>
        </p:txBody>
      </p:sp>
      <p:sp>
        <p:nvSpPr>
          <p:cNvPr id="47" name="Shape 45"/>
          <p:cNvSpPr/>
          <p:nvPr/>
        </p:nvSpPr>
        <p:spPr>
          <a:xfrm>
            <a:off x="6327648" y="432511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73952" y="4233672"/>
            <a:ext cx="4700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click-point drift (px)</a:t>
            </a:r>
            <a:endParaRPr lang="en-US" sz="895" dirty="0"/>
          </a:p>
        </p:txBody>
      </p:sp>
      <p:sp>
        <p:nvSpPr>
          <p:cNvPr id="49" name="Shape 47"/>
          <p:cNvSpPr/>
          <p:nvPr/>
        </p:nvSpPr>
        <p:spPr>
          <a:xfrm>
            <a:off x="6327648" y="459028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73952" y="4498848"/>
            <a:ext cx="4700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retry count / sidecar escalation rate</a:t>
            </a:r>
            <a:endParaRPr lang="en-US" sz="895" dirty="0"/>
          </a:p>
        </p:txBody>
      </p:sp>
      <p:sp>
        <p:nvSpPr>
          <p:cNvPr id="51" name="Shape 49"/>
          <p:cNvSpPr/>
          <p:nvPr/>
        </p:nvSpPr>
        <p:spPr>
          <a:xfrm>
            <a:off x="6327648" y="485546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73952" y="4764024"/>
            <a:ext cx="4700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completion rate</a:t>
            </a:r>
            <a:endParaRPr lang="en-US" sz="895" dirty="0"/>
          </a:p>
        </p:txBody>
      </p:sp>
      <p:sp>
        <p:nvSpPr>
          <p:cNvPr id="53" name="Shape 51"/>
          <p:cNvSpPr/>
          <p:nvPr/>
        </p:nvSpPr>
        <p:spPr>
          <a:xfrm>
            <a:off x="6327648" y="512064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73952" y="5029200"/>
            <a:ext cx="4700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small-text OCR recall</a:t>
            </a:r>
            <a:endParaRPr lang="en-US" sz="895" dirty="0"/>
          </a:p>
        </p:txBody>
      </p:sp>
      <p:sp>
        <p:nvSpPr>
          <p:cNvPr id="55" name="Shape 53"/>
          <p:cNvSpPr/>
          <p:nvPr/>
        </p:nvSpPr>
        <p:spPr>
          <a:xfrm>
            <a:off x="6327648" y="538581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73952" y="5294376"/>
            <a:ext cx="4700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</a:t>
            </a:r>
            <a:endParaRPr lang="en-US" sz="895" dirty="0"/>
          </a:p>
        </p:txBody>
      </p:sp>
      <p:sp>
        <p:nvSpPr>
          <p:cNvPr id="57" name="Text 55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docs/research/gui_model_selection_and_benchmark_plan.md, docs/research/deploy_vlms_model_roles_and_pipeline_research.md</a:t>
            </a:r>
            <a:endParaRPr lang="en-US" sz="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56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구성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420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설치된 5개 모델의 역할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8412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스택은 의도적으로 비대칭입니다. GUI grounding 모델이 타깃을 고르고, OCR 모델이 exact text를 맡고, MAI-UI가 좁은 crop을 재판독합니다.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371600"/>
            <a:ext cx="1554480" cy="329184"/>
          </a:xfrm>
          <a:prstGeom prst="rect">
            <a:avLst/>
          </a:prstGeom>
          <a:solidFill>
            <a:srgbClr val="10233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44752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2212848" y="1371600"/>
            <a:ext cx="2240280" cy="329184"/>
          </a:xfrm>
          <a:prstGeom prst="rect">
            <a:avLst/>
          </a:prstGeom>
          <a:solidFill>
            <a:srgbClr val="10233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1444752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/ 구조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453128" y="1371600"/>
            <a:ext cx="2331720" cy="329184"/>
          </a:xfrm>
          <a:prstGeom prst="rect">
            <a:avLst/>
          </a:prstGeom>
          <a:solidFill>
            <a:srgbClr val="10233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444752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역할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784848" y="1371600"/>
            <a:ext cx="2377440" cy="329184"/>
          </a:xfrm>
          <a:prstGeom prst="rect">
            <a:avLst/>
          </a:prstGeom>
          <a:solidFill>
            <a:srgbClr val="10233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444752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한계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9162288" y="1371600"/>
            <a:ext cx="1965960" cy="329184"/>
          </a:xfrm>
          <a:prstGeom prst="rect">
            <a:avLst/>
          </a:prstGeom>
          <a:solidFill>
            <a:srgbClr val="10233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1444752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경로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58368" y="1755648"/>
            <a:ext cx="155448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1847088"/>
            <a:ext cx="1408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ui-venus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2212848" y="1755648"/>
            <a:ext cx="224028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1847088"/>
            <a:ext cx="20939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Qwen3-VL 계열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unified GUI agent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4453128" y="1755648"/>
            <a:ext cx="23317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1847088"/>
            <a:ext cx="21854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full-screen grounding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784848" y="1755648"/>
            <a:ext cx="237744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1847088"/>
            <a:ext cx="22311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exact text는 OCR 도움 필요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9162288" y="1755648"/>
            <a:ext cx="196596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1847088"/>
            <a:ext cx="18196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/v1/chat/completions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58368" y="2459736"/>
            <a:ext cx="1554480" cy="7040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2551176"/>
            <a:ext cx="1408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ui-tars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2212848" y="2459736"/>
            <a:ext cx="2240280" cy="7040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2551176"/>
            <a:ext cx="20939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Qwen2.5-VL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reasoning-heavy agent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4453128" y="2459736"/>
            <a:ext cx="2331720" cy="7040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26280" y="2551176"/>
            <a:ext cx="21854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주력 대안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 실험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6784848" y="2459736"/>
            <a:ext cx="2377440" cy="7040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2551176"/>
            <a:ext cx="22311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runtime과 좌표 후처리가 민감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9162288" y="2459736"/>
            <a:ext cx="1965960" cy="7040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35440" y="2551176"/>
            <a:ext cx="18196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/v1/chat/completions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658368" y="3163824"/>
            <a:ext cx="155448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3255264"/>
            <a:ext cx="1408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mai-ui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2212848" y="3163824"/>
            <a:ext cx="224028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0" y="3255264"/>
            <a:ext cx="20939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Qwen3-VL 계열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parser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4453128" y="3163824"/>
            <a:ext cx="23317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26280" y="3255264"/>
            <a:ext cx="21854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local target용 zoom-in sidecar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6784848" y="3163824"/>
            <a:ext cx="237744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0" y="3255264"/>
            <a:ext cx="22311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OCR authority는 아님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9162288" y="3163824"/>
            <a:ext cx="196596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35440" y="3255264"/>
            <a:ext cx="18196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/v1/chat/completions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658368" y="3867912"/>
            <a:ext cx="1554480" cy="7040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1520" y="3959352"/>
            <a:ext cx="1408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paddleocr-vl-1.5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2212848" y="3867912"/>
            <a:ext cx="2240280" cy="7040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86000" y="3959352"/>
            <a:ext cx="20939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/ document parsing VLM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0.9B급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4453128" y="3867912"/>
            <a:ext cx="2331720" cy="7040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26280" y="3959352"/>
            <a:ext cx="21854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OCR 및 구조 추출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6784848" y="3867912"/>
            <a:ext cx="2377440" cy="7040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58000" y="3959352"/>
            <a:ext cx="22311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click-grounding planner가 아님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9162288" y="3867912"/>
            <a:ext cx="1965960" cy="704088"/>
          </a:xfrm>
          <a:prstGeom prst="rect">
            <a:avLst/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235440" y="3959352"/>
            <a:ext cx="18196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/v1/chat/completions</a:t>
            </a:r>
            <a:endParaRPr lang="en-US" sz="880" dirty="0"/>
          </a:p>
        </p:txBody>
      </p:sp>
      <p:sp>
        <p:nvSpPr>
          <p:cNvPr id="59" name="Shape 57"/>
          <p:cNvSpPr/>
          <p:nvPr/>
        </p:nvSpPr>
        <p:spPr>
          <a:xfrm>
            <a:off x="658368" y="4572000"/>
            <a:ext cx="155448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1520" y="4663440"/>
            <a:ext cx="1408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got-ocr</a:t>
            </a:r>
            <a:endParaRPr lang="en-US" sz="920" dirty="0"/>
          </a:p>
        </p:txBody>
      </p:sp>
      <p:sp>
        <p:nvSpPr>
          <p:cNvPr id="61" name="Shape 59"/>
          <p:cNvSpPr/>
          <p:nvPr/>
        </p:nvSpPr>
        <p:spPr>
          <a:xfrm>
            <a:off x="2212848" y="4572000"/>
            <a:ext cx="224028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86000" y="4663440"/>
            <a:ext cx="20939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transformers 기반 OCR specialist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dynamic resolution</a:t>
            </a:r>
            <a:endParaRPr lang="en-US" sz="880" dirty="0"/>
          </a:p>
        </p:txBody>
      </p:sp>
      <p:sp>
        <p:nvSpPr>
          <p:cNvPr id="63" name="Shape 61"/>
          <p:cNvSpPr/>
          <p:nvPr/>
        </p:nvSpPr>
        <p:spPr>
          <a:xfrm>
            <a:off x="4453128" y="4572000"/>
            <a:ext cx="23317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26280" y="4663440"/>
            <a:ext cx="21854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영역용 hard OCR fallback</a:t>
            </a:r>
            <a:endParaRPr lang="en-US" sz="880" dirty="0"/>
          </a:p>
        </p:txBody>
      </p:sp>
      <p:sp>
        <p:nvSpPr>
          <p:cNvPr id="65" name="Shape 63"/>
          <p:cNvSpPr/>
          <p:nvPr/>
        </p:nvSpPr>
        <p:spPr>
          <a:xfrm>
            <a:off x="6784848" y="4572000"/>
            <a:ext cx="237744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58000" y="4663440"/>
            <a:ext cx="22311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endpoint와 runtime이 별도</a:t>
            </a:r>
            <a:endParaRPr lang="en-US" sz="880" dirty="0"/>
          </a:p>
        </p:txBody>
      </p:sp>
      <p:sp>
        <p:nvSpPr>
          <p:cNvPr id="67" name="Shape 65"/>
          <p:cNvSpPr/>
          <p:nvPr/>
        </p:nvSpPr>
        <p:spPr>
          <a:xfrm>
            <a:off x="9162288" y="4572000"/>
            <a:ext cx="196596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235440" y="4663440"/>
            <a:ext cx="18196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/v1/ocr</a:t>
            </a:r>
            <a:endParaRPr lang="en-US" sz="880" dirty="0"/>
          </a:p>
        </p:txBody>
      </p:sp>
      <p:sp>
        <p:nvSpPr>
          <p:cNvPr id="69" name="Shape 67"/>
          <p:cNvSpPr/>
          <p:nvPr/>
        </p:nvSpPr>
        <p:spPr>
          <a:xfrm>
            <a:off x="658368" y="5413248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76656" y="5431536"/>
            <a:ext cx="10936224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22960" y="5559552"/>
            <a:ext cx="10643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원칙 한 줄 요약</a:t>
            </a:r>
            <a:endParaRPr lang="en-US" sz="820" dirty="0"/>
          </a:p>
        </p:txBody>
      </p:sp>
      <p:sp>
        <p:nvSpPr>
          <p:cNvPr id="72" name="Text 70"/>
          <p:cNvSpPr/>
          <p:nvPr/>
        </p:nvSpPr>
        <p:spPr>
          <a:xfrm>
            <a:off x="822960" y="5715000"/>
            <a:ext cx="10643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화면 판단은 GUI 모델이, exact text authority는 OCR 모델이, 작은 ambiguous crop은 먼저 MAI-UI가 맡습니다.</a:t>
            </a:r>
            <a:endParaRPr lang="en-US" sz="1220" dirty="0"/>
          </a:p>
        </p:txBody>
      </p:sp>
      <p:sp>
        <p:nvSpPr>
          <p:cNvPr id="73" name="Text 71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docs/research/deploy_vlms_model_roles_and_pipeline_research.md, poc/work2/flask_vlm.py</a:t>
            </a:r>
            <a:endParaRPr lang="en-US" sz="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56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420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UI-Venus-1.5-8B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8412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poc/work2에서 full-screen screenshot grounding 기본값으로 가장 적합한 모델입니다.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335024"/>
            <a:ext cx="4206240" cy="4526280"/>
          </a:xfrm>
          <a:prstGeom prst="roundRect">
            <a:avLst>
              <a:gd name="adj" fmla="val 1739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" y="1353312"/>
            <a:ext cx="4169664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481328"/>
            <a:ext cx="3877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계보와 구조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22960" y="1636776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UI-Venus-1.5-8B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002536"/>
            <a:ext cx="387705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공식적으로는 screenshot-driven unified GUI agent로 소개됩니다. 현재 리서치 기준으로는 full-screen 상태 인식, target grounding, 최종 click candidate 선택의 기본값으로 가장 적합합니다.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9536" y="283464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285292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Qwen3-VL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029968" y="283464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29968" y="285292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 에이전트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200400" y="2834640"/>
            <a:ext cx="1133856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852928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화면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859536" y="3310128"/>
            <a:ext cx="3611880" cy="877824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77824" y="3328416"/>
            <a:ext cx="3575304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3456432"/>
            <a:ext cx="3282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방식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1024128" y="367588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Qwen3-VL 계열 GUI agent로 구축되었고, mid-training -&gt; offline RL -&gt; online RL -&gt; model merge 흐름이 공개되어 있습니다.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859536" y="4315968"/>
            <a:ext cx="3611880" cy="877824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7824" y="4334256"/>
            <a:ext cx="3575304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4462272"/>
            <a:ext cx="3282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슬롯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1024128" y="468172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RCS screenshot과 다른 single-frame desktop UI 작업에서 기본 screen_analysis / main_tabs primary로 두는 것이 적합합니다.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5102352" y="1335024"/>
            <a:ext cx="2834640" cy="2176272"/>
          </a:xfrm>
          <a:prstGeom prst="roundRect">
            <a:avLst>
              <a:gd name="adj" fmla="val 336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20640" y="1353312"/>
            <a:ext cx="2798064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66944" y="1481328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6B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5266944" y="163677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잘하는 일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21808" y="2103120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68112" y="201168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desktop, web, mobile GUI benchmark의 screenshot grounding에 강합니다.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5321808" y="2450592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68112" y="2359152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work2가 이미 채택한 screenshot-first 자동화 흐름과 잘 맞습니다.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5321808" y="2798064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68112" y="2706624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영역이 과밀할 때 crop 기반 zoom-in retry와 궁합이 좋습니다.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5321808" y="3145536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68112" y="3054096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중요한지 고른 뒤 act하는 흐름에 강합니다.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8247888" y="1335024"/>
            <a:ext cx="2788920" cy="2176272"/>
          </a:xfrm>
          <a:prstGeom prst="roundRect">
            <a:avLst>
              <a:gd name="adj" fmla="val 336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66176" y="1353312"/>
            <a:ext cx="2752344" cy="7315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0" y="1481328"/>
            <a:ext cx="2459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8412480" y="1636776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흔들리는 지점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467344" y="2103120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13648" y="2011680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exact text, 작은 숫자, dense table의 최종 authority로 두기엔 약합니다.</a:t>
            </a:r>
            <a:endParaRPr lang="en-US" sz="905" dirty="0"/>
          </a:p>
        </p:txBody>
      </p:sp>
      <p:sp>
        <p:nvSpPr>
          <p:cNvPr id="46" name="Shape 44"/>
          <p:cNvSpPr/>
          <p:nvPr/>
        </p:nvSpPr>
        <p:spPr>
          <a:xfrm>
            <a:off x="8467344" y="2450592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13648" y="2359152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과밀한 toolbar와 tiny target에서는 crop retry가 필요할 수 있습니다.</a:t>
            </a:r>
            <a:endParaRPr lang="en-US" sz="905" dirty="0"/>
          </a:p>
        </p:txBody>
      </p:sp>
      <p:sp>
        <p:nvSpPr>
          <p:cNvPr id="48" name="Shape 46"/>
          <p:cNvSpPr/>
          <p:nvPr/>
        </p:nvSpPr>
        <p:spPr>
          <a:xfrm>
            <a:off x="8467344" y="2798064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13648" y="2706624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exact-string verification을 혼자 맡기면 안 됩니다.</a:t>
            </a:r>
            <a:endParaRPr lang="en-US" sz="905" dirty="0"/>
          </a:p>
        </p:txBody>
      </p:sp>
      <p:sp>
        <p:nvSpPr>
          <p:cNvPr id="50" name="Shape 48"/>
          <p:cNvSpPr/>
          <p:nvPr/>
        </p:nvSpPr>
        <p:spPr>
          <a:xfrm>
            <a:off x="8467344" y="3145536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13648" y="3054096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fidelity보다 semantic grounding이 더 강합니다.</a:t>
            </a:r>
            <a:endParaRPr lang="en-US" sz="905" dirty="0"/>
          </a:p>
        </p:txBody>
      </p:sp>
      <p:sp>
        <p:nvSpPr>
          <p:cNvPr id="52" name="Shape 50"/>
          <p:cNvSpPr/>
          <p:nvPr/>
        </p:nvSpPr>
        <p:spPr>
          <a:xfrm>
            <a:off x="5102352" y="3730752"/>
            <a:ext cx="5934456" cy="1463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120640" y="3749040"/>
            <a:ext cx="5897880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66944" y="3877056"/>
            <a:ext cx="5605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가이드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5266944" y="4032504"/>
            <a:ext cx="5605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 안에서의 권장 역할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266944" y="4398264"/>
            <a:ext cx="56052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full-screen observation은 여기서 시작합니다. exact text evidence는 OCR 모델이 맡고, click 전 불확실한 small crop은 MAI-UI로 다시 확인하는 구성이 적합합니다.</a:t>
            </a:r>
            <a:endParaRPr lang="en-US" sz="970" dirty="0"/>
          </a:p>
        </p:txBody>
      </p:sp>
      <p:sp>
        <p:nvSpPr>
          <p:cNvPr id="57" name="Shape 55"/>
          <p:cNvSpPr/>
          <p:nvPr/>
        </p:nvSpPr>
        <p:spPr>
          <a:xfrm>
            <a:off x="5102352" y="5413248"/>
            <a:ext cx="2852928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120640" y="5431536"/>
            <a:ext cx="281635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66944" y="5559552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상황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5266944" y="571500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안정적인 full-screen grounding pass가 필요할 때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183880" y="5413248"/>
            <a:ext cx="2852928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202168" y="5431536"/>
            <a:ext cx="2816352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48472" y="5559552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비권장 상황</a:t>
            </a:r>
            <a:endParaRPr lang="en-US" sz="820" dirty="0"/>
          </a:p>
        </p:txBody>
      </p:sp>
      <p:sp>
        <p:nvSpPr>
          <p:cNvPr id="64" name="Text 62"/>
          <p:cNvSpPr/>
          <p:nvPr/>
        </p:nvSpPr>
        <p:spPr>
          <a:xfrm>
            <a:off x="8348472" y="571500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panel에서 exact text 추출이 주목적일 때</a:t>
            </a:r>
            <a:endParaRPr lang="en-US" sz="1020" dirty="0"/>
          </a:p>
        </p:txBody>
      </p:sp>
      <p:sp>
        <p:nvSpPr>
          <p:cNvPr id="65" name="Text 63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docs/research/deploy_vlms_model_roles_and_pipeline_research.md, docs/setup_vlms/05-ui-tars-vs-others.md</a:t>
            </a:r>
            <a:endParaRPr lang="en-US" sz="6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56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420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UI-TARS-1.5-7B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8412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agent-style reasoning 모델이 필요할 때 비교할 주력 대안입니다.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335024"/>
            <a:ext cx="4206240" cy="4526280"/>
          </a:xfrm>
          <a:prstGeom prst="roundRect">
            <a:avLst>
              <a:gd name="adj" fmla="val 1739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" y="1353312"/>
            <a:ext cx="4169664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481328"/>
            <a:ext cx="3877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계보와 구조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22960" y="1636776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UI-TARS-1.5-7B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002536"/>
            <a:ext cx="387705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공식적으로는 computer use, browser use, phone use, game / virtual-world task를 다루는 end-to-end multimodal agent로 소개됩니다. 이 저장소에서는 UI-Venus와 정면 비교할 가장 강한 대안입니다.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9536" y="283464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285292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Qwen2.5-VL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029968" y="283464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29968" y="285292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리저닝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200400" y="2834640"/>
            <a:ext cx="1133856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852928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플래너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859536" y="3310128"/>
            <a:ext cx="3611880" cy="877824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77824" y="3328416"/>
            <a:ext cx="3575304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3456432"/>
            <a:ext cx="3282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방식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1024128" y="367588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Qwen2.5-VL 기반이며 grounding / computer-use template가 명확하고, thought-before-action과 multi-step agent behavior를 강하게 전면에 둡니다.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859536" y="4315968"/>
            <a:ext cx="3611880" cy="877824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7824" y="4334256"/>
            <a:ext cx="3575304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4462272"/>
            <a:ext cx="3282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슬롯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1024128" y="468172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UI-Venus와의 primary A/B 비교축, 또는 단순 one-shot grounding보다 action DSL 실험이 필요할 때 적합합니다.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5102352" y="1335024"/>
            <a:ext cx="2834640" cy="2176272"/>
          </a:xfrm>
          <a:prstGeom prst="roundRect">
            <a:avLst>
              <a:gd name="adj" fmla="val 336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20640" y="1353312"/>
            <a:ext cx="2798064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66944" y="1481328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6B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5266944" y="163677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잘하는 일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21808" y="2103120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68112" y="201168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multi-step action planning 프레이밍이 강합니다.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5321808" y="2450592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68112" y="2359152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UI-Venus와 head-to-head benchmark 축을 만들기 좋습니다.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5321808" y="2798064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68112" y="2706624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action-template 중심 접근이 후속 agent 실험에 유리합니다.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5321808" y="3145536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68112" y="3054096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reasoning-heavy next-step proposal이 필요할 때 적합합니다.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8247888" y="1335024"/>
            <a:ext cx="2788920" cy="2176272"/>
          </a:xfrm>
          <a:prstGeom prst="roundRect">
            <a:avLst>
              <a:gd name="adj" fmla="val 336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66176" y="1353312"/>
            <a:ext cx="2752344" cy="7315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0" y="1481328"/>
            <a:ext cx="2459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8412480" y="1636776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흔들리는 지점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467344" y="2103120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13648" y="2011680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Qwen2.5-VL 경로 특성상 template와 processor 파일에 민감합니다.</a:t>
            </a:r>
            <a:endParaRPr lang="en-US" sz="905" dirty="0"/>
          </a:p>
        </p:txBody>
      </p:sp>
      <p:sp>
        <p:nvSpPr>
          <p:cNvPr id="46" name="Shape 44"/>
          <p:cNvSpPr/>
          <p:nvPr/>
        </p:nvSpPr>
        <p:spPr>
          <a:xfrm>
            <a:off x="8467344" y="2450592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13648" y="2359152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absolute coordinate 후처리 중요도가 더 큽니다.</a:t>
            </a:r>
            <a:endParaRPr lang="en-US" sz="905" dirty="0"/>
          </a:p>
        </p:txBody>
      </p:sp>
      <p:sp>
        <p:nvSpPr>
          <p:cNvPr id="48" name="Shape 46"/>
          <p:cNvSpPr/>
          <p:nvPr/>
        </p:nvSpPr>
        <p:spPr>
          <a:xfrm>
            <a:off x="8467344" y="2798064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13648" y="2706624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niche industrial UI에서는 단순 single-shot grounding보다 흔들릴 수 있습니다.</a:t>
            </a:r>
            <a:endParaRPr lang="en-US" sz="905" dirty="0"/>
          </a:p>
        </p:txBody>
      </p:sp>
      <p:sp>
        <p:nvSpPr>
          <p:cNvPr id="50" name="Shape 48"/>
          <p:cNvSpPr/>
          <p:nvPr/>
        </p:nvSpPr>
        <p:spPr>
          <a:xfrm>
            <a:off x="8467344" y="3145536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13648" y="3054096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여전히 OCR specialist는 아닙니다.</a:t>
            </a:r>
            <a:endParaRPr lang="en-US" sz="905" dirty="0"/>
          </a:p>
        </p:txBody>
      </p:sp>
      <p:sp>
        <p:nvSpPr>
          <p:cNvPr id="52" name="Shape 50"/>
          <p:cNvSpPr/>
          <p:nvPr/>
        </p:nvSpPr>
        <p:spPr>
          <a:xfrm>
            <a:off x="5102352" y="3730752"/>
            <a:ext cx="5934456" cy="1463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120640" y="3749040"/>
            <a:ext cx="589788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66944" y="3877056"/>
            <a:ext cx="5605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가이드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5266944" y="4032504"/>
            <a:ext cx="5605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 안에서의 권장 역할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266944" y="4398264"/>
            <a:ext cx="56052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UI-TARS는 primary 대안으로 benchmark하되, 비교 중에는 sidecar 규칙을 고정해야 모델 차이와 escalation 정책이 섞이지 않습니다.</a:t>
            </a:r>
            <a:endParaRPr lang="en-US" sz="970" dirty="0"/>
          </a:p>
        </p:txBody>
      </p:sp>
      <p:sp>
        <p:nvSpPr>
          <p:cNvPr id="57" name="Shape 55"/>
          <p:cNvSpPr/>
          <p:nvPr/>
        </p:nvSpPr>
        <p:spPr>
          <a:xfrm>
            <a:off x="5102352" y="5413248"/>
            <a:ext cx="2852928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120640" y="5431536"/>
            <a:ext cx="281635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66944" y="5559552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상황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5266944" y="571500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 대안 또는 planner-style 실험이 필요할 때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183880" y="5413248"/>
            <a:ext cx="2852928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202168" y="5431536"/>
            <a:ext cx="2816352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48472" y="5559552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비권장 상황</a:t>
            </a:r>
            <a:endParaRPr lang="en-US" sz="820" dirty="0"/>
          </a:p>
        </p:txBody>
      </p:sp>
      <p:sp>
        <p:nvSpPr>
          <p:cNvPr id="64" name="Text 62"/>
          <p:cNvSpPr/>
          <p:nvPr/>
        </p:nvSpPr>
        <p:spPr>
          <a:xfrm>
            <a:off x="8348472" y="571500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단순하고 low-variance인 full-screen grounding만 필요할 때</a:t>
            </a:r>
            <a:endParaRPr lang="en-US" sz="1020" dirty="0"/>
          </a:p>
        </p:txBody>
      </p:sp>
      <p:sp>
        <p:nvSpPr>
          <p:cNvPr id="65" name="Text 63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docs/research/deploy_vlms_model_roles_and_pipeline_research.md, docs/setup_vlms/05-ui-tars-vs-others.md</a:t>
            </a:r>
            <a:endParaRPr lang="en-US" sz="6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56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420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MAI-UI-8B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8412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항상-on primary보다 zoom-in sidecar로 보는 편이 적합한 모델입니다.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335024"/>
            <a:ext cx="4206240" cy="4526280"/>
          </a:xfrm>
          <a:prstGeom prst="roundRect">
            <a:avLst>
              <a:gd name="adj" fmla="val 1739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" y="1353312"/>
            <a:ext cx="4169664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481328"/>
            <a:ext cx="3877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계보와 구조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22960" y="1636776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MAI-UI-8B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002536"/>
            <a:ext cx="387705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공식적으로는 vision-centric action parser와 device-cloud collaboration을 강조하는 real-world-centric GUI agent입니다. work2에서는 local crop resolver로 둘 때 가장 가치가 큽니다.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9536" y="283464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285292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Qwen3-VL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029968" y="283464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29968" y="285292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액션 파서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200400" y="2834640"/>
            <a:ext cx="1133856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852928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crop retry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859536" y="3310128"/>
            <a:ext cx="3611880" cy="877824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77824" y="3328416"/>
            <a:ext cx="3575304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3456432"/>
            <a:ext cx="3282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방식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1024128" y="367588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Qwen3-VL 계열이며, 하나의 거대한 prompt보다 GroundingAgent와 NavigationAgent를 나눠 설명하는 구조입니다.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859536" y="4315968"/>
            <a:ext cx="3611880" cy="877824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7824" y="4334256"/>
            <a:ext cx="3575304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4462272"/>
            <a:ext cx="3282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슬롯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1024128" y="468172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 모델이 영역을 이미 좁힌 뒤, 작은 버튼이나 icon cluster, label-plus-input pair에 대한 second opinion이 필요할 때 적합합니다.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5102352" y="1335024"/>
            <a:ext cx="2834640" cy="2176272"/>
          </a:xfrm>
          <a:prstGeom prst="roundRect">
            <a:avLst>
              <a:gd name="adj" fmla="val 336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20640" y="1353312"/>
            <a:ext cx="2798064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66944" y="1481328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6B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5266944" y="163677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잘하는 일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21808" y="2103120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68112" y="201168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local crop의 zoom-in recheck에 매우 유용합니다.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5321808" y="2450592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68112" y="2359152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버튼과 icon cluster grounding에 강합니다.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5321808" y="2798064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68112" y="2706624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 답변 confidence가 낮을 때 second opinion으로 좋습니다.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5321808" y="3145536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68112" y="3054096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항상-on full-screen보다 sidecar escalation에 더 잘 맞습니다.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8247888" y="1335024"/>
            <a:ext cx="2788920" cy="2176272"/>
          </a:xfrm>
          <a:prstGeom prst="roundRect">
            <a:avLst>
              <a:gd name="adj" fmla="val 336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66176" y="1353312"/>
            <a:ext cx="2752344" cy="7315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0" y="1481328"/>
            <a:ext cx="2459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8412480" y="1636776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흔들리는 지점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467344" y="2103120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13648" y="2011680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exact OCR authority는 아닙니다.</a:t>
            </a:r>
            <a:endParaRPr lang="en-US" sz="905" dirty="0"/>
          </a:p>
        </p:txBody>
      </p:sp>
      <p:sp>
        <p:nvSpPr>
          <p:cNvPr id="46" name="Shape 44"/>
          <p:cNvSpPr/>
          <p:nvPr/>
        </p:nvSpPr>
        <p:spPr>
          <a:xfrm>
            <a:off x="8467344" y="2450592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13648" y="2359152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strict offline 모드에서는 협업 관련 강점을 거의 쓰지 못합니다.</a:t>
            </a:r>
            <a:endParaRPr lang="en-US" sz="905" dirty="0"/>
          </a:p>
        </p:txBody>
      </p:sp>
      <p:sp>
        <p:nvSpPr>
          <p:cNvPr id="48" name="Shape 46"/>
          <p:cNvSpPr/>
          <p:nvPr/>
        </p:nvSpPr>
        <p:spPr>
          <a:xfrm>
            <a:off x="8467344" y="2798064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13648" y="2706624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industrial Windows UI의 full-screen 기본값으로는 불확실성이 있습니다.</a:t>
            </a:r>
            <a:endParaRPr lang="en-US" sz="905" dirty="0"/>
          </a:p>
        </p:txBody>
      </p:sp>
      <p:sp>
        <p:nvSpPr>
          <p:cNvPr id="50" name="Shape 48"/>
          <p:cNvSpPr/>
          <p:nvPr/>
        </p:nvSpPr>
        <p:spPr>
          <a:xfrm>
            <a:off x="8467344" y="3145536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13648" y="3054096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 모델이 먼저 triage한 뒤에 붙일 때 가치가 가장 큽니다.</a:t>
            </a:r>
            <a:endParaRPr lang="en-US" sz="905" dirty="0"/>
          </a:p>
        </p:txBody>
      </p:sp>
      <p:sp>
        <p:nvSpPr>
          <p:cNvPr id="52" name="Shape 50"/>
          <p:cNvSpPr/>
          <p:nvPr/>
        </p:nvSpPr>
        <p:spPr>
          <a:xfrm>
            <a:off x="5102352" y="3730752"/>
            <a:ext cx="5934456" cy="1463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120640" y="3749040"/>
            <a:ext cx="58978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66944" y="3877056"/>
            <a:ext cx="5605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가이드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5266944" y="4032504"/>
            <a:ext cx="5605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 안에서의 권장 역할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266944" y="4398264"/>
            <a:ext cx="56052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MAI-UI는 primary full-screen pass 뒤에 붙입니다. 실패 원인이 global state 이해가 아니라 local density일 때 가장 적절한 해답입니다.</a:t>
            </a:r>
            <a:endParaRPr lang="en-US" sz="970" dirty="0"/>
          </a:p>
        </p:txBody>
      </p:sp>
      <p:sp>
        <p:nvSpPr>
          <p:cNvPr id="57" name="Shape 55"/>
          <p:cNvSpPr/>
          <p:nvPr/>
        </p:nvSpPr>
        <p:spPr>
          <a:xfrm>
            <a:off x="5102352" y="5413248"/>
            <a:ext cx="2852928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120640" y="5431536"/>
            <a:ext cx="281635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66944" y="5559552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상황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5266944" y="571500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타깃이 작고 과밀하거나 local ambiguity가 클 때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183880" y="5413248"/>
            <a:ext cx="2852928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202168" y="5431536"/>
            <a:ext cx="2816352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48472" y="5559552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비권장 상황</a:t>
            </a:r>
            <a:endParaRPr lang="en-US" sz="820" dirty="0"/>
          </a:p>
        </p:txBody>
      </p:sp>
      <p:sp>
        <p:nvSpPr>
          <p:cNvPr id="64" name="Text 62"/>
          <p:cNvSpPr/>
          <p:nvPr/>
        </p:nvSpPr>
        <p:spPr>
          <a:xfrm>
            <a:off x="8348472" y="571500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exact number나 table text가 필요한 경우</a:t>
            </a:r>
            <a:endParaRPr lang="en-US" sz="1020" dirty="0"/>
          </a:p>
        </p:txBody>
      </p:sp>
      <p:sp>
        <p:nvSpPr>
          <p:cNvPr id="65" name="Text 63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docs/research/deploy_vlms_model_roles_and_pipeline_research.md, docs/setup_vlms/05-ui-tars-vs-others.md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56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420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PaddleOCR-VL-1.5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8412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text, table, structure extraction에 쓰는 기본 OCR sidecar입니다.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335024"/>
            <a:ext cx="4206240" cy="4526280"/>
          </a:xfrm>
          <a:prstGeom prst="roundRect">
            <a:avLst>
              <a:gd name="adj" fmla="val 1739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" y="1353312"/>
            <a:ext cx="4169664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481328"/>
            <a:ext cx="3877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6B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계보와 구조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22960" y="1636776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PaddleOCR-VL-1.5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002536"/>
            <a:ext cx="387705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공식적으로는 text spotting, table, formula, chart, 왜곡된 capture까지 다루는 OCR / document parsing VLM입니다. work2에서는 기본 OCR evidence engine입니다.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9536" y="283464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285292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VLM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029968" y="283464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29968" y="285292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109개 언어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200400" y="2834640"/>
            <a:ext cx="1133856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852928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추출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859536" y="3310128"/>
            <a:ext cx="3611880" cy="877824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77824" y="3328416"/>
            <a:ext cx="3575304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3456432"/>
            <a:ext cx="3282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6B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방식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1024128" y="367588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task-keyword 중심 OCR parser로 보는 편이 맞습니다. 긴 instruction prompt보다 OCR:, Spotting:, Table Recognition:, Chart Recognition: 같은 task selector가 더 중요합니다.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859536" y="4315968"/>
            <a:ext cx="3611880" cy="877824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7824" y="4334256"/>
            <a:ext cx="3575304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4462272"/>
            <a:ext cx="3282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6B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슬롯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1024128" y="468172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text, 작은 값, table, exact label verification이 필요할 때 기본 ocr_service로 두는 것이 적합합니다.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5102352" y="1335024"/>
            <a:ext cx="2834640" cy="2176272"/>
          </a:xfrm>
          <a:prstGeom prst="roundRect">
            <a:avLst>
              <a:gd name="adj" fmla="val 336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20640" y="1353312"/>
            <a:ext cx="2798064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66944" y="1481328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6B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5266944" y="163677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잘하는 일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21808" y="2103120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68112" y="201168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text와 structured extraction에서 GUI 모델보다 훨씬 강합니다.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5321808" y="2450592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68112" y="2359152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table, chart, formula, multilingual capture를 지원합니다.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5321808" y="2798064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68112" y="2706624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파이프라인의 exact string authority 기본값으로 적합합니다.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5321808" y="3145536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68112" y="3054096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 모델과 같은 proxy chat/completions 경로로 호출할 수 있습니다.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8247888" y="1335024"/>
            <a:ext cx="2788920" cy="2176272"/>
          </a:xfrm>
          <a:prstGeom prst="roundRect">
            <a:avLst>
              <a:gd name="adj" fmla="val 336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66176" y="1353312"/>
            <a:ext cx="2752344" cy="7315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0" y="1481328"/>
            <a:ext cx="2459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8412480" y="1636776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흔들리는 지점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467344" y="2103120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13648" y="2011680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 click-grounding planner가 아닙니다.</a:t>
            </a:r>
            <a:endParaRPr lang="en-US" sz="905" dirty="0"/>
          </a:p>
        </p:txBody>
      </p:sp>
      <p:sp>
        <p:nvSpPr>
          <p:cNvPr id="46" name="Shape 44"/>
          <p:cNvSpPr/>
          <p:nvPr/>
        </p:nvSpPr>
        <p:spPr>
          <a:xfrm>
            <a:off x="8467344" y="2450592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13648" y="2359152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출력을 compact hint로 정규화할 때 가장 좋습니다.</a:t>
            </a:r>
            <a:endParaRPr lang="en-US" sz="905" dirty="0"/>
          </a:p>
        </p:txBody>
      </p:sp>
      <p:sp>
        <p:nvSpPr>
          <p:cNvPr id="48" name="Shape 46"/>
          <p:cNvSpPr/>
          <p:nvPr/>
        </p:nvSpPr>
        <p:spPr>
          <a:xfrm>
            <a:off x="8467344" y="2798064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13648" y="2706624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prompt helper는 기본적으로 OCR:만 노출합니다.</a:t>
            </a:r>
            <a:endParaRPr lang="en-US" sz="905" dirty="0"/>
          </a:p>
        </p:txBody>
      </p:sp>
      <p:sp>
        <p:nvSpPr>
          <p:cNvPr id="50" name="Shape 48"/>
          <p:cNvSpPr/>
          <p:nvPr/>
        </p:nvSpPr>
        <p:spPr>
          <a:xfrm>
            <a:off x="8467344" y="3145536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13648" y="3054096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semantic control selection을 GUI 모델 대신 맡기면 안 됩니다.</a:t>
            </a:r>
            <a:endParaRPr lang="en-US" sz="905" dirty="0"/>
          </a:p>
        </p:txBody>
      </p:sp>
      <p:sp>
        <p:nvSpPr>
          <p:cNvPr id="52" name="Shape 50"/>
          <p:cNvSpPr/>
          <p:nvPr/>
        </p:nvSpPr>
        <p:spPr>
          <a:xfrm>
            <a:off x="5102352" y="3730752"/>
            <a:ext cx="5934456" cy="1463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120640" y="3749040"/>
            <a:ext cx="5897880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66944" y="3877056"/>
            <a:ext cx="5605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6B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가이드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5266944" y="4032504"/>
            <a:ext cx="5605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 안에서의 권장 역할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266944" y="4398264"/>
            <a:ext cx="56052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PaddleOCR-VL은 화면의 텍스트가 실제로 무엇인지 알려주는 역할입니다. 그다음 어떤 텍스트나 field가 중요한지는 GUI 모델이 결정하게 두는 편이 맞습니다.</a:t>
            </a:r>
            <a:endParaRPr lang="en-US" sz="970" dirty="0"/>
          </a:p>
        </p:txBody>
      </p:sp>
      <p:sp>
        <p:nvSpPr>
          <p:cNvPr id="57" name="Shape 55"/>
          <p:cNvSpPr/>
          <p:nvPr/>
        </p:nvSpPr>
        <p:spPr>
          <a:xfrm>
            <a:off x="5102352" y="5413248"/>
            <a:ext cx="2852928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120640" y="5431536"/>
            <a:ext cx="281635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66944" y="5559552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상황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5266944" y="571500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exact text, table, panel value가 필요할 때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183880" y="5413248"/>
            <a:ext cx="2852928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202168" y="5431536"/>
            <a:ext cx="2816352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48472" y="5559552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비권장 상황</a:t>
            </a:r>
            <a:endParaRPr lang="en-US" sz="820" dirty="0"/>
          </a:p>
        </p:txBody>
      </p:sp>
      <p:sp>
        <p:nvSpPr>
          <p:cNvPr id="64" name="Text 62"/>
          <p:cNvSpPr/>
          <p:nvPr/>
        </p:nvSpPr>
        <p:spPr>
          <a:xfrm>
            <a:off x="8348472" y="571500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화면에서 one-shot click target만 찾고 싶을 때</a:t>
            </a:r>
            <a:endParaRPr lang="en-US" sz="1020" dirty="0"/>
          </a:p>
        </p:txBody>
      </p:sp>
      <p:sp>
        <p:nvSpPr>
          <p:cNvPr id="65" name="Text 63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docs/research/paddleocr_vl_ui_venus_pipeline_research.md, docs/setup_vlms/07-paddleocr-vl-1.5.md</a:t>
            </a:r>
            <a:endParaRPr lang="en-US" sz="6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56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420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GOT-OCR-2.0-hf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8412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작고 어려우며 formatting-sensitive한 영역에 쓰는 전용 OCR fallback입니다.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335024"/>
            <a:ext cx="4206240" cy="4526280"/>
          </a:xfrm>
          <a:prstGeom prst="roundRect">
            <a:avLst>
              <a:gd name="adj" fmla="val 1739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" y="1353312"/>
            <a:ext cx="4169664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481328"/>
            <a:ext cx="3877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계보와 구조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22960" y="1636776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GOT-OCR-2.0-hf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002536"/>
            <a:ext cx="387705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공식적으로는 dynamic resolution, global/local module, region-aware OCR 옵션을 가진 scene OCR 모델입니다. 이 스택에서는 작은 crop과 formatting-sensitive case용 fallback입니다.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9536" y="283464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285292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fallback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029968" y="283464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29968" y="285292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 OCR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200400" y="2834640"/>
            <a:ext cx="1133856" cy="256032"/>
          </a:xfrm>
          <a:prstGeom prst="roundRect">
            <a:avLst>
              <a:gd name="adj" fmla="val 28571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852928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Transformers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859536" y="3310128"/>
            <a:ext cx="3611880" cy="877824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77824" y="3328416"/>
            <a:ext cx="3575304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3456432"/>
            <a:ext cx="3282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방식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1024128" y="367588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vLLM 경로가 아니라 direct transformers inference용입니다. wrapper가 /v1/ocr를 통해 box, color, format_output, crop_to_patches 같은 OCR 옵션을 노출합니다.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859536" y="4315968"/>
            <a:ext cx="3611880" cy="877824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7824" y="4334256"/>
            <a:ext cx="3575304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4462272"/>
            <a:ext cx="3282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슬롯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1024128" y="468172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PaddleOCR-VL만으로 부족하고, 실패가 작은 영역이나 code-like text, formatting-sensitive content에 집중될 때 적합합니다.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5102352" y="1335024"/>
            <a:ext cx="2834640" cy="2176272"/>
          </a:xfrm>
          <a:prstGeom prst="roundRect">
            <a:avLst>
              <a:gd name="adj" fmla="val 336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20640" y="1353312"/>
            <a:ext cx="2798064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66944" y="1481328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6B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5266944" y="163677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잘하는 일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21808" y="2103120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68112" y="201168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tiny하거나 어려운 local region의 fallback으로 좋습니다.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5321808" y="2450592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68112" y="2359152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box와 color 힌트로 region-specific OCR을 지원합니다.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5321808" y="2798064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68112" y="2706624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formatting이 중요하고 plain extraction만으로 부족할 때 유용합니다.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5321808" y="3145536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68112" y="3054096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 schema를 강제하지 않고 OCR control을 직접 노출합니다.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8247888" y="1335024"/>
            <a:ext cx="2788920" cy="2176272"/>
          </a:xfrm>
          <a:prstGeom prst="roundRect">
            <a:avLst>
              <a:gd name="adj" fmla="val 336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66176" y="1353312"/>
            <a:ext cx="2752344" cy="7315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0" y="1481328"/>
            <a:ext cx="2459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8412480" y="1636776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흔들리는 지점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467344" y="2103120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13648" y="2011680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chat 모델과 runtime / endpoint 경로가 다릅니다.</a:t>
            </a:r>
            <a:endParaRPr lang="en-US" sz="905" dirty="0"/>
          </a:p>
        </p:txBody>
      </p:sp>
      <p:sp>
        <p:nvSpPr>
          <p:cNvPr id="46" name="Shape 44"/>
          <p:cNvSpPr/>
          <p:nvPr/>
        </p:nvSpPr>
        <p:spPr>
          <a:xfrm>
            <a:off x="8467344" y="2450592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13648" y="2359152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 planner도 아니고 full-screen semantic model도 아닙니다.</a:t>
            </a:r>
            <a:endParaRPr lang="en-US" sz="905" dirty="0"/>
          </a:p>
        </p:txBody>
      </p:sp>
      <p:sp>
        <p:nvSpPr>
          <p:cNvPr id="48" name="Shape 46"/>
          <p:cNvSpPr/>
          <p:nvPr/>
        </p:nvSpPr>
        <p:spPr>
          <a:xfrm>
            <a:off x="8467344" y="2798064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13648" y="2706624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work2의 chat-only client로는 바로 재사용할 수 없습니다.</a:t>
            </a:r>
            <a:endParaRPr lang="en-US" sz="905" dirty="0"/>
          </a:p>
        </p:txBody>
      </p:sp>
      <p:sp>
        <p:nvSpPr>
          <p:cNvPr id="50" name="Shape 48"/>
          <p:cNvSpPr/>
          <p:nvPr/>
        </p:nvSpPr>
        <p:spPr>
          <a:xfrm>
            <a:off x="8467344" y="3145536"/>
            <a:ext cx="73152" cy="731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13648" y="3054096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항상-on step보다 조건부 fallback으로 쓸 때 적합합니다.</a:t>
            </a:r>
            <a:endParaRPr lang="en-US" sz="905" dirty="0"/>
          </a:p>
        </p:txBody>
      </p:sp>
      <p:sp>
        <p:nvSpPr>
          <p:cNvPr id="52" name="Shape 50"/>
          <p:cNvSpPr/>
          <p:nvPr/>
        </p:nvSpPr>
        <p:spPr>
          <a:xfrm>
            <a:off x="5102352" y="3730752"/>
            <a:ext cx="5934456" cy="1463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120640" y="3749040"/>
            <a:ext cx="589788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66944" y="3877056"/>
            <a:ext cx="5605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가이드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5266944" y="4032504"/>
            <a:ext cx="5605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 안에서의 권장 역할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266944" y="4398264"/>
            <a:ext cx="56052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GOT-OCR은 surgical tool처럼 다루는 편이 좋습니다. GUI 모델과 PaddleOCR-VL이 문제 영역을 이미 좁힌 뒤에도 더 깨끗한 exact text가 필요할 때만 호출합니다.</a:t>
            </a:r>
            <a:endParaRPr lang="en-US" sz="970" dirty="0"/>
          </a:p>
        </p:txBody>
      </p:sp>
      <p:sp>
        <p:nvSpPr>
          <p:cNvPr id="57" name="Shape 55"/>
          <p:cNvSpPr/>
          <p:nvPr/>
        </p:nvSpPr>
        <p:spPr>
          <a:xfrm>
            <a:off x="5102352" y="5413248"/>
            <a:ext cx="2852928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120640" y="5431536"/>
            <a:ext cx="281635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66944" y="5559552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상황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5266944" y="571500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영역이 tiny하거나 blurred되었거나 formatting이 중요할 때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183880" y="5413248"/>
            <a:ext cx="2852928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202168" y="5431536"/>
            <a:ext cx="2816352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48472" y="5559552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비권장 상황</a:t>
            </a:r>
            <a:endParaRPr lang="en-US" sz="820" dirty="0"/>
          </a:p>
        </p:txBody>
      </p:sp>
      <p:sp>
        <p:nvSpPr>
          <p:cNvPr id="64" name="Text 62"/>
          <p:cNvSpPr/>
          <p:nvPr/>
        </p:nvSpPr>
        <p:spPr>
          <a:xfrm>
            <a:off x="8348472" y="571500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UI grounding이나 표준 OCR pass만으로 충분할 때</a:t>
            </a:r>
            <a:endParaRPr lang="en-US" sz="1020" dirty="0"/>
          </a:p>
        </p:txBody>
      </p:sp>
      <p:sp>
        <p:nvSpPr>
          <p:cNvPr id="65" name="Text 63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docs/research/deploy_vlms_model_roles_and_pipeline_research.md, docs/setup_vlms/08-got-ocr-2.0-hf.md, deploy_vlms/scripts/serve_got_ocr.py</a:t>
            </a:r>
            <a:endParaRPr lang="en-US" sz="6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56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420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동료에게 설명할 Flask 프록시 스택 관점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8412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coworker-facing 계약은 route slug -&gt; model alias -&gt; Flask proxy URL입니다. 클라이언트는 서버 내부 flask_api 소스 코드에 의존하지 않아야 합니다.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13232" y="1572768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591056"/>
            <a:ext cx="1883664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719072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레이어 1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1874520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동료용 task script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77824" y="2240280"/>
            <a:ext cx="15910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 check 뒤에 service slug를 고릅니다.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971800" y="1572768"/>
            <a:ext cx="2240280" cy="128016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90088" y="1591056"/>
            <a:ext cx="2203704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36392" y="1719072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레이어 2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3136392" y="1874520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poc/work2/flask_vlm.py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36392" y="2240280"/>
            <a:ext cx="19110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slug, model, URL, 기본값의 single source of truth입니다.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632704" y="1572768"/>
            <a:ext cx="2240280" cy="128016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50992" y="1591056"/>
            <a:ext cx="2203704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97296" y="1719072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레이어 3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5797296" y="1874520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vlm_client.py / OCR helper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97296" y="2240280"/>
            <a:ext cx="19110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요청을 보내고 응답 텍스트를 정규화합니다.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8321040" y="1572768"/>
            <a:ext cx="3035808" cy="128016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39328" y="1591056"/>
            <a:ext cx="2999232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85632" y="1719072"/>
            <a:ext cx="2706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레이어 4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8485632" y="1874520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Flask API proxy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85632" y="2240280"/>
            <a:ext cx="27066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/api/vlm_serve/&lt;service&gt;/v1/* 가 올바른 backend로 라우팅합니다.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2706624" y="202996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04104" y="202996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074152" y="202996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13232" y="3246120"/>
            <a:ext cx="3794760" cy="1993392"/>
          </a:xfrm>
          <a:prstGeom prst="roundRect">
            <a:avLst>
              <a:gd name="adj" fmla="val 367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1520" y="3264408"/>
            <a:ext cx="3758184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" y="3392424"/>
            <a:ext cx="3465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 패턴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877824" y="3547872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동료에게 공유할 프록시 URL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77824" y="3913632"/>
            <a:ext cx="346557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http://&lt;host&gt;/api/vlm_serve/ui-venus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http://&lt;host&gt;/api/vlm_serve/ui-tars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http://&lt;host&gt;/api/vlm_serve/mai-ui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http://&lt;host&gt;/api/vlm_serve/paddleocr-vl-1.5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http://&lt;host&gt;/api/vlm_serve/got-ocr</a:t>
            </a:r>
            <a:endParaRPr lang="en-US" sz="910" dirty="0"/>
          </a:p>
        </p:txBody>
      </p:sp>
      <p:sp>
        <p:nvSpPr>
          <p:cNvPr id="37" name="Shape 35"/>
          <p:cNvSpPr/>
          <p:nvPr/>
        </p:nvSpPr>
        <p:spPr>
          <a:xfrm>
            <a:off x="4736592" y="3246120"/>
            <a:ext cx="3154680" cy="1993392"/>
          </a:xfrm>
          <a:prstGeom prst="roundRect">
            <a:avLst>
              <a:gd name="adj" fmla="val 367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264408"/>
            <a:ext cx="3118104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01184" y="3392424"/>
            <a:ext cx="2825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기본값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4901184" y="3547872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pipeline 스냅샷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901184" y="3913632"/>
            <a:ext cx="282549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screen_analysis_service = ui-venus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main_tabs_service = ui-venus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ocr_service = paddleocr-vl-1.5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ocr_pipeline_enabled = true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8119872" y="3246120"/>
            <a:ext cx="3154680" cy="1993392"/>
          </a:xfrm>
          <a:prstGeom prst="roundRect">
            <a:avLst>
              <a:gd name="adj" fmla="val 367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138160" y="3264408"/>
            <a:ext cx="3118104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84464" y="3392424"/>
            <a:ext cx="2825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포인트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8284464" y="3547872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 baseline 두 개도 같이 존재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284464" y="3913632"/>
            <a:ext cx="282549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Kimi-K2.5와 Qwen3-VL-30B-Instruct도 flask_vlm.py에 등록되어 있지만, 설치된 5개 프록시 route가 아니라 회사 direct LLM base URL을 사용합니다.</a:t>
            </a:r>
            <a:endParaRPr lang="en-US" sz="895" dirty="0"/>
          </a:p>
        </p:txBody>
      </p:sp>
      <p:sp>
        <p:nvSpPr>
          <p:cNvPr id="47" name="Text 45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poc/work2/flask_vlm.py, docs/setup_vlms/README.md, docs/setup_vlms/03-operations-and-repo-integration.md</a:t>
            </a:r>
            <a:endParaRPr lang="en-US" sz="6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56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사용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420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poc/work2에서 모델 호출하는 방법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8412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안전한 기본 습관은 connection_check.py를 먼저 실행하고, 그다음 명시적인 service slug로 Work2VLMClient를 생성하는 것입니다.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94944" y="1371600"/>
            <a:ext cx="5989320" cy="3639312"/>
          </a:xfrm>
          <a:prstGeom prst="roundRect">
            <a:avLst>
              <a:gd name="adj" fmla="val 2010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499616"/>
            <a:ext cx="5660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OpenAI-compatible 호출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859536" y="1719072"/>
            <a:ext cx="566013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poc.work2.vlm_client import Work2VLMClient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Work2VLMClient(service_slug="ui-venus")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client.chat_with_image_path(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image_path=Path("debug_images/login.webp"),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system_message="Respond only with JSON.",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user_text="Find clickable UI elements.",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print(resp.text)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print(resp.token_usage)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6903720" y="1371600"/>
            <a:ext cx="4617720" cy="1901952"/>
          </a:xfrm>
          <a:prstGeom prst="roundRect">
            <a:avLst>
              <a:gd name="adj" fmla="val 3846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22008" y="1389888"/>
            <a:ext cx="4581144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68312" y="1517904"/>
            <a:ext cx="4288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ROUTE별 호출 방식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7068312" y="1673352"/>
            <a:ext cx="4288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4개는 vlm_client.py로 호출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68312" y="2039112"/>
            <a:ext cx="42885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ui-venus -&gt; /v1/chat/completions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ui-tars -&gt; /v1/chat/completions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mai-ui -&gt; /v1/chat/completions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paddleocr-vl-1.5 -&gt; /v1/chat/completions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got-ocr만 예외이며 /v1/ocr를 사용합니다.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903720" y="3493008"/>
            <a:ext cx="4617720" cy="1517904"/>
          </a:xfrm>
          <a:prstGeom prst="roundRect">
            <a:avLst>
              <a:gd name="adj" fmla="val 4819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22008" y="3511296"/>
            <a:ext cx="4581144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68312" y="3639312"/>
            <a:ext cx="4288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 먼저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7068312" y="3794760"/>
            <a:ext cx="4288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살아 있는 서비스를 추측하지 않기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68312" y="4160520"/>
            <a:ext cx="42885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 run python poc/work2/connection_check.py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비교 전에 /api/vlm_serve/health와 각 route의 /v1/models를 먼저 확인합니다.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694944" y="5321808"/>
            <a:ext cx="10826496" cy="713232"/>
          </a:xfrm>
          <a:prstGeom prst="roundRect">
            <a:avLst>
              <a:gd name="adj" fmla="val 10256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3232" y="5340096"/>
            <a:ext cx="1078992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" y="5468112"/>
            <a:ext cx="10497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포인트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859536" y="5623560"/>
            <a:ext cx="10497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service slug를 설명하고, backend port는 구현 상세로만 설명합니다.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poc/work2/vlm_client.py, poc/work2/connection_check.py, docs/setup_vlms/03-operations-and-repo-integration.md</a:t>
            </a:r>
            <a:endParaRPr lang="en-US" sz="6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56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I/O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420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이미지를 보내는 방식과 결과를 받는 방식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8412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저장소의 정책은 명확합니다. 디버그 캡처는 로컬에 JPEG로 저장하고, VLM API 호출 전에는 WebP로 변환해 payload를 줄입니다.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94944" y="1371600"/>
            <a:ext cx="3657600" cy="1783080"/>
          </a:xfrm>
          <a:prstGeom prst="roundRect">
            <a:avLst>
              <a:gd name="adj" fmla="val 4103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1389888"/>
            <a:ext cx="3621024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517904"/>
            <a:ext cx="3328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아티팩트 정책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59536" y="1673352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디버그와 네트워크 payload 분리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2084832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1993392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스크린샷과 marked overlay는 JPEG로 저장합니다.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914400" y="2395728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2304288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전송 이미지는 quality=90 WebP로 변환합니다.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914400" y="2706624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2615184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운영 모드는 prompt당 이미지 1장입니다.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4535424" y="1371600"/>
            <a:ext cx="3273552" cy="1783080"/>
          </a:xfrm>
          <a:prstGeom prst="roundRect">
            <a:avLst>
              <a:gd name="adj" fmla="val 4103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53712" y="1389888"/>
            <a:ext cx="3236976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0016" y="1517904"/>
            <a:ext cx="2944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입력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4700016" y="1673352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Work2VLMClient가 받는 입력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202996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01184" y="193852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image_path</a:t>
            </a:r>
            <a:endParaRPr lang="en-US" sz="89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1184" y="219456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image_bytes</a:t>
            </a:r>
            <a:endParaRPr lang="en-US" sz="890" dirty="0"/>
          </a:p>
        </p:txBody>
      </p:sp>
      <p:sp>
        <p:nvSpPr>
          <p:cNvPr id="27" name="Shape 25"/>
          <p:cNvSpPr/>
          <p:nvPr/>
        </p:nvSpPr>
        <p:spPr>
          <a:xfrm>
            <a:off x="4754880" y="254203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01184" y="245059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base64 image string</a:t>
            </a:r>
            <a:endParaRPr lang="en-US" sz="890" dirty="0"/>
          </a:p>
        </p:txBody>
      </p:sp>
      <p:sp>
        <p:nvSpPr>
          <p:cNvPr id="29" name="Shape 27"/>
          <p:cNvSpPr/>
          <p:nvPr/>
        </p:nvSpPr>
        <p:spPr>
          <a:xfrm>
            <a:off x="4754880" y="279806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01184" y="270662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JPEG / PNG / WebP 자동 MIME 감지</a:t>
            </a:r>
            <a:endParaRPr lang="en-US" sz="890" dirty="0"/>
          </a:p>
        </p:txBody>
      </p:sp>
      <p:sp>
        <p:nvSpPr>
          <p:cNvPr id="31" name="Shape 29"/>
          <p:cNvSpPr/>
          <p:nvPr/>
        </p:nvSpPr>
        <p:spPr>
          <a:xfrm>
            <a:off x="7991856" y="1371600"/>
            <a:ext cx="3529584" cy="1783080"/>
          </a:xfrm>
          <a:prstGeom prst="roundRect">
            <a:avLst>
              <a:gd name="adj" fmla="val 4103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010144" y="1389888"/>
            <a:ext cx="3493008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56448" y="1517904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 포맷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8156448" y="16733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스타일 image_url payload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156448" y="2039112"/>
            <a:ext cx="3200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messages -&gt; user -&gt; [text, image_url]</a:t>
            </a:r>
            <a:endParaRPr lang="en-US" sz="895" dirty="0"/>
          </a:p>
          <a:p>
            <a:pPr indent="0" marL="0">
              <a:buNone/>
            </a:pPr>
            <a:r>
              <a:rPr lang="en-US" sz="89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image_url.url = data:image/webp;base64,...</a:t>
            </a:r>
            <a:endParaRPr lang="en-US" sz="895" dirty="0"/>
          </a:p>
          <a:p>
            <a:pPr indent="0" marL="0">
              <a:buNone/>
            </a:pPr>
            <a:r>
              <a:rPr lang="en-US" sz="89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model, temperature, max_tokens를 같은 JSON body에 함께 보냅니다.</a:t>
            </a:r>
            <a:endParaRPr lang="en-US" sz="895" dirty="0"/>
          </a:p>
        </p:txBody>
      </p:sp>
      <p:sp>
        <p:nvSpPr>
          <p:cNvPr id="36" name="Shape 34"/>
          <p:cNvSpPr/>
          <p:nvPr/>
        </p:nvSpPr>
        <p:spPr>
          <a:xfrm>
            <a:off x="694944" y="3456432"/>
            <a:ext cx="5065776" cy="2029968"/>
          </a:xfrm>
          <a:prstGeom prst="roundRect">
            <a:avLst>
              <a:gd name="adj" fmla="val 3604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9536" y="3584448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요청 구조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859536" y="3803904"/>
            <a:ext cx="47365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"model": "ui-venus-1.5-8b",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"messages": [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{"role": "system", "content": "Respond only with JSON."},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{"role": "user", "content": [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{"type": "text", "text": "&lt;prompt&gt;"},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{"type": "image_url",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"image_url": {"url": "data:image/webp;base64,..."}}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]}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5980176" y="3456432"/>
            <a:ext cx="5559552" cy="2139696"/>
          </a:xfrm>
          <a:prstGeom prst="roundRect">
            <a:avLst>
              <a:gd name="adj" fmla="val 3419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998464" y="3474720"/>
            <a:ext cx="5522976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44768" y="3602736"/>
            <a:ext cx="5230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추출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6144768" y="3758184"/>
            <a:ext cx="5230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vlm_client.py의 파싱 순서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217920" y="413308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64224" y="4041648"/>
            <a:ext cx="4791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choices[].message.content</a:t>
            </a:r>
            <a:endParaRPr lang="en-US" sz="885" dirty="0"/>
          </a:p>
        </p:txBody>
      </p:sp>
      <p:sp>
        <p:nvSpPr>
          <p:cNvPr id="45" name="Shape 43"/>
          <p:cNvSpPr/>
          <p:nvPr/>
        </p:nvSpPr>
        <p:spPr>
          <a:xfrm>
            <a:off x="6217920" y="439826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64224" y="4306824"/>
            <a:ext cx="4791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streamed output용 choices[].delta</a:t>
            </a:r>
            <a:endParaRPr lang="en-US" sz="885" dirty="0"/>
          </a:p>
        </p:txBody>
      </p:sp>
      <p:sp>
        <p:nvSpPr>
          <p:cNvPr id="47" name="Shape 45"/>
          <p:cNvSpPr/>
          <p:nvPr/>
        </p:nvSpPr>
        <p:spPr>
          <a:xfrm>
            <a:off x="6217920" y="466344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64224" y="4572000"/>
            <a:ext cx="4791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top-level output_text / text / content</a:t>
            </a:r>
            <a:endParaRPr lang="en-US" sz="885" dirty="0"/>
          </a:p>
        </p:txBody>
      </p:sp>
      <p:sp>
        <p:nvSpPr>
          <p:cNvPr id="49" name="Shape 47"/>
          <p:cNvSpPr/>
          <p:nvPr/>
        </p:nvSpPr>
        <p:spPr>
          <a:xfrm>
            <a:off x="6217920" y="492861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64224" y="4837176"/>
            <a:ext cx="4791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body가 plain JSON이 아니면 SSE 파싱 fallback</a:t>
            </a:r>
            <a:endParaRPr lang="en-US" sz="885" dirty="0"/>
          </a:p>
        </p:txBody>
      </p:sp>
      <p:sp>
        <p:nvSpPr>
          <p:cNvPr id="51" name="Shape 49"/>
          <p:cNvSpPr/>
          <p:nvPr/>
        </p:nvSpPr>
        <p:spPr>
          <a:xfrm>
            <a:off x="6217920" y="519379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64224" y="5102352"/>
            <a:ext cx="4791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usage는 token_usage로 저장되어 로그와 보고에 활용</a:t>
            </a:r>
            <a:endParaRPr lang="en-US" sz="885" dirty="0"/>
          </a:p>
        </p:txBody>
      </p:sp>
      <p:sp>
        <p:nvSpPr>
          <p:cNvPr id="53" name="Text 51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poc/work2/vlm_client.py, poc/work2/util/image_utils.py, AGENTS.md 저장소 규칙</a:t>
            </a:r>
            <a:endParaRPr lang="en-US" sz="6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56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420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저장소에서 좋은 프롬프트 패턴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8412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generic한 긴 프롬프트가 아니라 작업별 계약입니다. 좌표계 명시, strict JSON, compact OCR evidence가 중요합니다.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94944" y="1371600"/>
            <a:ext cx="4251960" cy="4553712"/>
          </a:xfrm>
          <a:prstGeom prst="roundRect">
            <a:avLst>
              <a:gd name="adj" fmla="val 172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1389888"/>
            <a:ext cx="4215384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517904"/>
            <a:ext cx="3922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규칙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59536" y="1673352"/>
            <a:ext cx="3922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안정적인 프롬프트의 5가지 공통점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2084832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1993392"/>
            <a:ext cx="3511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고정된 schema의 JSON만 반환하게 합니다.</a:t>
            </a:r>
            <a:endParaRPr lang="en-US" sz="935" dirty="0"/>
          </a:p>
        </p:txBody>
      </p:sp>
      <p:sp>
        <p:nvSpPr>
          <p:cNvPr id="15" name="Shape 13"/>
          <p:cNvSpPr/>
          <p:nvPr/>
        </p:nvSpPr>
        <p:spPr>
          <a:xfrm>
            <a:off x="914400" y="2478024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2386584"/>
            <a:ext cx="3511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pixels 또는 relative_1000처럼 좌표계를 명시합니다.</a:t>
            </a:r>
            <a:endParaRPr lang="en-US" sz="935" dirty="0"/>
          </a:p>
        </p:txBody>
      </p:sp>
      <p:sp>
        <p:nvSpPr>
          <p:cNvPr id="17" name="Shape 15"/>
          <p:cNvSpPr/>
          <p:nvPr/>
        </p:nvSpPr>
        <p:spPr>
          <a:xfrm>
            <a:off x="914400" y="2871216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2779776"/>
            <a:ext cx="3511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모호한 중심점이 아니라 click-safe point를 요구합니다.</a:t>
            </a:r>
            <a:endParaRPr lang="en-US" sz="935" dirty="0"/>
          </a:p>
        </p:txBody>
      </p:sp>
      <p:sp>
        <p:nvSpPr>
          <p:cNvPr id="19" name="Shape 17"/>
          <p:cNvSpPr/>
          <p:nvPr/>
        </p:nvSpPr>
        <p:spPr>
          <a:xfrm>
            <a:off x="914400" y="3264408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" y="3172968"/>
            <a:ext cx="3511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UI가 과밀하면 target semantics를 더 자세히 적습니다.</a:t>
            </a:r>
            <a:endParaRPr lang="en-US" sz="935" dirty="0"/>
          </a:p>
        </p:txBody>
      </p:sp>
      <p:sp>
        <p:nvSpPr>
          <p:cNvPr id="21" name="Shape 19"/>
          <p:cNvSpPr/>
          <p:nvPr/>
        </p:nvSpPr>
        <p:spPr>
          <a:xfrm>
            <a:off x="914400" y="3657600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" y="3566160"/>
            <a:ext cx="3511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OCR은 raw dump가 아니라 compact hint로 넣습니다.</a:t>
            </a:r>
            <a:endParaRPr lang="en-US" sz="935" dirty="0"/>
          </a:p>
        </p:txBody>
      </p:sp>
      <p:sp>
        <p:nvSpPr>
          <p:cNvPr id="23" name="Shape 21"/>
          <p:cNvSpPr/>
          <p:nvPr/>
        </p:nvSpPr>
        <p:spPr>
          <a:xfrm>
            <a:off x="5175504" y="1371600"/>
            <a:ext cx="2880360" cy="2084832"/>
          </a:xfrm>
          <a:prstGeom prst="roundRect">
            <a:avLst>
              <a:gd name="adj" fmla="val 3509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93792" y="1389888"/>
            <a:ext cx="2843784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0096" y="1517904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분석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5340096" y="1673352"/>
            <a:ext cx="2551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인식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0096" y="2039112"/>
            <a:ext cx="255117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schema는 state_id, state_name, confidence, description, ui_elements, suggested_actions를 요구합니다.</a:t>
            </a:r>
            <a:endParaRPr lang="en-US" sz="895" dirty="0"/>
          </a:p>
          <a:p>
            <a:pPr indent="0" marL="0">
              <a:buNone/>
            </a:pPr>
            <a:r>
              <a:rPr lang="en-US" sz="89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좌표는 이미지 크기 안의 정수 픽셀입니다.</a:t>
            </a:r>
            <a:endParaRPr lang="en-US" sz="895" dirty="0"/>
          </a:p>
        </p:txBody>
      </p:sp>
      <p:sp>
        <p:nvSpPr>
          <p:cNvPr id="28" name="Shape 26"/>
          <p:cNvSpPr/>
          <p:nvPr/>
        </p:nvSpPr>
        <p:spPr>
          <a:xfrm>
            <a:off x="8247888" y="1371600"/>
            <a:ext cx="3273552" cy="2084832"/>
          </a:xfrm>
          <a:prstGeom prst="roundRect">
            <a:avLst>
              <a:gd name="adj" fmla="val 3509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66176" y="1389888"/>
            <a:ext cx="3236976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1517904"/>
            <a:ext cx="2944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LOCATOR 프롬프트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8412480" y="1673352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 특화 grounding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12480" y="2039112"/>
            <a:ext cx="294436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RCS 프롬프트는 타깃을 개별 정의하고, relative_1000을 강제하며, control 내부의 safe click point 위치를 명시합니다.</a:t>
            </a:r>
            <a:endParaRPr lang="en-US" sz="895" dirty="0"/>
          </a:p>
        </p:txBody>
      </p:sp>
      <p:sp>
        <p:nvSpPr>
          <p:cNvPr id="33" name="Shape 31"/>
          <p:cNvSpPr/>
          <p:nvPr/>
        </p:nvSpPr>
        <p:spPr>
          <a:xfrm>
            <a:off x="5175504" y="3694176"/>
            <a:ext cx="2880360" cy="2231136"/>
          </a:xfrm>
          <a:prstGeom prst="roundRect">
            <a:avLst>
              <a:gd name="adj" fmla="val 3279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193792" y="3712464"/>
            <a:ext cx="2843784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0096" y="3840480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6B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PADDLEOCR-VL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5340096" y="3995928"/>
            <a:ext cx="2551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프롬프트는 최소화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40096" y="4361688"/>
            <a:ext cx="25511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PaddleOCR-VL은 system_message를 비우고 OCR: 같은 task keyword만 보내는 편이 안정적입니다.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구조나 위치가 중요하면 Spotting:, Table Recognition:, Chart Recognition:으로 분기합니다.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8247888" y="3694176"/>
            <a:ext cx="3273552" cy="2231136"/>
          </a:xfrm>
          <a:prstGeom prst="roundRect">
            <a:avLst>
              <a:gd name="adj" fmla="val 3279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266176" y="3712464"/>
            <a:ext cx="3236976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0" y="3840480"/>
            <a:ext cx="2944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피해야 할 것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8412480" y="3995928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좋지 않은 프롬프트 패턴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412480" y="4361688"/>
            <a:ext cx="29443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모델에게 action planning을 맡기지 않습니다.</a:t>
            </a:r>
            <a:endParaRPr lang="en-US" sz="885" dirty="0"/>
          </a:p>
          <a:p>
            <a:pPr indent="0" marL="0">
              <a:buNone/>
            </a:pPr>
            <a:r>
              <a:rPr lang="en-US" sz="88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 모델을 final exact-text authority로 두지 않습니다.</a:t>
            </a:r>
            <a:endParaRPr lang="en-US" sz="885" dirty="0"/>
          </a:p>
          <a:p>
            <a:pPr indent="0" marL="0">
              <a:buNone/>
            </a:pPr>
            <a:r>
              <a:rPr lang="en-US" sz="88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형식을 모호하게 두지 않습니다.</a:t>
            </a:r>
            <a:endParaRPr lang="en-US" sz="885" dirty="0"/>
          </a:p>
          <a:p>
            <a:pPr indent="0" marL="0">
              <a:buNone/>
            </a:pPr>
            <a:r>
              <a:rPr lang="en-US" sz="88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raw text 전체를 main prompt에 밀어 넣지 않습니다.</a:t>
            </a:r>
            <a:endParaRPr lang="en-US" sz="885" dirty="0"/>
          </a:p>
        </p:txBody>
      </p:sp>
      <p:sp>
        <p:nvSpPr>
          <p:cNvPr id="43" name="Text 41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poc/work2/prompts/screen_analysis.py, poc/work2/prompts/login_rcs.py, poc/work2/prompts/rcs_main_tabs.py, poc/work2/prompts/ocr_assist.py</a:t>
            </a:r>
            <a:endParaRPr lang="en-US" sz="6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56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사용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420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모델 역할을 헷갈리지 않고 쓰는 방법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8412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PaddleOCR-VL은 chat completions 기반 기본 OCR sidecar이고, GOT-OCR은 별도 /v1/ocr route를 쓰는 hard fallback입니다.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94944" y="1353312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481328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vlm_client.py로 PaddleOCR-VL 호출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859536" y="1700784"/>
            <a:ext cx="511149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poc.work2.vlm_client import Work2VLMClient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poc.work2.prompts.ocr_assist import build_ocr_assist_prompt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system_msg, user_text = build_ocr_assist_prompt(1920, 1080)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Work2VLMClient(service_slug="paddleocr-vl-1.5")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client.chat_with_image_path(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image_path="panel.webp",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system_message=system_msg,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user_text=user_text,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print(resp.text)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6419088" y="1353312"/>
            <a:ext cx="5084064" cy="2057400"/>
          </a:xfrm>
          <a:prstGeom prst="roundRect">
            <a:avLst>
              <a:gd name="adj" fmla="val 3556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37376" y="1371600"/>
            <a:ext cx="5047488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499616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6B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KEYWORD 분기 시점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583680" y="165506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상황에 OCR:만 쓰지 않기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56832" y="2084832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03136" y="1993392"/>
            <a:ext cx="4379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OCR: 넓은 범위 텍스트 추출</a:t>
            </a:r>
            <a:endParaRPr lang="en-US" sz="915" dirty="0"/>
          </a:p>
        </p:txBody>
      </p:sp>
      <p:sp>
        <p:nvSpPr>
          <p:cNvPr id="18" name="Shape 16"/>
          <p:cNvSpPr/>
          <p:nvPr/>
        </p:nvSpPr>
        <p:spPr>
          <a:xfrm>
            <a:off x="6656832" y="2395728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3136" y="2304288"/>
            <a:ext cx="4379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Spotting: 텍스트 + 위치</a:t>
            </a:r>
            <a:endParaRPr lang="en-US" sz="915" dirty="0"/>
          </a:p>
        </p:txBody>
      </p:sp>
      <p:sp>
        <p:nvSpPr>
          <p:cNvPr id="20" name="Shape 18"/>
          <p:cNvSpPr/>
          <p:nvPr/>
        </p:nvSpPr>
        <p:spPr>
          <a:xfrm>
            <a:off x="6656832" y="2706624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2615184"/>
            <a:ext cx="4379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Recognition: 구조화된 표와 그리드</a:t>
            </a:r>
            <a:endParaRPr lang="en-US" sz="915" dirty="0"/>
          </a:p>
        </p:txBody>
      </p:sp>
      <p:sp>
        <p:nvSpPr>
          <p:cNvPr id="22" name="Shape 20"/>
          <p:cNvSpPr/>
          <p:nvPr/>
        </p:nvSpPr>
        <p:spPr>
          <a:xfrm>
            <a:off x="6656832" y="3017520"/>
            <a:ext cx="73152" cy="731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3136" y="2926080"/>
            <a:ext cx="4379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Chart Recognition: 차트 레이블과 값</a:t>
            </a:r>
            <a:endParaRPr lang="en-US" sz="915" dirty="0"/>
          </a:p>
        </p:txBody>
      </p:sp>
      <p:sp>
        <p:nvSpPr>
          <p:cNvPr id="24" name="Shape 22"/>
          <p:cNvSpPr/>
          <p:nvPr/>
        </p:nvSpPr>
        <p:spPr>
          <a:xfrm>
            <a:off x="694944" y="3675888"/>
            <a:ext cx="5440680" cy="2066544"/>
          </a:xfrm>
          <a:prstGeom prst="roundRect">
            <a:avLst>
              <a:gd name="adj" fmla="val 3540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3803904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GOT-OCR 전용 endpoint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859536" y="4023360"/>
            <a:ext cx="511149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base64, requests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image_b64 = base64.b64encode(open("crop.jpg", "rb").read()).decode()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requests.post(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"http://&lt;host&gt;/api/vlm_serve/got-ocr/v1/ocr",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json={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"image": image_b64,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"box": [x1, y1, x2, y2],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"format_output": True,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"crop_to_patches": False,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timeout=120,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print(resp.json()["text"])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6419088" y="3675888"/>
            <a:ext cx="5084064" cy="2066544"/>
          </a:xfrm>
          <a:prstGeom prst="roundRect">
            <a:avLst>
              <a:gd name="adj" fmla="val 354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37376" y="3694176"/>
            <a:ext cx="5047488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382219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규칙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6583680" y="397764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OCR 모델이 답해야 하는가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56832" y="4407408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03136" y="4315968"/>
            <a:ext cx="4379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text, table, structured extraction은 PaddleOCR-VL을 먼저 사용합니다.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656832" y="4718304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03136" y="4626864"/>
            <a:ext cx="4379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formatting이 중요하거나 crop이 여전히 unreadable하면 GOT-OCR로 갑니다.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656832" y="5029200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03136" y="4937760"/>
            <a:ext cx="4379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exact string authority는 GUI grounding이 아니라 OCR 결과에 둡니다.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656832" y="5340096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03136" y="5248656"/>
            <a:ext cx="4379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OCR과 GUI grounding이 충돌하면 바로 act하지 말고 다시 관찰합니다.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poc/work2/prompts/ocr_assist.py, docs/research/paddleocr_vl_ui_venus_pipeline_research.md, deploy_vlms/scripts/serve_got_ocr.py</a:t>
            </a:r>
            <a:endParaRPr lang="en-US" sz="6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56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420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파이프라인과 escalation 규칙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8412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리서치는 단계형 파이프라인으로 수렴합니다. GUI 모델로 observe하고, MAI-UI로 local escalation하고, OCR로 exact text를 확인한 뒤에만 act합니다.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13232" y="1499616"/>
            <a:ext cx="2084832" cy="1225296"/>
          </a:xfrm>
          <a:prstGeom prst="roundRect">
            <a:avLst>
              <a:gd name="adj" fmla="val 597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517904"/>
            <a:ext cx="2048256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64592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OBSERVE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180136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화면은 UI-Venus 또는 UI-TARS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3090672" y="1499616"/>
            <a:ext cx="2084832" cy="1225296"/>
          </a:xfrm>
          <a:prstGeom prst="roundRect">
            <a:avLst>
              <a:gd name="adj" fmla="val 597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08960" y="1517904"/>
            <a:ext cx="2048256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164592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RETRY LOCAL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3255264" y="180136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작고 과밀한 crop만 MAI-UI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5650992" y="1499616"/>
            <a:ext cx="2084832" cy="1225296"/>
          </a:xfrm>
          <a:prstGeom prst="roundRect">
            <a:avLst>
              <a:gd name="adj" fmla="val 597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0" y="1517904"/>
            <a:ext cx="2048256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15584" y="164592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6B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READ EXACT TEXT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5815584" y="180136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text와 table은 PaddleOCR-VL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8275320" y="1499616"/>
            <a:ext cx="2084832" cy="1225296"/>
          </a:xfrm>
          <a:prstGeom prst="roundRect">
            <a:avLst>
              <a:gd name="adj" fmla="val 597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93608" y="1517904"/>
            <a:ext cx="2048256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39912" y="164592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FALLBACK OCR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8439912" y="180136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hard small-region만 GOT-OCR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2852928" y="188366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94376" y="188366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927848" y="188366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561320" y="1499616"/>
            <a:ext cx="932688" cy="1225296"/>
          </a:xfrm>
          <a:prstGeom prst="roundRect">
            <a:avLst>
              <a:gd name="adj" fmla="val 7843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579608" y="1517904"/>
            <a:ext cx="896112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25912" y="1645920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ACT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10725912" y="180136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action 뒤에 verify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13232" y="320040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1520" y="3218688"/>
            <a:ext cx="5449824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" y="3346704"/>
            <a:ext cx="5157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자동화 흐름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877824" y="3502152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Grounding-heavy 작업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50976" y="3931920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97280" y="3840480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기본은 full-screen screenshot -&gt; UI-Venus입니다.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950976" y="4242816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7280" y="4151376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타깃이 작거나 과밀하면 crop 후 MAI-UI를 호출합니다.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950976" y="4553712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7280" y="4462272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선택이 exact text에 의존하면 같은 crop을 PaddleOCR-VL로 읽습니다.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950976" y="4864608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97280" y="4773168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formatting 또는 tiny text가 여전히 애매하면 GOT-OCR로 fallback합니다.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950976" y="5175504"/>
            <a:ext cx="73152" cy="73152"/>
          </a:xfrm>
          <a:prstGeom prst="ellipse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97280" y="5084064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좌표는 GUI 모델에서, exact string은 OCR 모델에서 가져옵니다.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6419088" y="3200400"/>
            <a:ext cx="5102352" cy="1170432"/>
          </a:xfrm>
          <a:prstGeom prst="roundRect">
            <a:avLst>
              <a:gd name="adj" fmla="val 625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437376" y="3218688"/>
            <a:ext cx="5065776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3346704"/>
            <a:ext cx="4773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6B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EXTRACTION-HEAVY 변형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6583680" y="350215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클릭보다 값 추출이 중요하면 OCR을 먼저 사용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583680" y="3867912"/>
            <a:ext cx="4773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PaddleOCR-VL -&gt; compact OCR anchor -&gt; UI-Venus semantic pass -&gt; hard region만 GOT 검증</a:t>
            </a:r>
            <a:endParaRPr lang="en-US" sz="925" dirty="0"/>
          </a:p>
        </p:txBody>
      </p:sp>
      <p:sp>
        <p:nvSpPr>
          <p:cNvPr id="51" name="Shape 49"/>
          <p:cNvSpPr/>
          <p:nvPr/>
        </p:nvSpPr>
        <p:spPr>
          <a:xfrm>
            <a:off x="6419088" y="4553712"/>
            <a:ext cx="5102352" cy="932688"/>
          </a:xfrm>
          <a:prstGeom prst="roundRect">
            <a:avLst>
              <a:gd name="adj" fmla="val 7843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437376" y="4572000"/>
            <a:ext cx="5065776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83680" y="4700016"/>
            <a:ext cx="4773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중재 규칙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6583680" y="485546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OCR과 GUI grounding이 충돌하면 action을 멈추고 다시 관찰합니다.</a:t>
            </a:r>
            <a:endParaRPr lang="en-US" sz="1110" dirty="0"/>
          </a:p>
        </p:txBody>
      </p:sp>
      <p:sp>
        <p:nvSpPr>
          <p:cNvPr id="55" name="Text 53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docs/research/deploy_vlms_model_roles_and_pipeline_research.md, docs/research/paddleocr_vl_ui_venus_pipeline_research.md</a:t>
            </a:r>
            <a:endParaRPr lang="en-US" sz="6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0"/>
            <a:ext cx="222473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419088"/>
            <a:ext cx="109270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56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420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설명해야 할 운영 토폴로지와 셋업 포인트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8412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동료에게는 사용법이 단순해야 하지만, deck 안에서는 포트 계획, runtime 분리, health-check 루틴을 분명히 보여줘야 합니다.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247120" y="645566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94944" y="1353312"/>
            <a:ext cx="4800600" cy="4526280"/>
          </a:xfrm>
          <a:prstGeom prst="roundRect">
            <a:avLst>
              <a:gd name="adj" fmla="val 1616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1371600"/>
            <a:ext cx="4764024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499616"/>
            <a:ext cx="4471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토폴로지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59536" y="1655064"/>
            <a:ext cx="4471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GPU와 포트 배치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32688" y="1920240"/>
            <a:ext cx="1920240" cy="1691640"/>
          </a:xfrm>
          <a:prstGeom prst="roundRect">
            <a:avLst>
              <a:gd name="adj" fmla="val 4324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50976" y="1938528"/>
            <a:ext cx="1883664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066544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0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1097280" y="22219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 GUI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587752"/>
            <a:ext cx="159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8001 -&gt; UI-Venus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8003 -&gt; UI-TARS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90672" y="1920240"/>
            <a:ext cx="1920240" cy="1691640"/>
          </a:xfrm>
          <a:prstGeom prst="roundRect">
            <a:avLst>
              <a:gd name="adj" fmla="val 4324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08960" y="1938528"/>
            <a:ext cx="1883664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55264" y="2066544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1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3255264" y="22219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Sidecar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55264" y="2587752"/>
            <a:ext cx="159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8002 -&gt; MAI-UI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8004 -&gt; PaddleOCR-VL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8005 -&gt; GOT-OCR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932688" y="3913632"/>
            <a:ext cx="4078224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0976" y="3931920"/>
            <a:ext cx="4041648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4059936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RUNTIME 분리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1097280" y="4279392"/>
            <a:ext cx="37490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vLLM 경로: UI-Venus, UI-TARS, MAI-UI, PaddleOCR-VL</a:t>
            </a:r>
            <a:endParaRPr lang="en-US" sz="925" dirty="0"/>
          </a:p>
          <a:p>
            <a:pPr indent="0" marL="0">
              <a:buNone/>
            </a:pPr>
            <a:r>
              <a:rPr lang="en-US" sz="92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transformers wrapper: GOT-OCR</a:t>
            </a:r>
            <a:endParaRPr lang="en-US" sz="925" dirty="0"/>
          </a:p>
        </p:txBody>
      </p:sp>
      <p:sp>
        <p:nvSpPr>
          <p:cNvPr id="27" name="Shape 25"/>
          <p:cNvSpPr/>
          <p:nvPr/>
        </p:nvSpPr>
        <p:spPr>
          <a:xfrm>
            <a:off x="5742432" y="1353312"/>
            <a:ext cx="5779008" cy="1993392"/>
          </a:xfrm>
          <a:prstGeom prst="roundRect">
            <a:avLst>
              <a:gd name="adj" fmla="val 3670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760720" y="1371600"/>
            <a:ext cx="574243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07024" y="1499616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루틴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5907024" y="1655064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bring-up 흐름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961888" y="208483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08192" y="1993392"/>
            <a:ext cx="4928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docs/setup_vlms/README.md와 01-layout-and-settings.md를 봅니다.</a:t>
            </a:r>
            <a:endParaRPr lang="en-US" sz="910" dirty="0"/>
          </a:p>
        </p:txBody>
      </p:sp>
      <p:sp>
        <p:nvSpPr>
          <p:cNvPr id="33" name="Shape 31"/>
          <p:cNvSpPr/>
          <p:nvPr/>
        </p:nvSpPr>
        <p:spPr>
          <a:xfrm>
            <a:off x="5961888" y="238658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08192" y="2295144"/>
            <a:ext cx="4928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deploy_vlms/scripts/의 wrapper script로 모델을 기동합니다.</a:t>
            </a:r>
            <a:endParaRPr lang="en-US" sz="910" dirty="0"/>
          </a:p>
        </p:txBody>
      </p:sp>
      <p:sp>
        <p:nvSpPr>
          <p:cNvPr id="35" name="Shape 33"/>
          <p:cNvSpPr/>
          <p:nvPr/>
        </p:nvSpPr>
        <p:spPr>
          <a:xfrm>
            <a:off x="5961888" y="268833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08192" y="2596896"/>
            <a:ext cx="4928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테스트 전에 /v1/models 또는 /api/vlm_serve/health를 확인합니다.</a:t>
            </a:r>
            <a:endParaRPr lang="en-US" sz="910" dirty="0"/>
          </a:p>
        </p:txBody>
      </p:sp>
      <p:sp>
        <p:nvSpPr>
          <p:cNvPr id="37" name="Shape 35"/>
          <p:cNvSpPr/>
          <p:nvPr/>
        </p:nvSpPr>
        <p:spPr>
          <a:xfrm>
            <a:off x="5961888" y="299008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08192" y="2898648"/>
            <a:ext cx="4928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backend port 대신 Flask proxy URL을 동료에게 공유합니다.</a:t>
            </a:r>
            <a:endParaRPr lang="en-US" sz="910" dirty="0"/>
          </a:p>
        </p:txBody>
      </p:sp>
      <p:sp>
        <p:nvSpPr>
          <p:cNvPr id="39" name="Shape 37"/>
          <p:cNvSpPr/>
          <p:nvPr/>
        </p:nvSpPr>
        <p:spPr>
          <a:xfrm>
            <a:off x="5742432" y="3621024"/>
            <a:ext cx="5779008" cy="2249424"/>
          </a:xfrm>
          <a:prstGeom prst="roundRect">
            <a:avLst>
              <a:gd name="adj" fmla="val 3252"/>
            </a:avLst>
          </a:prstGeom>
          <a:solidFill>
            <a:srgbClr val="F7F9FC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760720" y="3639312"/>
            <a:ext cx="5742432" cy="73152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07024" y="3767328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3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명령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5907024" y="3922776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실무에서 주로 필요한 명령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907024" y="4288536"/>
            <a:ext cx="544982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 run python poc/work2/connection_check.py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scripts/start_ui_venus.py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scripts/start_mai_ui.py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scripts/start_ui_tars.py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scripts/start_paddleocr_vl.py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scripts/serve_got_ocr.py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1792" y="645566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docs/setup_vlms/README.md, docs/setup_vlms/01-layout-and-settings.md, docs/setup_vlms/02-serve-ui-venus-and-mai-ui.md, docs/setup_vlms/08-got-ocr-2.0-hf.md</a:t>
            </a:r>
            <a:endParaRPr lang="en-US" sz="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SK hynix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 자동화를 위한 Flask API + VLM 스택</dc:title>
  <dc:subject>동료용 Flask API 및 VLM 소개</dc:subject>
  <dc:creator>OpenAI Codex</dc:creator>
  <cp:lastModifiedBy>OpenAI Codex</cp:lastModifiedBy>
  <cp:revision>1</cp:revision>
  <dcterms:created xsi:type="dcterms:W3CDTF">2026-03-17T07:07:05Z</dcterms:created>
  <dcterms:modified xsi:type="dcterms:W3CDTF">2026-03-17T07:07:05Z</dcterms:modified>
</cp:coreProperties>
</file>