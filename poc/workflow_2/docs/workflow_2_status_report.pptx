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A237E"/>
                </a:solidFill>
                <a:latin typeface="Malgun Gothic"/>
              </a:rPr>
              <a:t>Workflow 2 진행 상황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37474F"/>
                </a:solidFill>
                <a:latin typeface="Malgun Gothic"/>
              </a:rPr>
              <a:t>SEM Monitor 조작 + Align Key 검색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Malgun Gothic"/>
              </a:rPr>
              <a:t>작성일 2026-05-14  ·  범위 poc/workflow_2/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0A4AE"/>
                </a:solidFill>
                <a:latin typeface="Malgun Gothic"/>
              </a:rPr>
              <a:t>Workflow 1 (RCS 로그인 ~ Align Fail Alarm)은 완성 단계에 있으며, 본 보고는 Workflow 2의 진행 현황입니다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Malgun Gothic"/>
              </a:rPr>
              <a:t>①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7D8B"/>
                </a:solidFill>
                <a:latin typeface="Malgun Gothic"/>
              </a:rPr>
              <a:t>Workflow 1 (완성 단계) → Workflow 2 (현재 작업)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Malgun Gothic"/>
              </a:rPr>
              <a:t>Workflow 1 · 완성 단계 (별도 보고)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RCS 로그인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4912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Tool 선택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2624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Window/Frame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Popup/Cursor 감지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8048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Align Fail Alarm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1031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0A4AE"/>
                </a:solidFill>
                <a:latin typeface="Malgun Gothic"/>
              </a:rP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Malgun Gothic"/>
              </a:rPr>
              <a:t>Workflow 2 · 현재 작업 구간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7602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1B5E20"/>
                </a:solidFill>
                <a:latin typeface="Malgun Gothic"/>
              </a:rPr>
              <a:t>✅ 완료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Malgun Gothic"/>
              </a:rPr>
              <a:t>Frame 변화 필터링 (CV)</a:t>
            </a:r>
          </a:p>
          <a:p>
            <a:pPr algn="ctr"/>
            <a:r>
              <a:rPr sz="800" b="0">
                <a:solidFill>
                  <a:srgbClr val="1B5E20"/>
                </a:solidFill>
                <a:latin typeface="Malgun Gothic"/>
              </a:rPr>
              <a:t>cv2.absdiff·dilate·connectedComponents로 정적 프레임 제거, VLM 입력량 축소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1742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54580" y="3291840"/>
            <a:ext cx="17602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1B5E20"/>
                </a:solidFill>
                <a:latin typeface="Malgun Gothic"/>
              </a:rPr>
              <a:t>✅ 완료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Malgun Gothic"/>
              </a:rPr>
              <a:t>SEM Monitor Box 인식</a:t>
            </a:r>
          </a:p>
          <a:p>
            <a:pPr algn="ctr"/>
            <a:r>
              <a:rPr sz="800" b="0">
                <a:solidFill>
                  <a:srgbClr val="1B5E20"/>
                </a:solidFill>
                <a:latin typeface="Malgun Gothic"/>
              </a:rPr>
              <a:t>VLM이 live SEM 영역 bbox를 식별 (제어 패널 가림에도 정상 동작)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51960" y="3291840"/>
            <a:ext cx="1760220" cy="21945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D6C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B25500"/>
                </a:solidFill>
                <a:latin typeface="Malgun Gothic"/>
              </a:rPr>
              <a:t>🔄 진행 중</a:t>
            </a:r>
          </a:p>
          <a:p>
            <a:pPr algn="ctr"/>
            <a:r>
              <a:rPr sz="1100" b="1">
                <a:solidFill>
                  <a:srgbClr val="B25500"/>
                </a:solidFill>
                <a:latin typeface="Malgun Gothic"/>
              </a:rPr>
              <a:t>Cursor Click 감지</a:t>
            </a:r>
          </a:p>
          <a:p>
            <a:pPr algn="ctr"/>
            <a:r>
              <a:rPr sz="800" b="0">
                <a:solidFill>
                  <a:srgbClr val="B25500"/>
                </a:solidFill>
                <a:latin typeface="Malgun Gothic"/>
              </a:rPr>
              <a:t>DVR / RCS / RCS-on-SEM-Monitor 3가지 cursor 변형 대응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4870" y="3163824"/>
            <a:ext cx="914400" cy="256032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📍 현재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218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9340" y="3291840"/>
            <a:ext cx="1760220" cy="21945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D6C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B25500"/>
                </a:solidFill>
                <a:latin typeface="Malgun Gothic"/>
              </a:rPr>
              <a:t>🔄 진행 중</a:t>
            </a:r>
          </a:p>
          <a:p>
            <a:pPr algn="ctr"/>
            <a:r>
              <a:rPr sz="1100" b="1">
                <a:solidFill>
                  <a:srgbClr val="B25500"/>
                </a:solidFill>
                <a:latin typeface="Malgun Gothic"/>
              </a:rPr>
              <a:t>Recipe Align Key 추출 → VLM</a:t>
            </a:r>
          </a:p>
          <a:p>
            <a:pPr algn="ctr"/>
            <a:r>
              <a:rPr sz="800" b="0">
                <a:solidFill>
                  <a:srgbClr val="B25500"/>
                </a:solidFill>
                <a:latin typeface="Malgun Gothic"/>
              </a:rPr>
              <a:t>Recipe 파일에서 align key 패치 추출 후 매처/VLM 입력으로 공급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2250" y="3163824"/>
            <a:ext cx="914400" cy="256032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📍 현재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0956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46720" y="3291840"/>
            <a:ext cx="1760220" cy="21945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424242"/>
                </a:solidFill>
                <a:latin typeface="Malgun Gothic"/>
              </a:rPr>
              <a:t>⏳ 대기</a:t>
            </a:r>
          </a:p>
          <a:p>
            <a:pPr algn="ctr"/>
            <a:r>
              <a:rPr sz="1100" b="1">
                <a:solidFill>
                  <a:srgbClr val="424242"/>
                </a:solidFill>
                <a:latin typeface="Malgun Gothic"/>
              </a:rPr>
              <a:t>Align Key 매칭 (Chamfer + ORB)</a:t>
            </a:r>
          </a:p>
          <a:p>
            <a:pPr algn="ctr"/>
            <a:r>
              <a:rPr sz="800" b="0">
                <a:solidFill>
                  <a:srgbClr val="424242"/>
                </a:solidFill>
                <a:latin typeface="Malgun Gothic"/>
              </a:rPr>
              <a:t>Recipe Align Key 추출 선행 필요, 합성 데이터 사전 검증도 미진행 (알고리즘 구현만 완료)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0694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44100" y="3291840"/>
            <a:ext cx="1760220" cy="21945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424242"/>
                </a:solidFill>
                <a:latin typeface="Malgun Gothic"/>
              </a:rPr>
              <a:t>⏳ 대기</a:t>
            </a:r>
          </a:p>
          <a:p>
            <a:pPr algn="ctr"/>
            <a:r>
              <a:rPr sz="1100" b="1">
                <a:solidFill>
                  <a:srgbClr val="424242"/>
                </a:solidFill>
                <a:latin typeface="Malgun Gothic"/>
              </a:rPr>
              <a:t>FOV Search Loop</a:t>
            </a:r>
          </a:p>
          <a:p>
            <a:pPr algn="ctr"/>
            <a:r>
              <a:rPr sz="800" b="0">
                <a:solidFill>
                  <a:srgbClr val="424242"/>
                </a:solidFill>
                <a:latin typeface="Malgun Gothic"/>
              </a:rPr>
              <a:t>매처 결과로 stage 이동·escalation, 실 SEM 환경 검증 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82880" cy="18288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760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  <a:latin typeface="Malgun Gothic"/>
              </a:rPr>
              <a:t>✅ 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760720"/>
            <a:ext cx="182880" cy="182880"/>
          </a:xfrm>
          <a:prstGeom prst="rect">
            <a:avLst/>
          </a:prstGeom>
          <a:solidFill>
            <a:srgbClr val="FFF3E0"/>
          </a:solidFill>
          <a:ln>
            <a:solidFill>
              <a:srgbClr val="ED6C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5760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  <a:latin typeface="Malgun Gothic"/>
              </a:rPr>
              <a:t>🔄 진행 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5760720"/>
            <a:ext cx="182880" cy="182880"/>
          </a:xfrm>
          <a:prstGeom prst="rect">
            <a:avLst/>
          </a:prstGeom>
          <a:solidFill>
            <a:srgbClr val="F5F5F5"/>
          </a:solidFill>
          <a:ln>
            <a:solidFill>
              <a:srgbClr val="757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5760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  <a:latin typeface="Malgun Gothic"/>
              </a:rPr>
              <a:t>⏳ 대기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Malgun Gothic"/>
              </a:rPr>
              <a:t>② 진행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7D8B"/>
                </a:solidFill>
                <a:latin typeface="Malgun Gothic"/>
              </a:rPr>
              <a:t>Workflow 2 6개 단계 상세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017520"/>
                <a:gridCol w="1463040"/>
                <a:gridCol w="6309360"/>
              </a:tblGrid>
              <a:tr h="705394"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Frame 변화 필터링 (CV)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B5E20"/>
                          </a:solidFill>
                          <a:latin typeface="Malgun Gothic"/>
                        </a:rPr>
                        <a:t>✅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cv2.absdiff·dilate·connectedComponents로 정적 프레임 제거, VLM 입력량 축소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SEM Monitor Box 인식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B5E20"/>
                          </a:solidFill>
                          <a:latin typeface="Malgun Gothic"/>
                        </a:rPr>
                        <a:t>✅ 완료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VLM이 live SEM 영역 bbox를 식별 (제어 패널 가림에도 정상 동작)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Cursor Click 감지  📍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B25500"/>
                          </a:solidFill>
                          <a:latin typeface="Malgun Gothic"/>
                        </a:rPr>
                        <a:t>🔄 진행 중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DVR / RCS / RCS-on-SEM-Monitor 3가지 cursor 변형 대응 중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Recipe Align Key 추출 → VLM  📍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B25500"/>
                          </a:solidFill>
                          <a:latin typeface="Malgun Gothic"/>
                        </a:rPr>
                        <a:t>🔄 진행 중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Recipe 파일에서 align key 패치 추출 후 매처/VLM 입력으로 공급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Align Key 매칭 (Chamfer + ORB)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424242"/>
                          </a:solidFill>
                          <a:latin typeface="Malgun Gothic"/>
                        </a:rPr>
                        <a:t>⏳ 대기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Recipe Align Key 추출 선행 필요, 합성 데이터 사전 검증도 미진행 (알고리즘 구현만 완료)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FOV Search Loop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424242"/>
                          </a:solidFill>
                          <a:latin typeface="Malgun Gothic"/>
                        </a:rPr>
                        <a:t>⏳ 대기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매처 결과로 stage 이동·escalation, 실 SEM 환경 검증 필요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Malgun Gothic"/>
              </a:rPr>
              <a:t>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7D8B"/>
                </a:solidFill>
                <a:latin typeface="Malgun Gothic"/>
              </a:rPr>
              <a:t>단기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1. Cursor Click 감지의 환경/위치 변형 대응 마무리 후 실 RCS 회귀 테스트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2. Recipe Align Key 이미지 추출 파이프라인 코어 구현 및 VLM 입력 검증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3. Align Key 매칭(Chamfer+ORB) 합성 데이터 사전 검증부터 시작 → 실데이터 calibration (positive/negative 50+ pairs로 임계값 검증)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4. FOV Search Loop 통합 → 매니저 라이브 데모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