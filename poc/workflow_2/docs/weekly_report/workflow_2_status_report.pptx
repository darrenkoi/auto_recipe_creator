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94560"/>
            <a:ext cx="106984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4000" b="1">
                <a:solidFill>
                  <a:srgbClr val="1A237E"/>
                </a:solidFill>
                <a:latin typeface="Malgun Gothic"/>
              </a:rPr>
              <a:t>Workflow 2 진행 상황 보고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>
                <a:solidFill>
                  <a:srgbClr val="37474F"/>
                </a:solidFill>
                <a:latin typeface="Malgun Gothic"/>
              </a:rPr>
              <a:t>SEM Monitor 조작 + Align Key 검색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78909C"/>
                </a:solidFill>
                <a:latin typeface="Malgun Gothic"/>
              </a:rPr>
              <a:t>작성일 2026-05-14  ·  범위 poc/workflow_2/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>
                <a:solidFill>
                  <a:srgbClr val="90A4AE"/>
                </a:solidFill>
                <a:latin typeface="Malgun Gothic"/>
              </a:rPr>
              <a:t>Workflow 1 (RCS 로그인 ~ Align Fail Alarm)은 완성 단계에 있으며, 본 보고는 Workflow 2의 진행 현황입니다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① Process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Workflow 1 (완성 단계) → Workflow 2 (현재 작업)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430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757575"/>
                </a:solidFill>
                <a:latin typeface="Malgun Gothic"/>
              </a:rPr>
              <a:t>Workflow 1 · 완성 단계 (별도 보고)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RCS 로그인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24912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Tool 선택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992624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Window/Frame Capture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60336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Popup/Cursor 감지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528048" y="1463040"/>
            <a:ext cx="2176272" cy="502920"/>
          </a:xfrm>
          <a:prstGeom prst="roundRect">
            <a:avLst/>
          </a:prstGeom>
          <a:solidFill>
            <a:srgbClr val="ECEFF1"/>
          </a:solidFill>
          <a:ln w="12700">
            <a:solidFill>
              <a:srgbClr val="B0BEC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000" b="1">
                <a:solidFill>
                  <a:srgbClr val="455A64"/>
                </a:solidFill>
                <a:latin typeface="Malgun Gothic"/>
              </a:rPr>
              <a:t>✓ Align Fail Alarm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080760" y="2103120"/>
            <a:ext cx="0" cy="41148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5486400" y="2240280"/>
            <a:ext cx="13716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>
                <a:solidFill>
                  <a:srgbClr val="90A4AE"/>
                </a:solidFill>
                <a:latin typeface="Malgun Gothic"/>
              </a:rPr>
              <a:t>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69748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565C0"/>
                </a:solidFill>
                <a:latin typeface="Malgun Gothic"/>
              </a:rPr>
              <a:t>Workflow 2 · 현재 작업 구간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291840"/>
            <a:ext cx="1760220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Frame 변화 필터링 (CV)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cv2.absdiff·dilate·connectedComponents로 정적 프레임 제거, VLM 입력량 축소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21742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2354580" y="3291840"/>
            <a:ext cx="1760220" cy="2194560"/>
          </a:xfrm>
          <a:prstGeom prst="roundRect">
            <a:avLst/>
          </a:prstGeom>
          <a:solidFill>
            <a:srgbClr val="E8F5E9"/>
          </a:solidFill>
          <a:ln w="25400"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1B5E20"/>
                </a:solidFill>
                <a:latin typeface="Malgun Gothic"/>
              </a:rPr>
              <a:t>✅ 완료</a:t>
            </a:r>
          </a:p>
          <a:p>
            <a:pPr algn="ctr"/>
            <a:r>
              <a:rPr sz="1100" b="1">
                <a:solidFill>
                  <a:srgbClr val="1B5E20"/>
                </a:solidFill>
                <a:latin typeface="Malgun Gothic"/>
              </a:rPr>
              <a:t>SEM Monitor Box 인식</a:t>
            </a:r>
          </a:p>
          <a:p>
            <a:pPr algn="ctr"/>
            <a:r>
              <a:rPr sz="800" b="0">
                <a:solidFill>
                  <a:srgbClr val="1B5E20"/>
                </a:solidFill>
                <a:latin typeface="Malgun Gothic"/>
              </a:rPr>
              <a:t>VLM이 live SEM 영역 bbox를 식별 (제어 패널 가림에도 정상 동작)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411480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4251960" y="3291840"/>
            <a:ext cx="1760220" cy="2194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B25500"/>
                </a:solidFill>
                <a:latin typeface="Malgun Gothic"/>
              </a:rPr>
              <a:t>🔄 진행 중</a:t>
            </a:r>
          </a:p>
          <a:p>
            <a:pPr algn="ctr"/>
            <a:r>
              <a:rPr sz="1100" b="1">
                <a:solidFill>
                  <a:srgbClr val="B25500"/>
                </a:solidFill>
                <a:latin typeface="Malgun Gothic"/>
              </a:rPr>
              <a:t>Cursor Click 감지</a:t>
            </a:r>
          </a:p>
          <a:p>
            <a:pPr algn="ctr"/>
            <a:r>
              <a:rPr sz="800" b="0">
                <a:solidFill>
                  <a:srgbClr val="B25500"/>
                </a:solidFill>
                <a:latin typeface="Malgun Gothic"/>
              </a:rPr>
              <a:t>DVR / RCS / RCS-on-SEM-Monitor 3가지 cursor 변형 대응 중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74870" y="3163824"/>
            <a:ext cx="914400" cy="256032"/>
          </a:xfrm>
          <a:prstGeom prst="round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📍 현재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01218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149340" y="3291840"/>
            <a:ext cx="1760220" cy="2194560"/>
          </a:xfrm>
          <a:prstGeom prst="roundRect">
            <a:avLst/>
          </a:prstGeom>
          <a:solidFill>
            <a:srgbClr val="FFF3E0"/>
          </a:solidFill>
          <a:ln w="25400"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B25500"/>
                </a:solidFill>
                <a:latin typeface="Malgun Gothic"/>
              </a:rPr>
              <a:t>🔄 진행 중</a:t>
            </a:r>
          </a:p>
          <a:p>
            <a:pPr algn="ctr"/>
            <a:r>
              <a:rPr sz="1100" b="1">
                <a:solidFill>
                  <a:srgbClr val="B25500"/>
                </a:solidFill>
                <a:latin typeface="Malgun Gothic"/>
              </a:rPr>
              <a:t>Recipe Align Key 추출 → VLM</a:t>
            </a:r>
          </a:p>
          <a:p>
            <a:pPr algn="ctr"/>
            <a:r>
              <a:rPr sz="800" b="0">
                <a:solidFill>
                  <a:srgbClr val="B25500"/>
                </a:solidFill>
                <a:latin typeface="Malgun Gothic"/>
              </a:rPr>
              <a:t>Recipe 파일에서 align key 패치 추출 후 매처/VLM 입력으로 공급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72250" y="3163824"/>
            <a:ext cx="914400" cy="256032"/>
          </a:xfrm>
          <a:prstGeom prst="roundRect">
            <a:avLst/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900" b="1">
                <a:solidFill>
                  <a:srgbClr val="FFFFFF"/>
                </a:solidFill>
                <a:latin typeface="Malgun Gothic"/>
              </a:rPr>
              <a:t>📍 현재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90956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8046720" y="3291840"/>
            <a:ext cx="1760220" cy="21945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424242"/>
                </a:solidFill>
                <a:latin typeface="Malgun Gothic"/>
              </a:rPr>
              <a:t>⏳ 대기</a:t>
            </a:r>
          </a:p>
          <a:p>
            <a:pPr algn="ctr"/>
            <a:r>
              <a:rPr sz="1100" b="1">
                <a:solidFill>
                  <a:srgbClr val="424242"/>
                </a:solidFill>
                <a:latin typeface="Malgun Gothic"/>
              </a:rPr>
              <a:t>Align Key 매칭 (Chamfer + ORB)</a:t>
            </a:r>
          </a:p>
          <a:p>
            <a:pPr algn="ctr"/>
            <a:r>
              <a:rPr sz="800" b="0">
                <a:solidFill>
                  <a:srgbClr val="424242"/>
                </a:solidFill>
                <a:latin typeface="Malgun Gothic"/>
              </a:rPr>
              <a:t>Recipe Align Key 추출 선행 필요, 합성 데이터 사전 검증도 미진행 (알고리즘 구현만 완료)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806940" y="4389120"/>
            <a:ext cx="137160" cy="0"/>
          </a:xfrm>
          <a:prstGeom prst="line">
            <a:avLst/>
          </a:prstGeom>
          <a:ln w="19050">
            <a:solidFill>
              <a:srgbClr val="90A4A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9944100" y="3291840"/>
            <a:ext cx="1760220" cy="2194560"/>
          </a:xfrm>
          <a:prstGeom prst="roundRect">
            <a:avLst/>
          </a:prstGeom>
          <a:solidFill>
            <a:srgbClr val="F5F5F5"/>
          </a:solidFill>
          <a:ln w="25400"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/>
            <a:r>
              <a:rPr sz="900" b="1">
                <a:solidFill>
                  <a:srgbClr val="424242"/>
                </a:solidFill>
                <a:latin typeface="Malgun Gothic"/>
              </a:rPr>
              <a:t>⏳ 대기</a:t>
            </a:r>
          </a:p>
          <a:p>
            <a:pPr algn="ctr"/>
            <a:r>
              <a:rPr sz="1100" b="1">
                <a:solidFill>
                  <a:srgbClr val="424242"/>
                </a:solidFill>
                <a:latin typeface="Malgun Gothic"/>
              </a:rPr>
              <a:t>FOV Search Loop</a:t>
            </a:r>
          </a:p>
          <a:p>
            <a:pPr algn="ctr"/>
            <a:r>
              <a:rPr sz="800" b="0">
                <a:solidFill>
                  <a:srgbClr val="424242"/>
                </a:solidFill>
                <a:latin typeface="Malgun Gothic"/>
              </a:rPr>
              <a:t>매처 결과로 stage 이동·escalation, 실 SEM 환경 검증 필요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760720"/>
            <a:ext cx="182880" cy="182880"/>
          </a:xfrm>
          <a:prstGeom prst="rect">
            <a:avLst/>
          </a:prstGeom>
          <a:solidFill>
            <a:srgbClr val="E8F5E9"/>
          </a:solidFill>
          <a:ln>
            <a:solidFill>
              <a:srgbClr val="2E7D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15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✅ 완료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286000" y="5760720"/>
            <a:ext cx="182880" cy="182880"/>
          </a:xfrm>
          <a:prstGeom prst="rect">
            <a:avLst/>
          </a:prstGeom>
          <a:solidFill>
            <a:srgbClr val="FFF3E0"/>
          </a:solidFill>
          <a:ln>
            <a:solidFill>
              <a:srgbClr val="ED6C0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603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🔄 진행 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0" y="5760720"/>
            <a:ext cx="182880" cy="182880"/>
          </a:xfrm>
          <a:prstGeom prst="rect">
            <a:avLst/>
          </a:prstGeom>
          <a:solidFill>
            <a:srgbClr val="F5F5F5"/>
          </a:solidFill>
          <a:ln>
            <a:solidFill>
              <a:srgbClr val="75757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89120" y="5760720"/>
            <a:ext cx="1463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455A64"/>
                </a:solidFill>
                <a:latin typeface="Malgun Gothic"/>
              </a:rPr>
              <a:t>⏳ 대기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② 진행 상황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Workflow 2 6개 단계 상세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188720"/>
          <a:ext cx="11247120" cy="493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017520"/>
                <a:gridCol w="1463040"/>
                <a:gridCol w="6309360"/>
              </a:tblGrid>
              <a:tr h="705394"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#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  <a:tc>
                  <a:txBody>
                    <a:bodyPr lIns="73152" rIns="73152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Malgun Gothic"/>
                        </a:rPr>
                        <a:t>설명</a:t>
                      </a:r>
                    </a:p>
                  </a:txBody>
                  <a:tcPr>
                    <a:solidFill>
                      <a:srgbClr val="37474F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Frame 변화 필터링 (CV)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cv2.absdiff·dilate·connectedComponents로 정적 프레임 제거, VLM 입력량 축소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SEM Monitor Box 인식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1B5E20"/>
                          </a:solidFill>
                          <a:latin typeface="Malgun Gothic"/>
                        </a:rPr>
                        <a:t>✅ 완료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VLM이 live SEM 영역 bbox를 식별 (제어 패널 가림에도 정상 동작)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Cursor Click 감지  📍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B25500"/>
                          </a:solidFill>
                          <a:latin typeface="Malgun Gothic"/>
                        </a:rPr>
                        <a:t>🔄 진행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DVR / RCS / RCS-on-SEM-Monitor 3가지 cursor 변형 대응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Recipe Align Key 추출 → VLM  📍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B25500"/>
                          </a:solidFill>
                          <a:latin typeface="Malgun Gothic"/>
                        </a:rPr>
                        <a:t>🔄 진행 중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Recipe 파일에서 align key 패치 추출 후 매처/VLM 입력으로 공급</a:t>
                      </a:r>
                    </a:p>
                  </a:txBody>
                  <a:tcPr>
                    <a:solidFill>
                      <a:srgbClr val="E3F2FD"/>
                    </a:solidFill>
                  </a:tcPr>
                </a:tc>
              </a:tr>
              <a:tr h="705394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Align Key 매칭 (Chamfer + ORB)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424242"/>
                          </a:solidFill>
                          <a:latin typeface="Malgun Gothic"/>
                        </a:rPr>
                        <a:t>⏳ 대기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Recipe Align Key 추출 선행 필요, 합성 데이터 사전 검증도 미진행 (알고리즘 구현만 완료)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05396"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0">
                          <a:solidFill>
                            <a:srgbClr val="616161"/>
                          </a:solidFill>
                          <a:latin typeface="Malgun Gothic"/>
                        </a:rPr>
                        <a:t>6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200" b="1">
                          <a:solidFill>
                            <a:srgbClr val="212121"/>
                          </a:solidFill>
                          <a:latin typeface="Malgun Gothic"/>
                        </a:rPr>
                        <a:t>FOV Search Loop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ctr"/>
                      <a:r>
                        <a:rPr sz="1100" b="1">
                          <a:solidFill>
                            <a:srgbClr val="424242"/>
                          </a:solidFill>
                          <a:latin typeface="Malgun Gothic"/>
                        </a:rPr>
                        <a:t>⏳ 대기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  <a:tc>
                  <a:txBody>
                    <a:bodyPr wrap="square" lIns="73152" rIns="73152" tIns="54864" bIns="54864" anchor="ctr"/>
                    <a:lstStyle/>
                    <a:p>
                      <a:pPr algn="l"/>
                      <a:r>
                        <a:rPr sz="1100" b="0">
                          <a:solidFill>
                            <a:srgbClr val="424242"/>
                          </a:solidFill>
                          <a:latin typeface="Malgun Gothic"/>
                        </a:rPr>
                        <a:t>매처 결과로 stage 이동·escalation, 실 SEM 환경 검증 필요</a:t>
                      </a:r>
                    </a:p>
                  </a:txBody>
                  <a:tcPr>
                    <a:solidFill>
                      <a:srgbClr val="FAFA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12121"/>
                </a:solidFill>
                <a:latin typeface="Malgun Gothic"/>
              </a:rPr>
              <a:t>③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85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607D8B"/>
                </a:solidFill>
                <a:latin typeface="Malgun Gothic"/>
              </a:rPr>
              <a:t>단기 우선순위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1. Cursor Click 감지의 환경/위치 변형 대응 마무리 후 실 RCS 회귀 테스트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2. Recipe Align Key 이미지 추출 파이프라인 코어 구현 및 VLM 입력 검증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3. Align Key 매칭(Chamfer+ORB) 합성 데이터 사전 검증부터 시작 → 실데이터 calibration (positive/negative 50+ pairs로 임계값 검증)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263238"/>
                </a:solidFill>
                <a:latin typeface="Malgun Gothic"/>
              </a:rPr>
              <a:t>4. FOV Search Loop 통합 → 매니저 라이브 데모 준비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