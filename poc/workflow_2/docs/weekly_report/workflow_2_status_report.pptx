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A237E"/>
                </a:solidFill>
                <a:latin typeface="Malgun Gothic"/>
              </a:rPr>
              <a:t>Workflow 2 진행 상황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37474F"/>
                </a:solidFill>
                <a:latin typeface="Malgun Gothic"/>
              </a:rPr>
              <a:t>Align Point 보정 정확도 — 표식 제거 +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Malgun Gothic"/>
              </a:rPr>
              <a:t>작성일 2026-06-05  ·  범위 poc/workflow_2/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0A4AE"/>
                </a:solidFill>
                <a:latin typeface="Malgun Gothic"/>
              </a:rPr>
              <a:t>Workflow 1 (RCS 로그인 ~ Align Fail Alarm)은 완성 단계에 있으며, 본 보고는 Workflow 2의 진행 현황입니다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Malgun Gothic"/>
              </a:rPr>
              <a:t>①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7D8B"/>
                </a:solidFill>
                <a:latin typeface="Malgun Gothic"/>
              </a:rPr>
              <a:t>Workflow 1 (완성 단계) → Workflow 2 (현재 작업)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Malgun Gothic"/>
              </a:rPr>
              <a:t>Workflow 1 · 완성 단계 (별도 보고)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RCS 로그인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24912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Tool 선택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92624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Window/Frame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Popup/Cursor 감지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8048" y="1463040"/>
            <a:ext cx="2176272" cy="50292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455A64"/>
                </a:solidFill>
                <a:latin typeface="Malgun Gothic"/>
              </a:rPr>
              <a:t>✓ Align Fail Alarm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031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0A4AE"/>
                </a:solidFill>
                <a:latin typeface="Malgun Gothic"/>
              </a:rP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Malgun Gothic"/>
              </a:rPr>
              <a:t>Workflow 2 · 현재 작업 구간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7602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1B5E20"/>
                </a:solidFill>
                <a:latin typeface="Malgun Gothic"/>
              </a:rPr>
              <a:t>✅ 완료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Malgun Gothic"/>
              </a:rPr>
              <a:t>SEM 화면 영역 검출</a:t>
            </a:r>
          </a:p>
          <a:p>
            <a:pPr algn="ctr"/>
            <a:r>
              <a:rPr sz="800" b="0">
                <a:solidFill>
                  <a:srgbClr val="1B5E20"/>
                </a:solidFill>
                <a:latin typeface="Malgun Gothic"/>
              </a:rPr>
              <a:t>모든 탐색의 기준점인 live SEM 박스를 검출, 장비별 기준 위치 저장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1742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54580" y="3291840"/>
            <a:ext cx="17602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1B5E20"/>
                </a:solidFill>
                <a:latin typeface="Malgun Gothic"/>
              </a:rPr>
              <a:t>✅ 완료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Malgun Gothic"/>
              </a:rPr>
              <a:t>OK 버튼 검출·클릭</a:t>
            </a:r>
          </a:p>
          <a:p>
            <a:pPr algn="ctr"/>
            <a:r>
              <a:rPr sz="800" b="0">
                <a:solidFill>
                  <a:srgbClr val="1B5E20"/>
                </a:solidFill>
                <a:latin typeface="Malgun Gothic"/>
              </a:rPr>
              <a:t>보정을 확정하는 마지막 동작, OCR 재확인으로 오클릭 차단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51960" y="3291840"/>
            <a:ext cx="17602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1B5E20"/>
                </a:solidFill>
                <a:latin typeface="Malgun Gothic"/>
              </a:rPr>
              <a:t>✅ 완료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Malgun Gothic"/>
              </a:rPr>
              <a:t>흰 박스 제거 (template)</a:t>
            </a:r>
          </a:p>
          <a:p>
            <a:pPr algn="ctr"/>
            <a:r>
              <a:rPr sz="800" b="0">
                <a:solidFill>
                  <a:srgbClr val="1B5E20"/>
                </a:solidFill>
                <a:latin typeface="Malgun Gothic"/>
              </a:rPr>
              <a:t>고정 디지털값(히스토그램 섬) photometric 검출로 박스 안쪽만 crop, 최악 샘플 1/6→6/6 (합성검증)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1218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49340" y="3291840"/>
            <a:ext cx="17602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1B5E20"/>
                </a:solidFill>
                <a:latin typeface="Malgun Gothic"/>
              </a:rPr>
              <a:t>✅ 완료</a:t>
            </a:r>
          </a:p>
          <a:p>
            <a:pPr algn="ctr"/>
            <a:r>
              <a:rPr sz="1100" b="1">
                <a:solidFill>
                  <a:srgbClr val="1B5E20"/>
                </a:solidFill>
                <a:latin typeface="Malgun Gothic"/>
              </a:rPr>
              <a:t>십자(crosshair) 제거 (frame)</a:t>
            </a:r>
          </a:p>
          <a:p>
            <a:pPr algn="ctr"/>
            <a:r>
              <a:rPr sz="800" b="0">
                <a:solidFill>
                  <a:srgbClr val="1B5E20"/>
                </a:solidFill>
                <a:latin typeface="Malgun Gothic"/>
              </a:rPr>
              <a:t>십자 검출→위치를 정답으로 기록→inpaint, 재검출+edge밀도로 제거 이중 검증 (합성검증)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20" y="3291840"/>
            <a:ext cx="1760220" cy="21945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D6C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B25500"/>
                </a:solidFill>
                <a:latin typeface="Malgun Gothic"/>
              </a:rPr>
              <a:t>🔄 진행 중</a:t>
            </a:r>
          </a:p>
          <a:p>
            <a:pPr algn="ctr"/>
            <a:r>
              <a:rPr sz="1100" b="1">
                <a:solidFill>
                  <a:srgbClr val="B25500"/>
                </a:solidFill>
                <a:latin typeface="Malgun Gothic"/>
              </a:rPr>
              <a:t>Align Point 정확도 검증</a:t>
            </a:r>
          </a:p>
          <a:p>
            <a:pPr algn="ctr"/>
            <a:r>
              <a:rPr sz="800" b="0">
                <a:solidFill>
                  <a:srgbClr val="B25500"/>
                </a:solidFill>
                <a:latin typeface="Malgun Gothic"/>
              </a:rPr>
              <a:t>2×2 비교(박스·십자 정리 효과 분리) + S전용 위치추정 검증(1발 명중률), 오피스 데이터 대기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69630" y="3163824"/>
            <a:ext cx="914400" cy="256032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📍 현재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06940" y="4389120"/>
            <a:ext cx="137160" cy="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44100" y="3291840"/>
            <a:ext cx="1760220" cy="21945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900" b="1">
                <a:solidFill>
                  <a:srgbClr val="424242"/>
                </a:solidFill>
                <a:latin typeface="Malgun Gothic"/>
              </a:rPr>
              <a:t>⏳ 대기</a:t>
            </a:r>
          </a:p>
          <a:p>
            <a:pPr algn="ctr"/>
            <a:r>
              <a:rPr sz="1100" b="1">
                <a:solidFill>
                  <a:srgbClr val="424242"/>
                </a:solidFill>
                <a:latin typeface="Malgun Gothic"/>
              </a:rPr>
              <a:t>실장비 FOV Search Loop</a:t>
            </a:r>
          </a:p>
          <a:p>
            <a:pPr algn="ctr"/>
            <a:r>
              <a:rPr sz="800" b="0">
                <a:solidFill>
                  <a:srgbClr val="424242"/>
                </a:solidFill>
                <a:latin typeface="Malgun Gothic"/>
              </a:rPr>
              <a:t>검증 통과 후 실 SEM 연결 어댑터·안전장치 구현 → 매처 결과로 stage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82880" cy="18288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  <a:latin typeface="Malgun Gothic"/>
              </a:rPr>
              <a:t>✅ 완료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5760720"/>
            <a:ext cx="182880" cy="182880"/>
          </a:xfrm>
          <a:prstGeom prst="rect">
            <a:avLst/>
          </a:prstGeom>
          <a:solidFill>
            <a:srgbClr val="FFF3E0"/>
          </a:solidFill>
          <a:ln>
            <a:solidFill>
              <a:srgbClr val="ED6C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  <a:latin typeface="Malgun Gothic"/>
              </a:rPr>
              <a:t>🔄 진행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5760720"/>
            <a:ext cx="182880" cy="182880"/>
          </a:xfrm>
          <a:prstGeom prst="rect">
            <a:avLst/>
          </a:prstGeom>
          <a:solidFill>
            <a:srgbClr val="F5F5F5"/>
          </a:solidFill>
          <a:ln>
            <a:solidFill>
              <a:srgbClr val="757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76072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55A64"/>
                </a:solidFill>
                <a:latin typeface="Malgun Gothic"/>
              </a:rPr>
              <a:t>⏳ 대기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Malgun Gothic"/>
              </a:rPr>
              <a:t>② 진행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7D8B"/>
                </a:solidFill>
                <a:latin typeface="Malgun Gothic"/>
              </a:rPr>
              <a:t>Workflow 2 6개 단계 상세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017520"/>
                <a:gridCol w="1463040"/>
                <a:gridCol w="6309360"/>
              </a:tblGrid>
              <a:tr h="705394"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SEM 화면 영역 검출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B5E20"/>
                          </a:solidFill>
                          <a:latin typeface="Malgun Gothic"/>
                        </a:rPr>
                        <a:t>✅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모든 탐색의 기준점인 live SEM 박스를 검출, 장비별 기준 위치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OK 버튼 검출·클릭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B5E20"/>
                          </a:solidFill>
                          <a:latin typeface="Malgun Gothic"/>
                        </a:rPr>
                        <a:t>✅ 완료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보정을 확정하는 마지막 동작, OCR 재확인으로 오클릭 차단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흰 박스 제거 (template)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B5E20"/>
                          </a:solidFill>
                          <a:latin typeface="Malgun Gothic"/>
                        </a:rPr>
                        <a:t>✅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고정 디지털값(히스토그램 섬) photometric 검출로 박스 안쪽만 crop, 최악 샘플 1/6→6/6 (합성검증)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십자(crosshair) 제거 (frame)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1B5E20"/>
                          </a:solidFill>
                          <a:latin typeface="Malgun Gothic"/>
                        </a:rPr>
                        <a:t>✅ 완료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십자 검출→위치를 정답으로 기록→inpaint, 재검출+edge밀도로 제거 이중 검증 (합성검증)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05394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Align Point 정확도 검증  📍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B25500"/>
                          </a:solidFill>
                          <a:latin typeface="Malgun Gothic"/>
                        </a:rPr>
                        <a:t>🔄 진행 중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2×2 비교(박스·십자 정리 효과 분리) + S전용 위치추정 검증(1발 명중률), 오피스 데이터 대기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705396"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16161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200" b="1">
                          <a:solidFill>
                            <a:srgbClr val="212121"/>
                          </a:solidFill>
                          <a:latin typeface="Malgun Gothic"/>
                        </a:rPr>
                        <a:t>실장비 FOV Search Loop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ctr"/>
                      <a:r>
                        <a:rPr sz="1100" b="1">
                          <a:solidFill>
                            <a:srgbClr val="424242"/>
                          </a:solidFill>
                          <a:latin typeface="Malgun Gothic"/>
                        </a:rPr>
                        <a:t>⏳ 대기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wrap="square" lIns="73152" rIns="73152" tIns="54864" bIns="54864" anchor="ctr"/>
                    <a:lstStyle/>
                    <a:p>
                      <a:pPr algn="l"/>
                      <a:r>
                        <a:rPr sz="1100" b="0">
                          <a:solidFill>
                            <a:srgbClr val="424242"/>
                          </a:solidFill>
                          <a:latin typeface="Malgun Gothic"/>
                        </a:rPr>
                        <a:t>검증 통과 후 실 SEM 연결 어댑터·안전장치 구현 → 매처 결과로 stage 이동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Malgun Gothic"/>
              </a:rPr>
              <a:t>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7D8B"/>
                </a:solidFill>
                <a:latin typeface="Malgun Gothic"/>
              </a:rPr>
              <a:t>단기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1. (오피스) 골든셋 수집 — 성공(S) 측정 이미지를 recipe당 8~10장, 웨이퍼/lot/시간 분산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2. 정답 위생 먼저 확인 — 십자 검출률이 낮으면 그 위 수치 신뢰 불가, 검출기부터 점검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3. 본 판정 — golden_localization_eval.py 로 NEW(박스+inpaint)의 1발 명중률을 OLD 대비 측정, 통과 시 정식 채택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4. 임계 캘리브레이션 — success_vs_fail_compare.py 로 거짓양성 0 검증 후 fail 데이터 적용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63238"/>
                </a:solidFill>
                <a:latin typeface="Malgun Gothic"/>
              </a:rPr>
              <a:t>5. 잔여 실패율로 VLM+CV 백업(gated escalation) 필요량 판단 → 필요시에만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