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28600"/>
            <a:ext cx="146304" cy="6355080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11274552" cy="6309360"/>
          </a:xfrm>
          <a:prstGeom prst="roundRect">
            <a:avLst/>
          </a:prstGeom>
          <a:solidFill>
            <a:srgbClr val="F8F4EC"/>
          </a:solidFill>
          <a:ln w="12700">
            <a:solidFill>
              <a:srgbClr val="E7DD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" y="402336"/>
            <a:ext cx="1335024" cy="310896"/>
          </a:xfrm>
          <a:prstGeom prst="roundRect">
            <a:avLst/>
          </a:prstGeom>
          <a:solidFill>
            <a:srgbClr val="F8E2C2"/>
          </a:solidFill>
          <a:ln w="12700">
            <a:solidFill>
              <a:srgbClr val="F8E2C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572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5C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 / Overview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13232" y="7498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deploy_vlms 운영 요약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31520" y="115214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H200 140GB x2 기준 GUI VLM, Flask proxy, OCR 분기 전략을 10장으로 압축</a:t>
            </a:r>
            <a:endParaRPr lang="en-US" sz="1060" dirty="0"/>
          </a:p>
        </p:txBody>
      </p:sp>
      <p:sp>
        <p:nvSpPr>
          <p:cNvPr id="8" name="Text 6"/>
          <p:cNvSpPr/>
          <p:nvPr/>
        </p:nvSpPr>
        <p:spPr>
          <a:xfrm>
            <a:off x="749808" y="6364224"/>
            <a:ext cx="10332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Sources: README, 01-08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49808" y="14630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핵심: 1모델=1포트=1서비스로 시작하고, 공통 env / 모델 env / Flask proxy / poc/work 연동 규칙을 먼저 고정한다.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68096" y="2084832"/>
            <a:ext cx="914400" cy="237744"/>
          </a:xfrm>
          <a:prstGeom prst="roundRect">
            <a:avLst/>
          </a:prstGeom>
          <a:solidFill>
            <a:srgbClr val="D8EFF0"/>
          </a:solidFill>
          <a:ln w="12700">
            <a:solidFill>
              <a:srgbClr val="D8EFF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2130552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6F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vLLM 0.17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755648" y="2084832"/>
            <a:ext cx="1261872" cy="237744"/>
          </a:xfrm>
          <a:prstGeom prst="roundRect">
            <a:avLst/>
          </a:prstGeom>
          <a:solidFill>
            <a:srgbClr val="F8E2C2"/>
          </a:solidFill>
          <a:ln w="12700">
            <a:solidFill>
              <a:srgbClr val="F8E2C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65376" y="2130552"/>
            <a:ext cx="1042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85C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Flask /api proxy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08960" y="2084832"/>
            <a:ext cx="1097280" cy="237744"/>
          </a:xfrm>
          <a:prstGeom prst="roundRect">
            <a:avLst/>
          </a:prstGeom>
          <a:solidFill>
            <a:srgbClr val="DDEEE0"/>
          </a:solidFill>
          <a:ln w="12700">
            <a:solidFill>
              <a:srgbClr val="DDEEE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18688" y="2130552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E6F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poc/work ready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41248" y="2642616"/>
            <a:ext cx="109728" cy="109728"/>
          </a:xfrm>
          <a:prstGeom prst="roundRect">
            <a:avLst/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" y="257860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baseline은 UI-Venus 8001, MAI-UI 8002, 이후 UI-TARS 8003 순서다.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41248" y="3145536"/>
            <a:ext cx="109728" cy="109728"/>
          </a:xfrm>
          <a:prstGeom prst="roundRect">
            <a:avLst/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" y="308152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Flask gateway는 /api/vlm_serve/&lt;service&gt;/v1/* 로 direct port를 감추는 공용 주소를 제공한다.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41248" y="3648456"/>
            <a:ext cx="109728" cy="109728"/>
          </a:xfrm>
          <a:prstGeom prst="roundRect">
            <a:avLst/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" y="358444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PaddleOCR-VL-1.5는 기존 vLLM wrapper에 편입하고, GOT-OCR-2.0-hf는 transformers direct runtime으로 분리한다.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720840" y="1426464"/>
            <a:ext cx="4663440" cy="437083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12864" y="1609344"/>
            <a:ext cx="1335024" cy="256032"/>
          </a:xfrm>
          <a:prstGeom prst="roundRect">
            <a:avLst/>
          </a:prstGeom>
          <a:solidFill>
            <a:srgbClr val="D8EFF0"/>
          </a:solidFill>
          <a:ln w="12700">
            <a:solidFill>
              <a:srgbClr val="D8EFF0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0" y="1664208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6F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 Map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967728" y="1993392"/>
            <a:ext cx="2011680" cy="1335024"/>
          </a:xfrm>
          <a:prstGeom prst="roundRect">
            <a:avLst/>
          </a:prstGeom>
          <a:solidFill>
            <a:srgbClr val="F8E2C2"/>
          </a:solidFill>
          <a:ln w="12700">
            <a:solidFill>
              <a:srgbClr val="F8E2C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0" y="2157984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baseline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132320" y="2432304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85C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8001 / 8002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132320" y="2816352"/>
            <a:ext cx="1682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UI-Venus와 MAI-UI를 분리 배치해 장애 분리와 A/B 비교를 우선한다.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125712" y="1993392"/>
            <a:ext cx="1993392" cy="1335024"/>
          </a:xfrm>
          <a:prstGeom prst="roundRect">
            <a:avLst/>
          </a:prstGeom>
          <a:solidFill>
            <a:srgbClr val="D8EFF0"/>
          </a:solidFill>
          <a:ln w="12700">
            <a:solidFill>
              <a:srgbClr val="D8EF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90304" y="2157984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Gateway path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290304" y="2432304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6F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/api/vlm_serve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290304" y="2816352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coworkers 에게는 direct port 대신 Flask proxy base URL을 배포한다.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967728" y="3566160"/>
            <a:ext cx="2011680" cy="1335024"/>
          </a:xfrm>
          <a:prstGeom prst="roundRect">
            <a:avLst/>
          </a:prstGeom>
          <a:solidFill>
            <a:srgbClr val="DDEEE0"/>
          </a:solidFill>
          <a:ln w="12700">
            <a:solidFill>
              <a:srgbClr val="DDEE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2320" y="3730752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Research path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132320" y="4005072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E6F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81xx / 82xx / 83xx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7132320" y="4389120"/>
            <a:ext cx="1682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family-size variant는 baseline 포트와 분리된 대역으로 운영한다.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9125712" y="3566160"/>
            <a:ext cx="1993392" cy="1335024"/>
          </a:xfrm>
          <a:prstGeom prst="roundRect">
            <a:avLst/>
          </a:prstGeom>
          <a:solidFill>
            <a:srgbClr val="F5D7CA"/>
          </a:solidFill>
          <a:ln w="12700">
            <a:solidFill>
              <a:srgbClr val="F5D7C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290304" y="3730752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 split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290304" y="4005072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9E2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vLLM vs transformers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9290304" y="4389120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PaddleOCR-VL과 GOT-OCR은 런타임 성격이 달라 문서를 분리해 관리한다.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967728" y="5166360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 docs cover layout, startup scripts, Flask integration, offline policy, model comparison, size research, and OCR paths.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28600"/>
            <a:ext cx="146304" cy="6355080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11274552" cy="6309360"/>
          </a:xfrm>
          <a:prstGeom prst="roundRect">
            <a:avLst/>
          </a:prstGeom>
          <a:solidFill>
            <a:srgbClr val="F8F4EC"/>
          </a:solidFill>
          <a:ln w="12700">
            <a:solidFill>
              <a:srgbClr val="E7DD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" y="402336"/>
            <a:ext cx="1335024" cy="310896"/>
          </a:xfrm>
          <a:prstGeom prst="roundRect">
            <a:avLst/>
          </a:prstGeom>
          <a:solidFill>
            <a:srgbClr val="F8E2C2"/>
          </a:solidFill>
          <a:ln w="12700">
            <a:solidFill>
              <a:srgbClr val="F8E2C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572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5C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/ Architecture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13232" y="7498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Flask server와 vLLM 서비스 구조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31520" y="115214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흐름과 실제 repo 코드 구조를 한 장에 합친 운영 아키텍처</a:t>
            </a:r>
            <a:endParaRPr lang="en-US" sz="1060" dirty="0"/>
          </a:p>
        </p:txBody>
      </p:sp>
      <p:sp>
        <p:nvSpPr>
          <p:cNvPr id="8" name="Text 6"/>
          <p:cNvSpPr/>
          <p:nvPr/>
        </p:nvSpPr>
        <p:spPr>
          <a:xfrm>
            <a:off x="749808" y="6364224"/>
            <a:ext cx="10332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Sources: README, 03, flask_api/*, web_main.py</a:t>
            </a:r>
            <a:endParaRPr lang="en-US" sz="8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4944" y="1335024"/>
            <a:ext cx="10899648" cy="43159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86384" y="5797296"/>
            <a:ext cx="1792224" cy="237744"/>
          </a:xfrm>
          <a:prstGeom prst="roundRect">
            <a:avLst/>
          </a:prstGeom>
          <a:solidFill>
            <a:srgbClr val="F8E2C2"/>
          </a:solidFill>
          <a:ln w="12700">
            <a:solidFill>
              <a:srgbClr val="F8E2C2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6112" y="5843016"/>
            <a:ext cx="1572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85C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imagegen dry-run prompt used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706624" y="5833872"/>
            <a:ext cx="7223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이미지 API 생성은 OPENAI_API_KEY 부재로 실행하지 못했고, 대신 같은 prompt spec을 저장한 뒤 그 구조로 SVG를 작성했다.</a:t>
            </a:r>
            <a:endParaRPr lang="en-US" sz="920" dirty="0"/>
          </a:p>
        </p:txBody>
      </p:sp>
      <p:sp>
        <p:nvSpPr>
          <p:cNvPr id="13" name="Text 10"/>
          <p:cNvSpPr/>
          <p:nvPr/>
        </p:nvSpPr>
        <p:spPr>
          <a:xfrm>
            <a:off x="786384" y="6071616"/>
            <a:ext cx="10149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Repo current state on March 12, 2026: flask_api/vlm_serve/config.py 에서 enabled=true 인 서비스는 ui-venus(8001)와 paddleocr-vl-1.5(8004)다.</a:t>
            </a:r>
            <a:endParaRPr lang="en-US" sz="9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28600"/>
            <a:ext cx="146304" cy="6355080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11274552" cy="6309360"/>
          </a:xfrm>
          <a:prstGeom prst="roundRect">
            <a:avLst/>
          </a:prstGeom>
          <a:solidFill>
            <a:srgbClr val="F8F4EC"/>
          </a:solidFill>
          <a:ln w="12700">
            <a:solidFill>
              <a:srgbClr val="E7DD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" y="402336"/>
            <a:ext cx="1335024" cy="310896"/>
          </a:xfrm>
          <a:prstGeom prst="roundRect">
            <a:avLst/>
          </a:prstGeom>
          <a:solidFill>
            <a:srgbClr val="F8E2C2"/>
          </a:solidFill>
          <a:ln w="12700">
            <a:solidFill>
              <a:srgbClr val="F8E2C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572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5C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/ Baseline Ports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13232" y="7498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시작점과 포트 정책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31520" y="115214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PoC 초반에는 메모리 효율보다 비교 실험과 장애 분리가 우선이다.</a:t>
            </a:r>
            <a:endParaRPr lang="en-US" sz="1060" dirty="0"/>
          </a:p>
        </p:txBody>
      </p:sp>
      <p:sp>
        <p:nvSpPr>
          <p:cNvPr id="8" name="Text 6"/>
          <p:cNvSpPr/>
          <p:nvPr/>
        </p:nvSpPr>
        <p:spPr>
          <a:xfrm>
            <a:off x="749808" y="6364224"/>
            <a:ext cx="10332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Sources: README, 02, 03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04672" y="1572768"/>
            <a:ext cx="2423160" cy="1481328"/>
          </a:xfrm>
          <a:prstGeom prst="roundRect">
            <a:avLst/>
          </a:prstGeom>
          <a:solidFill>
            <a:srgbClr val="F8E2C2"/>
          </a:solidFill>
          <a:ln w="12700">
            <a:solidFill>
              <a:srgbClr val="F8E2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1737360"/>
            <a:ext cx="2093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UI-Venus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69264" y="2011680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85C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8001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69264" y="2395728"/>
            <a:ext cx="2093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0 / 주력 grounding 후보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593592" y="1572768"/>
            <a:ext cx="2423160" cy="1481328"/>
          </a:xfrm>
          <a:prstGeom prst="roundRect">
            <a:avLst/>
          </a:prstGeom>
          <a:solidFill>
            <a:srgbClr val="D8EFF0"/>
          </a:solidFill>
          <a:ln w="12700">
            <a:solidFill>
              <a:srgbClr val="D8EF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58184" y="1737360"/>
            <a:ext cx="2093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MAI-UI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758184" y="2011680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6F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8002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758184" y="2395728"/>
            <a:ext cx="2093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1 / A-B 비교 후보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82512" y="1572768"/>
            <a:ext cx="2423160" cy="1481328"/>
          </a:xfrm>
          <a:prstGeom prst="roundRect">
            <a:avLst/>
          </a:prstGeom>
          <a:solidFill>
            <a:srgbClr val="DDEEE0"/>
          </a:solidFill>
          <a:ln w="12700">
            <a:solidFill>
              <a:srgbClr val="DDEE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47104" y="1737360"/>
            <a:ext cx="2093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UI-TARS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47104" y="2011680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E6F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547104" y="2395728"/>
            <a:ext cx="2093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 추가 / runtime 민감도 높음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171432" y="1572768"/>
            <a:ext cx="2423160" cy="1481328"/>
          </a:xfrm>
          <a:prstGeom prst="roundRect">
            <a:avLst/>
          </a:prstGeom>
          <a:solidFill>
            <a:srgbClr val="F5D7CA"/>
          </a:solidFill>
          <a:ln w="12700">
            <a:solidFill>
              <a:srgbClr val="F5D7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36024" y="1737360"/>
            <a:ext cx="2093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Canary / OCR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336024" y="2011680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9E2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336024" y="2395728"/>
            <a:ext cx="2093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template 검증 또는 PaddleOCR-VL canary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04672" y="3401568"/>
            <a:ext cx="5321808" cy="215798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87552" y="3584448"/>
            <a:ext cx="1005840" cy="256032"/>
          </a:xfrm>
          <a:prstGeom prst="roundRect">
            <a:avLst/>
          </a:prstGeom>
          <a:solidFill>
            <a:srgbClr val="D8EFF0"/>
          </a:solidFill>
          <a:ln w="12700">
            <a:solidFill>
              <a:srgbClr val="D8EFF0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15568" y="3639312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6F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Port Rules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87552" y="3977640"/>
            <a:ext cx="109728" cy="109728"/>
          </a:xfrm>
          <a:prstGeom prst="roundRect">
            <a:avLst/>
          </a:prstGeom>
          <a:solidFill>
            <a:srgbClr val="1F6F78"/>
          </a:solidFill>
          <a:ln w="12700">
            <a:solidFill>
              <a:srgbClr val="1F6F78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70432" y="3913632"/>
            <a:ext cx="4608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8000은 비워 둔다.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87552" y="4379976"/>
            <a:ext cx="109728" cy="109728"/>
          </a:xfrm>
          <a:prstGeom prst="roundRect">
            <a:avLst/>
          </a:prstGeom>
          <a:solidFill>
            <a:srgbClr val="1F6F78"/>
          </a:solidFill>
          <a:ln w="12700">
            <a:solidFill>
              <a:srgbClr val="1F6F78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70432" y="4315968"/>
            <a:ext cx="4608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포트는 모델 식별자처럼 유지한다: 8001=ui-venus, 8002=mai-ui.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87552" y="4782312"/>
            <a:ext cx="109728" cy="109728"/>
          </a:xfrm>
          <a:prstGeom prst="roundRect">
            <a:avLst/>
          </a:prstGeom>
          <a:solidFill>
            <a:srgbClr val="1F6F78"/>
          </a:solidFill>
          <a:ln w="12700">
            <a:solidFill>
              <a:srgbClr val="1F6F78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70432" y="4718304"/>
            <a:ext cx="4608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실험은 기존 포트를 덮어쓰지 말고 다음 빈 포트 또는 canary 포트에서 먼저 검증한다.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87552" y="5184648"/>
            <a:ext cx="109728" cy="109728"/>
          </a:xfrm>
          <a:prstGeom prst="roundRect">
            <a:avLst/>
          </a:prstGeom>
          <a:solidFill>
            <a:srgbClr val="1F6F78"/>
          </a:solidFill>
          <a:ln w="12700">
            <a:solidFill>
              <a:srgbClr val="1F6F78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70432" y="5120640"/>
            <a:ext cx="4608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교체는 가능하면 포트 변경이 아니라 MODEL_ID 변경으로 처리한다.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400800" y="3401568"/>
            <a:ext cx="4882896" cy="215798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83680" y="3584448"/>
            <a:ext cx="1481328" cy="256032"/>
          </a:xfrm>
          <a:prstGeom prst="roundRect">
            <a:avLst/>
          </a:prstGeom>
          <a:solidFill>
            <a:srgbClr val="F8E2C2"/>
          </a:solidFill>
          <a:ln w="12700">
            <a:solidFill>
              <a:srgbClr val="F8E2C2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11696" y="3639312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C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Current Repo Config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583680" y="3977640"/>
            <a:ext cx="109728" cy="109728"/>
          </a:xfrm>
          <a:prstGeom prst="roundRect">
            <a:avLst/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66560" y="3913632"/>
            <a:ext cx="4133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baseline은 UI-Venus + MAI-UI dual start를 권장한다.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583680" y="4398264"/>
            <a:ext cx="109728" cy="109728"/>
          </a:xfrm>
          <a:prstGeom prst="roundRect">
            <a:avLst/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66560" y="4334256"/>
            <a:ext cx="4133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하지만 현재 repo config는 ui-venus와 paddleocr-vl-1.5만 enabled=true 로 등록되어 있다.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583680" y="4818888"/>
            <a:ext cx="109728" cy="109728"/>
          </a:xfrm>
          <a:prstGeom prst="roundRect">
            <a:avLst/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66560" y="4754880"/>
            <a:ext cx="4133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즉, 문서와 실제 서비스 활성 세트가 다를 수 있으므로 발표 시 둘을 구분해서 설명하는 편이 안전하다.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28600"/>
            <a:ext cx="146304" cy="6355080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11274552" cy="6309360"/>
          </a:xfrm>
          <a:prstGeom prst="roundRect">
            <a:avLst/>
          </a:prstGeom>
          <a:solidFill>
            <a:srgbClr val="F8F4EC"/>
          </a:solidFill>
          <a:ln w="12700">
            <a:solidFill>
              <a:srgbClr val="E7DD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" y="402336"/>
            <a:ext cx="1335024" cy="310896"/>
          </a:xfrm>
          <a:prstGeom prst="roundRect">
            <a:avLst/>
          </a:prstGeom>
          <a:solidFill>
            <a:srgbClr val="F8E2C2"/>
          </a:solidFill>
          <a:ln w="12700">
            <a:solidFill>
              <a:srgbClr val="F8E2C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572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5C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/ Layout &amp; Config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13232" y="7498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레이아웃과 env 분리 원칙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31520" y="115214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파일, 공통 옵션, 모델별 override 를 나눠 두면 교체와 rollback 이 단순해진다.</a:t>
            </a:r>
            <a:endParaRPr lang="en-US" sz="1060" dirty="0"/>
          </a:p>
        </p:txBody>
      </p:sp>
      <p:sp>
        <p:nvSpPr>
          <p:cNvPr id="8" name="Text 6"/>
          <p:cNvSpPr/>
          <p:nvPr/>
        </p:nvSpPr>
        <p:spPr>
          <a:xfrm>
            <a:off x="749808" y="6364224"/>
            <a:ext cx="10332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Sources: 01, README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86384" y="1554480"/>
            <a:ext cx="3291840" cy="1298448"/>
          </a:xfrm>
          <a:prstGeom prst="roundRect">
            <a:avLst/>
          </a:prstGeom>
          <a:solidFill>
            <a:srgbClr val="F8E2C2"/>
          </a:solidFill>
          <a:ln w="12700">
            <a:solidFill>
              <a:srgbClr val="F8E2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1719072"/>
            <a:ext cx="2962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 root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50976" y="1993392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85C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/project/.../data/models/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50976" y="2377440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weight 는 로컬 절대경로로만 관리한다.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43984" y="1554480"/>
            <a:ext cx="3291840" cy="1298448"/>
          </a:xfrm>
          <a:prstGeom prst="roundRect">
            <a:avLst/>
          </a:prstGeom>
          <a:solidFill>
            <a:srgbClr val="D8EFF0"/>
          </a:solidFill>
          <a:ln w="12700">
            <a:solidFill>
              <a:srgbClr val="D8EF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08576" y="1719072"/>
            <a:ext cx="2962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Common env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08576" y="1993392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6F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config/common.env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08576" y="2377440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HOST, DTYPE, MAX_MODEL_LEN, GPU_MEMORY_UTILIZATION 같은 공통값.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01584" y="1554480"/>
            <a:ext cx="3291840" cy="1298448"/>
          </a:xfrm>
          <a:prstGeom prst="roundRect">
            <a:avLst/>
          </a:prstGeom>
          <a:solidFill>
            <a:srgbClr val="DDEEE0"/>
          </a:solidFill>
          <a:ln w="12700">
            <a:solidFill>
              <a:srgbClr val="DDEE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6176" y="1719072"/>
            <a:ext cx="2962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 env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66176" y="1993392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E6F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config/models/*.env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66176" y="2377440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MODEL_ID, SERVED_MODEL_NAME, PORT, GPU_ID, CHAT_TEMPLATE override.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4672" y="3182112"/>
            <a:ext cx="3529584" cy="201168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9264" y="3346704"/>
            <a:ext cx="1371600" cy="237744"/>
          </a:xfrm>
          <a:prstGeom prst="roundRect">
            <a:avLst/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3392424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common.env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69264" y="3675888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F0F4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HOST=127.0.0.1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F0F4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DTYPE=bfloat16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F0F4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GPU_MEMORY_UTILIZATION=0.80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F0F4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MAX_MODEL_LEN=8192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F0F4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MAX_NUM_SEQS=8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F0F4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TENSOR_PARALLEL_SIZE=1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4517136" y="3182112"/>
            <a:ext cx="3529584" cy="201168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1728" y="3346704"/>
            <a:ext cx="1371600" cy="237744"/>
          </a:xfrm>
          <a:prstGeom prst="roundRect">
            <a:avLst/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91456" y="3392424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ui-venus.env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681728" y="3675888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F0F4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MODEL_ID=/project/.../UI-Venus-1.5-8B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F0F4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SERVED_MODEL_NAME=ui-venus-1.5-8b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F0F4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PORT=8001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F0F4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GPU_ID=0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F0F4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CHAT_TEMPLATE=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F0F4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TRUST_REMOTE_CODE=1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8247888" y="3182112"/>
            <a:ext cx="3163824" cy="20116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30768" y="3364992"/>
            <a:ext cx="1170432" cy="256032"/>
          </a:xfrm>
          <a:prstGeom prst="roundRect">
            <a:avLst/>
          </a:prstGeom>
          <a:solidFill>
            <a:srgbClr val="F5D7CA"/>
          </a:solidFill>
          <a:ln w="12700">
            <a:solidFill>
              <a:srgbClr val="F5D7CA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58784" y="341985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E2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Naming Rules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430768" y="3739896"/>
            <a:ext cx="109728" cy="109728"/>
          </a:xfrm>
          <a:prstGeom prst="roundRect">
            <a:avLst/>
          </a:prstGeom>
          <a:solidFill>
            <a:srgbClr val="9E2A2B"/>
          </a:solidFill>
          <a:ln w="12700">
            <a:solidFill>
              <a:srgbClr val="9E2A2B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13648" y="367588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alias 는 ui-venus.env, mai-ui.env 처럼 짧게 유지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430768" y="4160520"/>
            <a:ext cx="109728" cy="109728"/>
          </a:xfrm>
          <a:prstGeom prst="roundRect">
            <a:avLst/>
          </a:prstGeom>
          <a:solidFill>
            <a:srgbClr val="9E2A2B"/>
          </a:solidFill>
          <a:ln w="12700">
            <a:solidFill>
              <a:srgbClr val="9E2A2B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13648" y="409651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size 연구는 family-size 규칙 사용: ui-venus-2b, ui-venus-30b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430768" y="4581144"/>
            <a:ext cx="109728" cy="109728"/>
          </a:xfrm>
          <a:prstGeom prst="roundRect">
            <a:avLst/>
          </a:prstGeom>
          <a:solidFill>
            <a:srgbClr val="9E2A2B"/>
          </a:solidFill>
          <a:ln w="12700">
            <a:solidFill>
              <a:srgbClr val="9E2A2B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13648" y="4517136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rollback 은 MODEL_ID 경로만 이전 버전으로 돌리고 프로세스 재시작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41248" y="5486400"/>
            <a:ext cx="10058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중요: serve_vlm.py 는 common.env 를 먼저 읽고 models/&lt;instance&gt;.env 를 나중에 읽는다. 그래서 size별 MAX_NUM_SEQS, GPU_MEMORY_UTILIZATION, EXTRA_VLLM_ARGS override 가 자연스럽다.</a:t>
            </a:r>
            <a:endParaRPr lang="en-US" sz="10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28600"/>
            <a:ext cx="146304" cy="6355080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11274552" cy="6309360"/>
          </a:xfrm>
          <a:prstGeom prst="roundRect">
            <a:avLst/>
          </a:prstGeom>
          <a:solidFill>
            <a:srgbClr val="F8F4EC"/>
          </a:solidFill>
          <a:ln w="12700">
            <a:solidFill>
              <a:srgbClr val="E7DD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" y="402336"/>
            <a:ext cx="1335024" cy="310896"/>
          </a:xfrm>
          <a:prstGeom prst="roundRect">
            <a:avLst/>
          </a:prstGeom>
          <a:solidFill>
            <a:srgbClr val="F8E2C2"/>
          </a:solidFill>
          <a:ln w="12700">
            <a:solidFill>
              <a:srgbClr val="F8E2C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572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5C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Serve Flow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13232" y="7498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기동, 확인, 유지 절차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31520" y="115214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 vllm serve 명령보다 wrapper 스크립트를 유지하는 편이 운영상 안정적이다.</a:t>
            </a:r>
            <a:endParaRPr lang="en-US" sz="1060" dirty="0"/>
          </a:p>
        </p:txBody>
      </p:sp>
      <p:sp>
        <p:nvSpPr>
          <p:cNvPr id="8" name="Text 6"/>
          <p:cNvSpPr/>
          <p:nvPr/>
        </p:nvSpPr>
        <p:spPr>
          <a:xfrm>
            <a:off x="749808" y="6364224"/>
            <a:ext cx="10332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Sources: 02, 06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04672" y="1572768"/>
            <a:ext cx="2615184" cy="1243584"/>
          </a:xfrm>
          <a:prstGeom prst="roundRect">
            <a:avLst/>
          </a:prstGeom>
          <a:solidFill>
            <a:srgbClr val="F8E2C2"/>
          </a:solidFill>
          <a:ln w="12700">
            <a:solidFill>
              <a:srgbClr val="F8E2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17373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Preflight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69264" y="201168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85C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nvidia-smi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69264" y="239572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수, vllm CLI 존재, 8001/8002 포트 비어 있는지 확인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39312" y="1572768"/>
            <a:ext cx="2615184" cy="1243584"/>
          </a:xfrm>
          <a:prstGeom prst="roundRect">
            <a:avLst/>
          </a:prstGeom>
          <a:solidFill>
            <a:srgbClr val="D8EFF0"/>
          </a:solidFill>
          <a:ln w="12700">
            <a:solidFill>
              <a:srgbClr val="D8EF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03904" y="17373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Start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03904" y="201168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6F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start_*.py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803904" y="239572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start_ui_venus.py / start_mai_ui.py / start_model.py family size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73952" y="1572768"/>
            <a:ext cx="2615184" cy="1243584"/>
          </a:xfrm>
          <a:prstGeom prst="roundRect">
            <a:avLst/>
          </a:prstGeom>
          <a:solidFill>
            <a:srgbClr val="DDEEE0"/>
          </a:solidFill>
          <a:ln w="12700">
            <a:solidFill>
              <a:srgbClr val="DDEE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38544" y="17373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Check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638544" y="201168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E6F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/v1/models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638544" y="239572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curl 또는 check_vlm.py 로 served-model-name 확인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308592" y="1572768"/>
            <a:ext cx="2066544" cy="1243584"/>
          </a:xfrm>
          <a:prstGeom prst="roundRect">
            <a:avLst/>
          </a:prstGeom>
          <a:solidFill>
            <a:srgbClr val="F5D7CA"/>
          </a:solidFill>
          <a:ln w="12700">
            <a:solidFill>
              <a:srgbClr val="F5D7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73184" y="17373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Keep simple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473184" y="20116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9E2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one shell per model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473184" y="239572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PoC 단계에서는 각 모델을 별도 셸 / 세션에서 유지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2960" y="3127248"/>
            <a:ext cx="3291840" cy="2176272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87552" y="3291840"/>
            <a:ext cx="1371600" cy="237744"/>
          </a:xfrm>
          <a:prstGeom prst="roundRect">
            <a:avLst/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97280" y="3337560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Preflight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87552" y="3621024"/>
            <a:ext cx="2962656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F0F4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nvidia-smi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F0F4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python -c "import torch; print(torch.cuda.device_count())"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F0F4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vllm --help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F0F4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ss -ltn | grep 800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4443984" y="3127248"/>
            <a:ext cx="2926080" cy="2176272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08576" y="3291840"/>
            <a:ext cx="1371600" cy="237744"/>
          </a:xfrm>
          <a:prstGeom prst="roundRect">
            <a:avLst/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18304" y="3337560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608576" y="3621024"/>
            <a:ext cx="2596896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F0F4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python scripts/start_ui_venus.py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F0F4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python scripts/start_mai_ui.py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F0F4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python scripts/start_model.py ui-venus 30b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7662672" y="3127248"/>
            <a:ext cx="3730752" cy="2176272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27264" y="3291840"/>
            <a:ext cx="1371600" cy="237744"/>
          </a:xfrm>
          <a:prstGeom prst="roundRect">
            <a:avLst/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36992" y="3337560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Check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827264" y="3621024"/>
            <a:ext cx="3401568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F0F4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curl http://127.0.0.1:8001/v1/models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F0F4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python scripts/check_vlm.py http://127.0.0.1:8001 ui-venus-1.5-8b</a:t>
            </a:r>
            <a:endParaRPr lang="en-US" sz="1020" dirty="0"/>
          </a:p>
        </p:txBody>
      </p:sp>
      <p:sp>
        <p:nvSpPr>
          <p:cNvPr id="37" name="Text 35"/>
          <p:cNvSpPr/>
          <p:nvPr/>
        </p:nvSpPr>
        <p:spPr>
          <a:xfrm>
            <a:off x="841248" y="5541264"/>
            <a:ext cx="1005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UI-TARS 메모: Qwen2.5-VL runtime 가용성, preprocessor_config.json / tokenizer_config.json / chat_template.json / shard 파일 존재 여부를 먼저 본다. CHAT_TEMPLATE 를 비워 두면 모델 디렉터리의 chat_template.json 을 자동 사용한다.</a:t>
            </a:r>
            <a:endParaRPr lang="en-US" sz="10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28600"/>
            <a:ext cx="146304" cy="6355080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11274552" cy="6309360"/>
          </a:xfrm>
          <a:prstGeom prst="roundRect">
            <a:avLst/>
          </a:prstGeom>
          <a:solidFill>
            <a:srgbClr val="F8F4EC"/>
          </a:solidFill>
          <a:ln w="12700">
            <a:solidFill>
              <a:srgbClr val="E7DD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" y="402336"/>
            <a:ext cx="1335024" cy="310896"/>
          </a:xfrm>
          <a:prstGeom prst="roundRect">
            <a:avLst/>
          </a:prstGeom>
          <a:solidFill>
            <a:srgbClr val="F8E2C2"/>
          </a:solidFill>
          <a:ln w="12700">
            <a:solidFill>
              <a:srgbClr val="F8E2C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572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5C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/ Repo Integration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13232" y="7498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poc/work 와 Flask gateway 연결 방식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31520" y="115214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저장소는 모델 다운로드가 아니라 endpoint 와 alias 를 바꾸는 방식으로 실험 전환한다.</a:t>
            </a:r>
            <a:endParaRPr lang="en-US" sz="1060" dirty="0"/>
          </a:p>
        </p:txBody>
      </p:sp>
      <p:sp>
        <p:nvSpPr>
          <p:cNvPr id="8" name="Text 6"/>
          <p:cNvSpPr/>
          <p:nvPr/>
        </p:nvSpPr>
        <p:spPr>
          <a:xfrm>
            <a:off x="749808" y="6364224"/>
            <a:ext cx="10332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Sources: 03, poc/work/config.py, poc/work/vlm_openai_client.py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04672" y="1517904"/>
            <a:ext cx="2962656" cy="234086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7552" y="1700784"/>
            <a:ext cx="1188720" cy="256032"/>
          </a:xfrm>
          <a:prstGeom prst="roundRect">
            <a:avLst/>
          </a:prstGeom>
          <a:solidFill>
            <a:srgbClr val="D8EFF0"/>
          </a:solidFill>
          <a:ln w="12700">
            <a:solidFill>
              <a:srgbClr val="D8EFF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1755648"/>
            <a:ext cx="932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6F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Environment keys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87552" y="2075688"/>
            <a:ext cx="109728" cy="109728"/>
          </a:xfrm>
          <a:prstGeom prst="roundRect">
            <a:avLst/>
          </a:prstGeom>
          <a:solidFill>
            <a:srgbClr val="1F6F78"/>
          </a:solidFill>
          <a:ln w="12700">
            <a:solidFill>
              <a:srgbClr val="1F6F7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2011680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VLM_API_URL 또는 VLM_API_BASE_URL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87552" y="2478024"/>
            <a:ext cx="109728" cy="109728"/>
          </a:xfrm>
          <a:prstGeom prst="roundRect">
            <a:avLst/>
          </a:prstGeom>
          <a:solidFill>
            <a:srgbClr val="1F6F78"/>
          </a:solidFill>
          <a:ln w="12700">
            <a:solidFill>
              <a:srgbClr val="1F6F7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2414016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VLM_API_KEY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87552" y="2880360"/>
            <a:ext cx="109728" cy="109728"/>
          </a:xfrm>
          <a:prstGeom prst="roundRect">
            <a:avLst/>
          </a:prstGeom>
          <a:solidFill>
            <a:srgbClr val="1F6F78"/>
          </a:solidFill>
          <a:ln w="12700">
            <a:solidFill>
              <a:srgbClr val="1F6F7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0432" y="2816352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VLM_MODEL_NAME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87552" y="3282696"/>
            <a:ext cx="109728" cy="109728"/>
          </a:xfrm>
          <a:prstGeom prst="roundRect">
            <a:avLst/>
          </a:prstGeom>
          <a:solidFill>
            <a:srgbClr val="1F6F78"/>
          </a:solidFill>
          <a:ln w="12700">
            <a:solidFill>
              <a:srgbClr val="1F6F7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70432" y="3218688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SAFE_MODE=true / USE_WEBP=true / MAX_IMAGE_SIZE=1280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041648" y="1517904"/>
            <a:ext cx="3547872" cy="234086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24528" y="1700784"/>
            <a:ext cx="987552" cy="256032"/>
          </a:xfrm>
          <a:prstGeom prst="roundRect">
            <a:avLst/>
          </a:prstGeom>
          <a:solidFill>
            <a:srgbClr val="F8E2C2"/>
          </a:solidFill>
          <a:ln w="12700">
            <a:solidFill>
              <a:srgbClr val="F8E2C2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52544" y="1755648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C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Direct port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42816" y="202996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UI-Venus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242816" y="2249424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http://...:8001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4242816" y="263347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MAI-UI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242816" y="2852928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http://...:8002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4242816" y="3236976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6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클라이언트가 /v1 를 자동 보정하므로 base URL 만 넣으면 된다.</a:t>
            </a:r>
            <a:endParaRPr lang="en-US" sz="1060" dirty="0"/>
          </a:p>
        </p:txBody>
      </p:sp>
      <p:sp>
        <p:nvSpPr>
          <p:cNvPr id="28" name="Shape 26"/>
          <p:cNvSpPr/>
          <p:nvPr/>
        </p:nvSpPr>
        <p:spPr>
          <a:xfrm>
            <a:off x="7882128" y="1517904"/>
            <a:ext cx="3511296" cy="234086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65008" y="1700784"/>
            <a:ext cx="1152144" cy="256032"/>
          </a:xfrm>
          <a:prstGeom prst="roundRect">
            <a:avLst/>
          </a:prstGeom>
          <a:solidFill>
            <a:srgbClr val="DDEEE0"/>
          </a:solidFill>
          <a:ln w="12700">
            <a:solidFill>
              <a:srgbClr val="DDEEE0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93024" y="1755648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6F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Flask gateway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083296" y="2139696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70" dirty="0">
                <a:solidFill>
                  <a:srgbClr val="52606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http://.../api/vlm_serve/ui-venus</a:t>
            </a:r>
            <a:endParaRPr lang="en-US" sz="1070" dirty="0"/>
          </a:p>
        </p:txBody>
      </p:sp>
      <p:sp>
        <p:nvSpPr>
          <p:cNvPr id="32" name="Text 30"/>
          <p:cNvSpPr/>
          <p:nvPr/>
        </p:nvSpPr>
        <p:spPr>
          <a:xfrm>
            <a:off x="8083296" y="2523744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70" dirty="0">
                <a:solidFill>
                  <a:srgbClr val="52606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http://.../api/vlm_serve/mai-ui</a:t>
            </a:r>
            <a:endParaRPr lang="en-US" sz="1070" dirty="0"/>
          </a:p>
        </p:txBody>
      </p:sp>
      <p:sp>
        <p:nvSpPr>
          <p:cNvPr id="33" name="Text 31"/>
          <p:cNvSpPr/>
          <p:nvPr/>
        </p:nvSpPr>
        <p:spPr>
          <a:xfrm>
            <a:off x="8083296" y="294436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6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coworkers 에게는 direct port 대신 proxy base URL 을 주는 것이 문서상 권장 패턴이다.</a:t>
            </a:r>
            <a:endParaRPr lang="en-US" sz="1060" dirty="0"/>
          </a:p>
        </p:txBody>
      </p:sp>
      <p:sp>
        <p:nvSpPr>
          <p:cNvPr id="34" name="Shape 32"/>
          <p:cNvSpPr/>
          <p:nvPr/>
        </p:nvSpPr>
        <p:spPr>
          <a:xfrm>
            <a:off x="822960" y="4224528"/>
            <a:ext cx="3785616" cy="1627632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87552" y="4389120"/>
            <a:ext cx="1371600" cy="237744"/>
          </a:xfrm>
          <a:prstGeom prst="roundRect">
            <a:avLst/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97280" y="4434840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.env.ui-venus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987552" y="4718304"/>
            <a:ext cx="34564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F0F4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VLM_API_URL=http://...:8001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F0F4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VLM_API_KEY=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F0F4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VLM_MODEL_NAME=ui-venus-1.5-8b</a:t>
            </a:r>
            <a:endParaRPr lang="en-US" sz="1020" dirty="0"/>
          </a:p>
          <a:p>
            <a:pPr algn="l" indent="0" marL="0">
              <a:buNone/>
            </a:pP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F0F4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SAFE_MODE=true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F0F4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USE_WEBP=true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F0F4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MAX_IMAGE_SIZE=1280</a:t>
            </a:r>
            <a:endParaRPr lang="en-US" sz="1020" dirty="0"/>
          </a:p>
        </p:txBody>
      </p:sp>
      <p:sp>
        <p:nvSpPr>
          <p:cNvPr id="38" name="Shape 36"/>
          <p:cNvSpPr/>
          <p:nvPr/>
        </p:nvSpPr>
        <p:spPr>
          <a:xfrm>
            <a:off x="4864608" y="4224528"/>
            <a:ext cx="2962656" cy="1627632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29200" y="4389120"/>
            <a:ext cx="1371600" cy="237744"/>
          </a:xfrm>
          <a:prstGeom prst="roundRect">
            <a:avLst/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38928" y="4434840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Gateway profile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029200" y="4718304"/>
            <a:ext cx="26334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F0F4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VLM_API_URL=http://.../api/vlm_serve/ui-venus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F0F4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VLM_API_KEY=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F0F4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VLM_MODEL_NAME=ui-venus-1.5-8b</a:t>
            </a:r>
            <a:endParaRPr lang="en-US" sz="1020" dirty="0"/>
          </a:p>
        </p:txBody>
      </p:sp>
      <p:sp>
        <p:nvSpPr>
          <p:cNvPr id="42" name="Shape 40"/>
          <p:cNvSpPr/>
          <p:nvPr/>
        </p:nvSpPr>
        <p:spPr>
          <a:xfrm>
            <a:off x="8119872" y="4224528"/>
            <a:ext cx="3273552" cy="162763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02752" y="4407408"/>
            <a:ext cx="1024128" cy="256032"/>
          </a:xfrm>
          <a:prstGeom prst="roundRect">
            <a:avLst/>
          </a:prstGeom>
          <a:solidFill>
            <a:srgbClr val="F5D7CA"/>
          </a:solidFill>
          <a:ln w="12700">
            <a:solidFill>
              <a:srgbClr val="F5D7CA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30768" y="4462272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E2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Switching rule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302752" y="4764024"/>
            <a:ext cx="109728" cy="109728"/>
          </a:xfrm>
          <a:prstGeom prst="roundRect">
            <a:avLst/>
          </a:prstGeom>
          <a:solidFill>
            <a:srgbClr val="9E2A2B"/>
          </a:solidFill>
          <a:ln w="12700">
            <a:solidFill>
              <a:srgbClr val="9E2A2B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85632" y="470001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실험별 .env 를 따로 두고 현재 활성 파일만 poc/work/.env 로 사용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8302752" y="5093208"/>
            <a:ext cx="109728" cy="109728"/>
          </a:xfrm>
          <a:prstGeom prst="roundRect">
            <a:avLst/>
          </a:prstGeom>
          <a:solidFill>
            <a:srgbClr val="9E2A2B"/>
          </a:solidFill>
          <a:ln w="12700">
            <a:solidFill>
              <a:srgbClr val="9E2A2B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485632" y="502920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교체와 프롬프트 변경을 한 번에 하지 않음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8302752" y="5422392"/>
            <a:ext cx="109728" cy="109728"/>
          </a:xfrm>
          <a:prstGeom prst="roundRect">
            <a:avLst/>
          </a:prstGeom>
          <a:solidFill>
            <a:srgbClr val="9E2A2B"/>
          </a:solidFill>
          <a:ln w="12700">
            <a:solidFill>
              <a:srgbClr val="9E2A2B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85632" y="535838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로그에는 endpoint 와 model_name 을 같이 남김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28600"/>
            <a:ext cx="146304" cy="6355080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11274552" cy="6309360"/>
          </a:xfrm>
          <a:prstGeom prst="roundRect">
            <a:avLst/>
          </a:prstGeom>
          <a:solidFill>
            <a:srgbClr val="F8F4EC"/>
          </a:solidFill>
          <a:ln w="12700">
            <a:solidFill>
              <a:srgbClr val="E7DD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" y="402336"/>
            <a:ext cx="1335024" cy="310896"/>
          </a:xfrm>
          <a:prstGeom prst="roundRect">
            <a:avLst/>
          </a:prstGeom>
          <a:solidFill>
            <a:srgbClr val="F8E2C2"/>
          </a:solidFill>
          <a:ln w="12700">
            <a:solidFill>
              <a:srgbClr val="F8E2C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572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5C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/ Model Tradeoffs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13232" y="7498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UI-TARS, UI-Venus, MAI-UI 비교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31520" y="115214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모델은 모두 GUI VLM 이지만 runtime 민감도와 제품 지향점이 다르다.</a:t>
            </a:r>
            <a:endParaRPr lang="en-US" sz="1060" dirty="0"/>
          </a:p>
        </p:txBody>
      </p:sp>
      <p:sp>
        <p:nvSpPr>
          <p:cNvPr id="8" name="Text 6"/>
          <p:cNvSpPr/>
          <p:nvPr/>
        </p:nvSpPr>
        <p:spPr>
          <a:xfrm>
            <a:off x="749808" y="6364224"/>
            <a:ext cx="10332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Sources: 05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22960" y="1572768"/>
            <a:ext cx="2743200" cy="438912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7552" y="1755648"/>
            <a:ext cx="1737360" cy="256032"/>
          </a:xfrm>
          <a:prstGeom prst="roundRect">
            <a:avLst/>
          </a:prstGeom>
          <a:solidFill>
            <a:srgbClr val="F5D7CA"/>
          </a:solidFill>
          <a:ln w="12700">
            <a:solidFill>
              <a:srgbClr val="F5D7C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1810512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E2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UI-TARS-1.5-7B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87552" y="2276856"/>
            <a:ext cx="109728" cy="109728"/>
          </a:xfrm>
          <a:prstGeom prst="roundRect">
            <a:avLst/>
          </a:prstGeom>
          <a:solidFill>
            <a:srgbClr val="9E2A2B"/>
          </a:solidFill>
          <a:ln w="12700">
            <a:solidFill>
              <a:srgbClr val="9E2A2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2212848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Qwen2.5-VL 기반으로 다른 두 모델과 베이스 runtime 계열이 다르다.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87552" y="2990088"/>
            <a:ext cx="109728" cy="109728"/>
          </a:xfrm>
          <a:prstGeom prst="roundRect">
            <a:avLst/>
          </a:prstGeom>
          <a:solidFill>
            <a:srgbClr val="9E2A2B"/>
          </a:solidFill>
          <a:ln w="12700">
            <a:solidFill>
              <a:srgbClr val="9E2A2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292608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computer-use / browser / phone / game / virtual-world reasoning 성향이 강하다.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87552" y="3703320"/>
            <a:ext cx="109728" cy="109728"/>
          </a:xfrm>
          <a:prstGeom prst="roundRect">
            <a:avLst/>
          </a:prstGeom>
          <a:solidFill>
            <a:srgbClr val="9E2A2B"/>
          </a:solidFill>
          <a:ln w="12700">
            <a:solidFill>
              <a:srgbClr val="9E2A2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0432" y="3639312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chat_template.json, preprocessor_config.json, shard 파일 등 runtime 준비 상태가 중요하다.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041648" y="1572768"/>
            <a:ext cx="2743200" cy="438912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06240" y="1755648"/>
            <a:ext cx="1737360" cy="256032"/>
          </a:xfrm>
          <a:prstGeom prst="roundRect">
            <a:avLst/>
          </a:prstGeom>
          <a:solidFill>
            <a:srgbClr val="F8E2C2"/>
          </a:solidFill>
          <a:ln w="12700">
            <a:solidFill>
              <a:srgbClr val="F8E2C2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34256" y="1810512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C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UI-Venus-1.5-8B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06240" y="2276856"/>
            <a:ext cx="109728" cy="109728"/>
          </a:xfrm>
          <a:prstGeom prst="roundRect">
            <a:avLst/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0" y="2212848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Qwen3-VL 계열로 grounding + mobile + web 을 unified GUI agent 관점에서 묶는다.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206240" y="2990088"/>
            <a:ext cx="109728" cy="109728"/>
          </a:xfrm>
          <a:prstGeom prst="roundRect">
            <a:avLst/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0" y="292608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baseline 의 첫 번째 운영 모델이며, 8001 기준 포트로 유지하는 편을 권장한다.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206240" y="3703320"/>
            <a:ext cx="109728" cy="109728"/>
          </a:xfrm>
          <a:prstGeom prst="roundRect">
            <a:avLst/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0" y="3639312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브라우저/모바일 navigation 과 grounding 완성도 비교의 기준축 역할을 한다.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260336" y="1572768"/>
            <a:ext cx="2743200" cy="438912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24928" y="1755648"/>
            <a:ext cx="1737360" cy="256032"/>
          </a:xfrm>
          <a:prstGeom prst="roundRect">
            <a:avLst/>
          </a:prstGeom>
          <a:solidFill>
            <a:srgbClr val="D8EFF0"/>
          </a:solidFill>
          <a:ln w="12700">
            <a:solidFill>
              <a:srgbClr val="D8EFF0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52944" y="1810512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6F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MAI-UI-8B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424928" y="2276856"/>
            <a:ext cx="109728" cy="109728"/>
          </a:xfrm>
          <a:prstGeom prst="roundRect">
            <a:avLst/>
          </a:prstGeom>
          <a:solidFill>
            <a:srgbClr val="1F6F78"/>
          </a:solidFill>
          <a:ln w="12700">
            <a:solidFill>
              <a:srgbClr val="1F6F78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07808" y="2212848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Qwen3-VL 계열이지만 real-world deployment, agent-user interaction, MCP tool call 을 더 전면에 둔다.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424928" y="2990088"/>
            <a:ext cx="109728" cy="109728"/>
          </a:xfrm>
          <a:prstGeom prst="roundRect">
            <a:avLst/>
          </a:prstGeom>
          <a:solidFill>
            <a:srgbClr val="1F6F78"/>
          </a:solidFill>
          <a:ln w="12700">
            <a:solidFill>
              <a:srgbClr val="1F6F78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07808" y="292608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문서상 GPU 1 / 8002 로 배치해 UI-Venus 와 동일 스크린샷 A/B 비교를 권장한다.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424928" y="3703320"/>
            <a:ext cx="109728" cy="109728"/>
          </a:xfrm>
          <a:prstGeom prst="roundRect">
            <a:avLst/>
          </a:prstGeom>
          <a:solidFill>
            <a:srgbClr val="1F6F78"/>
          </a:solidFill>
          <a:ln w="12700">
            <a:solidFill>
              <a:srgbClr val="1F6F78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07808" y="3639312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device-cloud collaboration 같은 운영 지향 표현이 많아 실서비스 비교축으로 유용하다.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0076688" y="1572768"/>
            <a:ext cx="1298448" cy="438912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222992" y="1755648"/>
            <a:ext cx="749808" cy="256032"/>
          </a:xfrm>
          <a:prstGeom prst="roundRect">
            <a:avLst/>
          </a:prstGeom>
          <a:solidFill>
            <a:srgbClr val="DDEEE0"/>
          </a:solidFill>
          <a:ln w="12700">
            <a:solidFill>
              <a:srgbClr val="DDEEE0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351008" y="1810512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6F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Ops note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0222992" y="2276856"/>
            <a:ext cx="109728" cy="109728"/>
          </a:xfrm>
          <a:prstGeom prst="roundRect">
            <a:avLst/>
          </a:prstGeom>
          <a:solidFill>
            <a:srgbClr val="2E6F40"/>
          </a:solidFill>
          <a:ln w="12700">
            <a:solidFill>
              <a:srgbClr val="2E6F40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405872" y="2212848"/>
            <a:ext cx="7315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UI-TARS 는 runtime mismatch 를 먼저 의심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10222992" y="3154680"/>
            <a:ext cx="109728" cy="109728"/>
          </a:xfrm>
          <a:prstGeom prst="roundRect">
            <a:avLst/>
          </a:prstGeom>
          <a:solidFill>
            <a:srgbClr val="2E6F40"/>
          </a:solidFill>
          <a:ln w="12700">
            <a:solidFill>
              <a:srgbClr val="2E6F40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405872" y="3090672"/>
            <a:ext cx="7315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UI-Venus / MAI-UI 는 same prompt A/B 기준축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10222992" y="4032504"/>
            <a:ext cx="109728" cy="109728"/>
          </a:xfrm>
          <a:prstGeom prst="roundRect">
            <a:avLst/>
          </a:prstGeom>
          <a:solidFill>
            <a:srgbClr val="2E6F40"/>
          </a:solidFill>
          <a:ln w="12700">
            <a:solidFill>
              <a:srgbClr val="2E6F40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405872" y="3968496"/>
            <a:ext cx="7315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포트와 served-model-name 을 같이 기록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28600"/>
            <a:ext cx="146304" cy="6355080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11274552" cy="6309360"/>
          </a:xfrm>
          <a:prstGeom prst="roundRect">
            <a:avLst/>
          </a:prstGeom>
          <a:solidFill>
            <a:srgbClr val="F8F4EC"/>
          </a:solidFill>
          <a:ln w="12700">
            <a:solidFill>
              <a:srgbClr val="E7DD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" y="402336"/>
            <a:ext cx="1335024" cy="310896"/>
          </a:xfrm>
          <a:prstGeom prst="roundRect">
            <a:avLst/>
          </a:prstGeom>
          <a:solidFill>
            <a:srgbClr val="F8E2C2"/>
          </a:solidFill>
          <a:ln w="12700">
            <a:solidFill>
              <a:srgbClr val="F8E2C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572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5C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/ Multi-size Research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13232" y="7498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family-size 연구 규칙과 메모리 튜닝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31520" y="115214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baseline 포트는 유지하고, variant 는 81xx/82xx/83xx 대역으로 분리한다.</a:t>
            </a:r>
            <a:endParaRPr lang="en-US" sz="1060" dirty="0"/>
          </a:p>
        </p:txBody>
      </p:sp>
      <p:sp>
        <p:nvSpPr>
          <p:cNvPr id="8" name="Text 6"/>
          <p:cNvSpPr/>
          <p:nvPr/>
        </p:nvSpPr>
        <p:spPr>
          <a:xfrm>
            <a:off x="749808" y="6364224"/>
            <a:ext cx="10332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Sources: 06, README, 01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22960" y="1572768"/>
            <a:ext cx="2889504" cy="195681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7552" y="1755648"/>
            <a:ext cx="1115568" cy="256032"/>
          </a:xfrm>
          <a:prstGeom prst="roundRect">
            <a:avLst/>
          </a:prstGeom>
          <a:solidFill>
            <a:srgbClr val="F8E2C2"/>
          </a:solidFill>
          <a:ln w="12700">
            <a:solidFill>
              <a:srgbClr val="F8E2C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1810512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C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Naming + scripts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87552" y="2148840"/>
            <a:ext cx="109728" cy="109728"/>
          </a:xfrm>
          <a:prstGeom prst="roundRect">
            <a:avLst/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2084832"/>
            <a:ext cx="2212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instance = family-size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87552" y="2569464"/>
            <a:ext cx="109728" cy="109728"/>
          </a:xfrm>
          <a:prstGeom prst="roundRect">
            <a:avLst/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2505456"/>
            <a:ext cx="2212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prepare_research_envs.py 로 env 초안 생성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87552" y="2990088"/>
            <a:ext cx="109728" cy="109728"/>
          </a:xfrm>
          <a:prstGeom prst="roundRect">
            <a:avLst/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0432" y="2926080"/>
            <a:ext cx="2212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start_model.py &lt;family&gt; &lt;size&gt; 로 generic start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41248" y="3785616"/>
            <a:ext cx="2889504" cy="17373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840" y="3950208"/>
            <a:ext cx="1371600" cy="237744"/>
          </a:xfrm>
          <a:prstGeom prst="roundRect">
            <a:avLst/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15568" y="3995928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05840" y="4279392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F0F4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python scripts/prepare_research_envs.py ui-venus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F0F4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python scripts/start_model.py ui-venus 2b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F0F4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python scripts/check_vlm.py http://127.0.0.1:8102 ui-venus-2b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4005072" y="1572768"/>
            <a:ext cx="3328416" cy="395020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69664" y="1755648"/>
            <a:ext cx="877824" cy="256032"/>
          </a:xfrm>
          <a:prstGeom prst="roundRect">
            <a:avLst/>
          </a:prstGeom>
          <a:solidFill>
            <a:srgbClr val="D8EFF0"/>
          </a:solidFill>
          <a:ln w="12700">
            <a:solidFill>
              <a:srgbClr val="D8EFF0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0" y="181051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6F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Port bands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87952" y="2121408"/>
            <a:ext cx="2962656" cy="859536"/>
          </a:xfrm>
          <a:prstGeom prst="roundRect">
            <a:avLst/>
          </a:prstGeom>
          <a:solidFill>
            <a:srgbClr val="D8EFF0"/>
          </a:solidFill>
          <a:ln w="12700">
            <a:solidFill>
              <a:srgbClr val="D8EF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52544" y="2286000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ui-venus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352544" y="2560320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6F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8102 / 8107 / 8130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352544" y="2944368"/>
            <a:ext cx="2633472" cy="-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2B / 7B / 30B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187952" y="3145536"/>
            <a:ext cx="2962656" cy="859536"/>
          </a:xfrm>
          <a:prstGeom prst="roundRect">
            <a:avLst/>
          </a:prstGeom>
          <a:solidFill>
            <a:srgbClr val="F8E2C2"/>
          </a:solidFill>
          <a:ln w="12700">
            <a:solidFill>
              <a:srgbClr val="F8E2C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52544" y="3310128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mai-ui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352544" y="3584448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85C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8202 / 8207 / 8230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4352544" y="3968496"/>
            <a:ext cx="2633472" cy="-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2B / 7B / 30B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187952" y="4169664"/>
            <a:ext cx="2962656" cy="859536"/>
          </a:xfrm>
          <a:prstGeom prst="roundRect">
            <a:avLst/>
          </a:prstGeom>
          <a:solidFill>
            <a:srgbClr val="DDEEE0"/>
          </a:solidFill>
          <a:ln w="12700">
            <a:solidFill>
              <a:srgbClr val="DDEE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52544" y="4334256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ui-tars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352544" y="4608576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E6F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8302 / 8307 / 8330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4352544" y="4992624"/>
            <a:ext cx="2633472" cy="-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2B / 7B / 30B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626096" y="1572768"/>
            <a:ext cx="3767328" cy="395020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790688" y="1755648"/>
            <a:ext cx="1060704" cy="256032"/>
          </a:xfrm>
          <a:prstGeom prst="roundRect">
            <a:avLst/>
          </a:prstGeom>
          <a:solidFill>
            <a:srgbClr val="F5D7CA"/>
          </a:solidFill>
          <a:ln w="12700">
            <a:solidFill>
              <a:srgbClr val="F5D7CA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18704" y="1810512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E2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Memory sizing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790688" y="2167128"/>
            <a:ext cx="109728" cy="109728"/>
          </a:xfrm>
          <a:prstGeom prst="roundRect">
            <a:avLst/>
          </a:prstGeom>
          <a:solidFill>
            <a:srgbClr val="9E2A2B"/>
          </a:solidFill>
          <a:ln w="12700">
            <a:solidFill>
              <a:srgbClr val="9E2A2B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73568" y="2103120"/>
            <a:ext cx="2962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2~3개 소형 모델 동시 구동 시 GPU_MEMORY_UTILIZATION 을 감으로 올리지 않는다.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7790688" y="2606040"/>
            <a:ext cx="109728" cy="109728"/>
          </a:xfrm>
          <a:prstGeom prst="roundRect">
            <a:avLst/>
          </a:prstGeom>
          <a:solidFill>
            <a:srgbClr val="9E2A2B"/>
          </a:solidFill>
          <a:ln w="12700">
            <a:solidFill>
              <a:srgbClr val="9E2A2B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73568" y="2542032"/>
            <a:ext cx="2962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H200 140GB 기준 reserve = shared 8GiB, process 4GiB 를 기본값으로 둔다.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7790688" y="3044952"/>
            <a:ext cx="109728" cy="109728"/>
          </a:xfrm>
          <a:prstGeom prst="roundRect">
            <a:avLst/>
          </a:prstGeom>
          <a:solidFill>
            <a:srgbClr val="9E2A2B"/>
          </a:solidFill>
          <a:ln w="12700">
            <a:solidFill>
              <a:srgbClr val="9E2A2B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73568" y="2980944"/>
            <a:ext cx="2962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2개 공유 시작값은 약 0.44, 3개 공유 시작값은 약 0.29.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7790688" y="3483864"/>
            <a:ext cx="109728" cy="109728"/>
          </a:xfrm>
          <a:prstGeom prst="roundRect">
            <a:avLst/>
          </a:prstGeom>
          <a:solidFill>
            <a:srgbClr val="9E2A2B"/>
          </a:solidFill>
          <a:ln w="12700">
            <a:solidFill>
              <a:srgbClr val="9E2A2B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973568" y="3419856"/>
            <a:ext cx="2962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 MAX_NUM_SEQS 를 먼저 줄이고, 다음으로 MAX_MODEL_LEN=4096 을 검토한다.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7790688" y="3922776"/>
            <a:ext cx="109728" cy="109728"/>
          </a:xfrm>
          <a:prstGeom prst="roundRect">
            <a:avLst/>
          </a:prstGeom>
          <a:solidFill>
            <a:srgbClr val="9E2A2B"/>
          </a:solidFill>
          <a:ln w="12700">
            <a:solidFill>
              <a:srgbClr val="9E2A2B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973568" y="3858768"/>
            <a:ext cx="2962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AUTO_TUNE_GPU_MEMORY_UTILIZATION=1 또는 GPU_MEMORY_UTILIZATION=auto 를 쓰면 serve_vlm.py 가 로컬 config.json 과 shard 크기를 읽어 자동 계산한다.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28600"/>
            <a:ext cx="146304" cy="6355080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11274552" cy="6309360"/>
          </a:xfrm>
          <a:prstGeom prst="roundRect">
            <a:avLst/>
          </a:prstGeom>
          <a:solidFill>
            <a:srgbClr val="F8F4EC"/>
          </a:solidFill>
          <a:ln w="12700">
            <a:solidFill>
              <a:srgbClr val="E7DD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" y="402336"/>
            <a:ext cx="1335024" cy="310896"/>
          </a:xfrm>
          <a:prstGeom prst="roundRect">
            <a:avLst/>
          </a:prstGeom>
          <a:solidFill>
            <a:srgbClr val="F8E2C2"/>
          </a:solidFill>
          <a:ln w="12700">
            <a:solidFill>
              <a:srgbClr val="F8E2C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572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5C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/ OCR Split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13232" y="7498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PaddleOCR-VL-1.5 와 GOT-OCR-2.0-hf 운영 분기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31520" y="115214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OCR 모델은 같은 docs/deploy_vlms 아래에서 관리하지만, 배포 런타임은 다르게 보는 편이 맞다.</a:t>
            </a:r>
            <a:endParaRPr lang="en-US" sz="1060" dirty="0"/>
          </a:p>
        </p:txBody>
      </p:sp>
      <p:sp>
        <p:nvSpPr>
          <p:cNvPr id="8" name="Text 6"/>
          <p:cNvSpPr/>
          <p:nvPr/>
        </p:nvSpPr>
        <p:spPr>
          <a:xfrm>
            <a:off x="749808" y="6364224"/>
            <a:ext cx="10332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Sources: 07, 08, README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41248" y="1572768"/>
            <a:ext cx="5230368" cy="444398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1755648"/>
            <a:ext cx="1371600" cy="256032"/>
          </a:xfrm>
          <a:prstGeom prst="roundRect">
            <a:avLst/>
          </a:prstGeom>
          <a:solidFill>
            <a:srgbClr val="DDEEE0"/>
          </a:solidFill>
          <a:ln w="12700">
            <a:solidFill>
              <a:srgbClr val="DDEEE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33856" y="1810512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6F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PaddleOCR-VL-1.5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24128" y="2203704"/>
            <a:ext cx="109728" cy="109728"/>
          </a:xfrm>
          <a:prstGeom prst="roundRect">
            <a:avLst/>
          </a:prstGeom>
          <a:solidFill>
            <a:srgbClr val="2E6F40"/>
          </a:solidFill>
          <a:ln w="12700">
            <a:solidFill>
              <a:srgbClr val="2E6F4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07008" y="2139696"/>
            <a:ext cx="4480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Linux 클라우드의 Python 3.11 + vLLM 0.17.0 + transformers 4.57.6 + torch 2.10.0 조합이면 기존 vLLM wrapper 에 편입 가능하다.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024128" y="2697480"/>
            <a:ext cx="109728" cy="109728"/>
          </a:xfrm>
          <a:prstGeom prst="roundRect">
            <a:avLst/>
          </a:prstGeom>
          <a:solidFill>
            <a:srgbClr val="2E6F40"/>
          </a:solidFill>
          <a:ln w="12700">
            <a:solidFill>
              <a:srgbClr val="2E6F4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07008" y="2633472"/>
            <a:ext cx="4480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MODEL_ID, PORT, GPU_ID, SERVED_MODEL_NAME 만 맞추면 serve_vlm.py 와 start_paddleocr_vl.py 를 그대로 재사용한다.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024128" y="3191256"/>
            <a:ext cx="109728" cy="109728"/>
          </a:xfrm>
          <a:prstGeom prst="roundRect">
            <a:avLst/>
          </a:prstGeom>
          <a:solidFill>
            <a:srgbClr val="2E6F40"/>
          </a:solidFill>
          <a:ln w="12700">
            <a:solidFill>
              <a:srgbClr val="2E6F4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3127248"/>
            <a:ext cx="4480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STRICT_OFFLINE=1 이면 MODEL_ID 가 ALLOWED_MODEL_ROOT 아래에 있어야 한다.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024128" y="3685032"/>
            <a:ext cx="109728" cy="109728"/>
          </a:xfrm>
          <a:prstGeom prst="roundRect">
            <a:avLst/>
          </a:prstGeom>
          <a:solidFill>
            <a:srgbClr val="2E6F40"/>
          </a:solidFill>
          <a:ln w="12700">
            <a:solidFill>
              <a:srgbClr val="2E6F4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07008" y="3621024"/>
            <a:ext cx="4480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포트는 8004 canary 이고, VLM_MODEL_NAME=paddleocr-vl-1.5 로 맞춘다.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024128" y="4462272"/>
            <a:ext cx="4645152" cy="1243584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88720" y="4626864"/>
            <a:ext cx="1371600" cy="237744"/>
          </a:xfrm>
          <a:prstGeom prst="roundRect">
            <a:avLst/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98448" y="4672584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188720" y="4956048"/>
            <a:ext cx="4315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F0F4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python scripts/start_paddleocr_vl.py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F0F4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curl http://127.0.0.1:8004/v1/models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F0F4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python scripts/check_vlm.py http://127.0.0.1:8004 paddleocr-vl-1.5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6309360" y="1572768"/>
            <a:ext cx="5084064" cy="444398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73952" y="1755648"/>
            <a:ext cx="1280160" cy="256032"/>
          </a:xfrm>
          <a:prstGeom prst="roundRect">
            <a:avLst/>
          </a:prstGeom>
          <a:solidFill>
            <a:srgbClr val="F5D7CA"/>
          </a:solidFill>
          <a:ln w="12700">
            <a:solidFill>
              <a:srgbClr val="F5D7CA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01968" y="1810512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E2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GOT-OCR-2.0-hf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92240" y="2203704"/>
            <a:ext cx="109728" cy="109728"/>
          </a:xfrm>
          <a:prstGeom prst="roundRect">
            <a:avLst/>
          </a:prstGeom>
          <a:solidFill>
            <a:srgbClr val="9E2A2B"/>
          </a:solidFill>
          <a:ln w="12700">
            <a:solidFill>
              <a:srgbClr val="9E2A2B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0" y="2139696"/>
            <a:ext cx="43708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사용 방식이 AutoProcessor / AutoModelForImageTextToText 중심이라 현재 문서 기준 vLLM 경로와 분리한다.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92240" y="2697480"/>
            <a:ext cx="109728" cy="109728"/>
          </a:xfrm>
          <a:prstGeom prst="roundRect">
            <a:avLst/>
          </a:prstGeom>
          <a:solidFill>
            <a:srgbClr val="9E2A2B"/>
          </a:solidFill>
          <a:ln w="12700">
            <a:solidFill>
              <a:srgbClr val="9E2A2B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0" y="2633472"/>
            <a:ext cx="43708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 시점 문서에서는 transformers 4.57.6 + torch 2.10.0 direct runtime smoke test 를 우선한다.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92240" y="3191256"/>
            <a:ext cx="109728" cy="109728"/>
          </a:xfrm>
          <a:prstGeom prst="roundRect">
            <a:avLst/>
          </a:prstGeom>
          <a:solidFill>
            <a:srgbClr val="9E2A2B"/>
          </a:solidFill>
          <a:ln w="12700">
            <a:solidFill>
              <a:srgbClr val="9E2A2B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0" y="3127248"/>
            <a:ext cx="43708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run_got_ocr.py 와 config/models/got-ocr-2.0-hf.env 를 사용해 local or dedicated Python runtime 에서 먼저 검증한다.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92240" y="3685032"/>
            <a:ext cx="109728" cy="109728"/>
          </a:xfrm>
          <a:prstGeom prst="roundRect">
            <a:avLst/>
          </a:prstGeom>
          <a:solidFill>
            <a:srgbClr val="9E2A2B"/>
          </a:solidFill>
          <a:ln w="12700">
            <a:solidFill>
              <a:srgbClr val="9E2A2B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3621024"/>
            <a:ext cx="43708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공용 endpoint 가 필요해지면 작은 Flask/FastAPI wrapper 를 따로 추가하는 순서가 적절하다.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92240" y="4462272"/>
            <a:ext cx="4535424" cy="1243584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56832" y="4626864"/>
            <a:ext cx="1371600" cy="237744"/>
          </a:xfrm>
          <a:prstGeom prst="roundRect">
            <a:avLst/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0" y="4672584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Smoke test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656832" y="4956048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F0F4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python scripts/run_got_ocr.py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F0F4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optional isolated env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F0F4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uv venv .venvs/got-ocr-2.0-hf --python python3.11</a:t>
            </a:r>
            <a:endParaRPr lang="en-US" sz="10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28600"/>
            <a:ext cx="146304" cy="6355080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11274552" cy="6309360"/>
          </a:xfrm>
          <a:prstGeom prst="roundRect">
            <a:avLst/>
          </a:prstGeom>
          <a:solidFill>
            <a:srgbClr val="F8F4EC"/>
          </a:solidFill>
          <a:ln w="12700">
            <a:solidFill>
              <a:srgbClr val="E7DD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" y="402336"/>
            <a:ext cx="1335024" cy="310896"/>
          </a:xfrm>
          <a:prstGeom prst="roundRect">
            <a:avLst/>
          </a:prstGeom>
          <a:solidFill>
            <a:srgbClr val="F8E2C2"/>
          </a:solidFill>
          <a:ln w="12700">
            <a:solidFill>
              <a:srgbClr val="F8E2C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572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5C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/ Ops Standards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13232" y="7498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표준과 트러블슈팅 기준점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31520" y="115214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슬라이드 발표의 마무리는 '무엇을 고정하고 무엇을 실험하는가'를 분명히 보여주는 편이 좋다.</a:t>
            </a:r>
            <a:endParaRPr lang="en-US" sz="1060" dirty="0"/>
          </a:p>
        </p:txBody>
      </p:sp>
      <p:sp>
        <p:nvSpPr>
          <p:cNvPr id="8" name="Text 6"/>
          <p:cNvSpPr/>
          <p:nvPr/>
        </p:nvSpPr>
        <p:spPr>
          <a:xfrm>
            <a:off x="749808" y="6364224"/>
            <a:ext cx="10332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Sources: 03, 04, 06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04672" y="1572768"/>
            <a:ext cx="3749040" cy="435254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7552" y="1755648"/>
            <a:ext cx="914400" cy="256032"/>
          </a:xfrm>
          <a:prstGeom prst="roundRect">
            <a:avLst/>
          </a:prstGeom>
          <a:solidFill>
            <a:srgbClr val="F8E2C2"/>
          </a:solidFill>
          <a:ln w="12700">
            <a:solidFill>
              <a:srgbClr val="F8E2C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1810512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C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Keep fixed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87552" y="2148840"/>
            <a:ext cx="109728" cy="109728"/>
          </a:xfrm>
          <a:prstGeom prst="roundRect">
            <a:avLst/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2084832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포트는 모델 식별자처럼 다룬다.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87552" y="2606040"/>
            <a:ext cx="109728" cy="109728"/>
          </a:xfrm>
          <a:prstGeom prst="roundRect">
            <a:avLst/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2542032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baseline 은 8001 / 8002 / 8003 에 고정하고, size 연구는 81xx / 82xx / 83xx 로 분리한다.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87552" y="3063240"/>
            <a:ext cx="109728" cy="109728"/>
          </a:xfrm>
          <a:prstGeom prst="roundRect">
            <a:avLst/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0432" y="2999232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revision 교체는 port 변경이 아니라 MODEL_ID 변경으로 처리한다.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87552" y="3520440"/>
            <a:ext cx="109728" cy="109728"/>
          </a:xfrm>
          <a:prstGeom prst="roundRect">
            <a:avLst/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70432" y="3456432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로그에는 endpoint 와 model_name 을 함께 기록한다.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87552" y="3977640"/>
            <a:ext cx="109728" cy="109728"/>
          </a:xfrm>
          <a:prstGeom prst="roundRect">
            <a:avLst/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70432" y="3913632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SAFE_MODE, prompt, input image, post-processing 을 고정한 뒤 모델만 바꿔 비교한다.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46320" y="1572768"/>
            <a:ext cx="3127248" cy="20116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0" y="1755648"/>
            <a:ext cx="1645920" cy="256032"/>
          </a:xfrm>
          <a:prstGeom prst="roundRect">
            <a:avLst/>
          </a:prstGeom>
          <a:solidFill>
            <a:srgbClr val="F5D7CA"/>
          </a:solidFill>
          <a:ln w="12700">
            <a:solidFill>
              <a:srgbClr val="F5D7C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57216" y="1810512"/>
            <a:ext cx="1389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E2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When server does not start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0" y="2130552"/>
            <a:ext cx="109728" cy="109728"/>
          </a:xfrm>
          <a:prstGeom prst="roundRect">
            <a:avLst/>
          </a:prstGeom>
          <a:solidFill>
            <a:srgbClr val="9E2A2B"/>
          </a:solidFill>
          <a:ln w="12700">
            <a:solidFill>
              <a:srgbClr val="9E2A2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0" y="2066544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--trust-remote-code 누락 확인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029200" y="2532888"/>
            <a:ext cx="109728" cy="109728"/>
          </a:xfrm>
          <a:prstGeom prst="roundRect">
            <a:avLst/>
          </a:prstGeom>
          <a:solidFill>
            <a:srgbClr val="9E2A2B"/>
          </a:solidFill>
          <a:ln w="12700">
            <a:solidFill>
              <a:srgbClr val="9E2A2B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0" y="2468880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경로 존재 여부 확인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029200" y="2935224"/>
            <a:ext cx="109728" cy="109728"/>
          </a:xfrm>
          <a:prstGeom prst="roundRect">
            <a:avLst/>
          </a:prstGeom>
          <a:solidFill>
            <a:srgbClr val="9E2A2B"/>
          </a:solidFill>
          <a:ln w="12700">
            <a:solidFill>
              <a:srgbClr val="9E2A2B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0" y="2871216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UI-TARS 는 qwen2_5_vl import 와 template / shard 파일 점검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846320" y="3913632"/>
            <a:ext cx="3127248" cy="20116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0" y="4096512"/>
            <a:ext cx="1389888" cy="256032"/>
          </a:xfrm>
          <a:prstGeom prst="roundRect">
            <a:avLst/>
          </a:prstGeom>
          <a:solidFill>
            <a:srgbClr val="D8EFF0"/>
          </a:solidFill>
          <a:ln w="12700">
            <a:solidFill>
              <a:srgbClr val="D8EFF0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57216" y="4151376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6F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When memory is tight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0" y="4471416"/>
            <a:ext cx="109728" cy="109728"/>
          </a:xfrm>
          <a:prstGeom prst="roundRect">
            <a:avLst/>
          </a:prstGeom>
          <a:solidFill>
            <a:srgbClr val="1F6F78"/>
          </a:solidFill>
          <a:ln w="12700">
            <a:solidFill>
              <a:srgbClr val="1F6F78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12080" y="4407408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1) MAX_MODEL_LEN=4096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029200" y="4873752"/>
            <a:ext cx="109728" cy="109728"/>
          </a:xfrm>
          <a:prstGeom prst="roundRect">
            <a:avLst/>
          </a:prstGeom>
          <a:solidFill>
            <a:srgbClr val="1F6F78"/>
          </a:solidFill>
          <a:ln w="12700">
            <a:solidFill>
              <a:srgbClr val="1F6F78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12080" y="4809744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2) MAX_NUM_SEQS=4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029200" y="5276088"/>
            <a:ext cx="109728" cy="109728"/>
          </a:xfrm>
          <a:prstGeom prst="roundRect">
            <a:avLst/>
          </a:prstGeom>
          <a:solidFill>
            <a:srgbClr val="1F6F78"/>
          </a:solidFill>
          <a:ln w="12700">
            <a:solidFill>
              <a:srgbClr val="1F6F78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12080" y="5212080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3) GPU_MEMORY_UTILIZATION=0.70 or auto-tune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229600" y="1572768"/>
            <a:ext cx="3163824" cy="20116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412480" y="1755648"/>
            <a:ext cx="1755648" cy="256032"/>
          </a:xfrm>
          <a:prstGeom prst="roundRect">
            <a:avLst/>
          </a:prstGeom>
          <a:solidFill>
            <a:srgbClr val="DDEEE0"/>
          </a:solidFill>
          <a:ln w="12700">
            <a:solidFill>
              <a:srgbClr val="DDEEE0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540496" y="1810512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6F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When responses look wrong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412480" y="2130552"/>
            <a:ext cx="109728" cy="109728"/>
          </a:xfrm>
          <a:prstGeom prst="roundRect">
            <a:avLst/>
          </a:prstGeom>
          <a:solidFill>
            <a:srgbClr val="2E6F40"/>
          </a:solidFill>
          <a:ln w="12700">
            <a:solidFill>
              <a:srgbClr val="2E6F40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95360" y="206654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VLM_MODEL_NAME 과 served-model-name 일치 여부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8412480" y="2532888"/>
            <a:ext cx="109728" cy="109728"/>
          </a:xfrm>
          <a:prstGeom prst="roundRect">
            <a:avLst/>
          </a:prstGeom>
          <a:solidFill>
            <a:srgbClr val="2E6F40"/>
          </a:solidFill>
          <a:ln w="12700">
            <a:solidFill>
              <a:srgbClr val="2E6F40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595360" y="246888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chat template 요구 여부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8412480" y="2935224"/>
            <a:ext cx="109728" cy="109728"/>
          </a:xfrm>
          <a:prstGeom prst="roundRect">
            <a:avLst/>
          </a:prstGeom>
          <a:solidFill>
            <a:srgbClr val="2E6F40"/>
          </a:solidFill>
          <a:ln w="12700">
            <a:solidFill>
              <a:srgbClr val="2E6F40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595360" y="287121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canary 포트에서 template 실험 후 운영 포트 승격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8229600" y="3913632"/>
            <a:ext cx="3163824" cy="20116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412480" y="4096512"/>
            <a:ext cx="1481328" cy="256032"/>
          </a:xfrm>
          <a:prstGeom prst="roundRect">
            <a:avLst/>
          </a:prstGeom>
          <a:solidFill>
            <a:srgbClr val="F8E2C2"/>
          </a:solidFill>
          <a:ln w="12700">
            <a:solidFill>
              <a:srgbClr val="F8E2C2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540496" y="4151376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C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Recommended finish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412480" y="4471416"/>
            <a:ext cx="109728" cy="109728"/>
          </a:xfrm>
          <a:prstGeom prst="roundRect">
            <a:avLst/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595360" y="440740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UI-Venus 8001 baseline smoke test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8412480" y="4837176"/>
            <a:ext cx="109728" cy="109728"/>
          </a:xfrm>
          <a:prstGeom prst="roundRect">
            <a:avLst/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595360" y="477316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MAI-UI 8002 동일 이미지 A/B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8412480" y="5202936"/>
            <a:ext cx="109728" cy="109728"/>
          </a:xfrm>
          <a:prstGeom prst="roundRect">
            <a:avLst/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595360" y="513892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더 좋은 쪽을 기준 포트로 유지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8412480" y="5568696"/>
            <a:ext cx="109728" cy="109728"/>
          </a:xfrm>
          <a:prstGeom prst="roundRect">
            <a:avLst/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595360" y="550468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이후 UI-TARS 와 size variants 추가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deploy_vlms 운영 요약</dc:title>
  <dc:subject>deploy_vlms markdown summary</dc:subject>
  <dc:creator>OpenAI Codex</dc:creator>
  <cp:lastModifiedBy>OpenAI Codex</cp:lastModifiedBy>
  <cp:revision>1</cp:revision>
  <dcterms:created xsi:type="dcterms:W3CDTF">2026-03-11T21:24:10Z</dcterms:created>
  <dcterms:modified xsi:type="dcterms:W3CDTF">2026-03-11T21:24:10Z</dcterms:modified>
</cp:coreProperties>
</file>