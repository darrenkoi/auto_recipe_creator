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등록 이미지 1장</c:v>
                </c:pt>
              </c:strCache>
            </c:strRef>
          </c:tx>
          <c:spPr>
            <a:solidFill>
              <a:srgbClr val="AEBECD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후보 포함률 (in_topk)</c:v>
                </c:pt>
                <c:pt idx="1">
                  <c:v>1순위 적중률 (rank1)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0.434</c:v>
                </c:pt>
                <c:pt idx="1">
                  <c:v>0.318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성공 사례 종합(consensus)</c:v>
                </c:pt>
              </c:strCache>
            </c:strRef>
          </c:tx>
          <c:spPr>
            <a:solidFill>
              <a:srgbClr val="0E6FB8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후보 포함률 (in_topk)</c:v>
                </c:pt>
                <c:pt idx="1">
                  <c:v>1순위 적중률 (rank1)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0.876</c:v>
                </c:pt>
                <c:pt idx="1">
                  <c:v>0.764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900" b="1">
                  <a:solidFill>
                    <a:srgbClr val="1023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CE5EE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DCE5EE"/>
            </a:solidFill>
          </a:ln>
        </c:spPr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980">
          <a:solidFill>
            <a:srgbClr val="56677D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 겸 Head Message. 주 400건의 Align Fail에 대해 1건당 대응 지연을 5분에서 1분으로 줄여 주 WAFER 약 100장의 측정 여력을 회수한다. 대상은 R3 CD-SEM 28대. 환산 근거: 400건/주 x 4분 단축 / 15분/장 = 주 약 100장. 예상 종료는 2026년 9월 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주 400건 x 1건당 5분 = 주 33시간의 장비 정지. 어려웠던 이유 3가지 - 비표준 UI, 공정 Variation으로 인한 이미지 괴리(R3는 Split Lot이 많아 상시), 의미 이해와 픽셀 정밀도의 동시 요구.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정량 핵심: 등록 이미지 1장 대비 최근 성공 사례를 종합하면 후보 포함률 0.434-&gt;0.876, 1순위 적중률 0.318-&gt;0.764. 운영에서는 결국 한 곳으로 재조정하므로 1순위 적중률이 실제 성능에 가장 가깝다. 단, 오프라인 벤치 기준이며 오피스 실데이터 확정은 진행 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정량 효과 재확인(28대 / 주 400건 / 5분-&gt;1분 / 주 WAFER 100장)과 정성 효과 4가지. 일정은 8월 후반 첫 실알람 완주 확인, 9월 합동 실전 테스트와 단일 장비 Pilot, 4Q 확대, 2027년 Recipe Tuning 확장.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백업. SEM이 구조적으로 더 어렵고, 남은 개선의 87%는 매칭 알고리즘이 아니라 정렬 키 재등록으로 풀어야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백업. 진행 현황은 구현/오피스 검증/실알람 경험을 구분해 표기했다. 가장 가까운 관문은 첫 실알람 완주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800100"/>
            <a:ext cx="666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20" b="1">
                <a:solidFill>
                  <a:srgbClr val="0E6FB8"/>
                </a:solidFill>
                <a:latin typeface="맑은 고딕"/>
                <a:ea typeface="맑은 고딕"/>
                <a:cs typeface="맑은 고딕"/>
              </a:rPr>
              <a:t>과제 종류 · 현업  |  경과 보고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1100"/>
            <a:ext cx="95250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300" b="1">
                <a:solidFill>
                  <a:srgbClr val="10233A"/>
                </a:solidFill>
                <a:latin typeface="맑은 고딕"/>
                <a:ea typeface="맑은 고딕"/>
                <a:cs typeface="맑은 고딕"/>
              </a:rPr>
              <a:t>Align Tuning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324100"/>
            <a:ext cx="1047750" cy="57150"/>
          </a:xfrm>
          <a:prstGeom prst="roundRect">
            <a:avLst>
              <a:gd name="adj" fmla="val 50000"/>
            </a:avLst>
          </a:prstGeom>
          <a:solidFill>
            <a:srgbClr val="0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2628900"/>
            <a:ext cx="96202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580" b="0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Align Fail 무인 대응 AI Agent  ·  화면을 이해하는 VLM과 좌표를 결정하는 CV의 역할 분리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76600"/>
            <a:ext cx="103632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80" b="1">
                <a:solidFill>
                  <a:srgbClr val="10233A"/>
                </a:solidFill>
                <a:latin typeface="맑은 고딕"/>
                <a:ea typeface="맑은 고딕"/>
                <a:cs typeface="맑은 고딕"/>
              </a:rPr>
              <a:t>수동 </a:t>
            </a:r>
            <a:r>
              <a:rPr sz="1880" b="1">
                <a:solidFill>
                  <a:srgbClr val="10233A"/>
                </a:solidFill>
                <a:latin typeface="맑은 고딕"/>
                <a:ea typeface="맑은 고딕"/>
                <a:cs typeface="맑은 고딕"/>
              </a:rPr>
              <a:t>5분</a:t>
            </a:r>
            <a:r>
              <a:rPr sz="1880" b="1">
                <a:solidFill>
                  <a:srgbClr val="10233A"/>
                </a:solidFill>
                <a:latin typeface="맑은 고딕"/>
                <a:ea typeface="맑은 고딕"/>
                <a:cs typeface="맑은 고딕"/>
              </a:rPr>
              <a:t> 대응을 무인 </a:t>
            </a:r>
            <a:r>
              <a:rPr sz="1880" b="1">
                <a:solidFill>
                  <a:srgbClr val="10233A"/>
                </a:solidFill>
                <a:latin typeface="맑은 고딕"/>
                <a:ea typeface="맑은 고딕"/>
                <a:cs typeface="맑은 고딕"/>
              </a:rPr>
              <a:t>1분</a:t>
            </a:r>
            <a:r>
              <a:rPr sz="1880" b="1">
                <a:solidFill>
                  <a:srgbClr val="10233A"/>
                </a:solidFill>
                <a:latin typeface="맑은 고딕"/>
                <a:ea typeface="맑은 고딕"/>
                <a:cs typeface="맑은 고딕"/>
              </a:rPr>
              <a:t> 대응으로 — 회수한 장비 가동 시간으로 </a:t>
            </a:r>
            <a:r>
              <a:rPr sz="1880" b="1">
                <a:solidFill>
                  <a:srgbClr val="10233A"/>
                </a:solidFill>
                <a:latin typeface="맑은 고딕"/>
                <a:ea typeface="맑은 고딕"/>
                <a:cs typeface="맑은 고딕"/>
              </a:rPr>
              <a:t>주 WAFER 100장</a:t>
            </a:r>
            <a:r>
              <a:rPr sz="1880" b="1">
                <a:solidFill>
                  <a:srgbClr val="10233A"/>
                </a:solidFill>
                <a:latin typeface="맑은 고딕"/>
                <a:ea typeface="맑은 고딕"/>
                <a:cs typeface="맑은 고딕"/>
              </a:rPr>
              <a:t>을 더 측정합니다.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114800"/>
            <a:ext cx="3238500" cy="1276350"/>
          </a:xfrm>
          <a:prstGeom prst="roundRect">
            <a:avLst>
              <a:gd name="adj" fmla="val 10447"/>
            </a:avLst>
          </a:prstGeom>
          <a:solidFill>
            <a:srgbClr val="EAF3FB"/>
          </a:solidFill>
          <a:ln w="9525">
            <a:solidFill>
              <a:srgbClr val="B9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123950" y="4286250"/>
            <a:ext cx="28194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3000" b="1">
                <a:solidFill>
                  <a:srgbClr val="0E6FB8"/>
                </a:solidFill>
                <a:latin typeface="맑은 고딕"/>
                <a:ea typeface="맑은 고딕"/>
                <a:cs typeface="맑은 고딕"/>
              </a:rPr>
              <a:t>4분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50" y="4895850"/>
            <a:ext cx="28194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10" b="0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1건당 대응 지연 단축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10" b="0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감지~보정 5분 → 1분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6750" y="4114800"/>
            <a:ext cx="3238500" cy="1276350"/>
          </a:xfrm>
          <a:prstGeom prst="roundRect">
            <a:avLst>
              <a:gd name="adj" fmla="val 10447"/>
            </a:avLst>
          </a:prstGeom>
          <a:solidFill>
            <a:srgbClr val="EAF3FB"/>
          </a:solidFill>
          <a:ln w="9525">
            <a:solidFill>
              <a:srgbClr val="B9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686300" y="4286250"/>
            <a:ext cx="28194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3000" b="1">
                <a:solidFill>
                  <a:srgbClr val="0E6FB8"/>
                </a:solidFill>
                <a:latin typeface="맑은 고딕"/>
                <a:ea typeface="맑은 고딕"/>
                <a:cs typeface="맑은 고딕"/>
              </a:rPr>
              <a:t>주 100장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6300" y="4895850"/>
            <a:ext cx="28194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10" b="0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추가 측정 가능한 WAFER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10" b="0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400건 × 4분 ÷ 15분/장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9100" y="4114800"/>
            <a:ext cx="3238500" cy="1276350"/>
          </a:xfrm>
          <a:prstGeom prst="roundRect">
            <a:avLst>
              <a:gd name="adj" fmla="val 10447"/>
            </a:avLst>
          </a:prstGeom>
          <a:solidFill>
            <a:srgbClr val="EAF3FB"/>
          </a:solidFill>
          <a:ln w="9525">
            <a:solidFill>
              <a:srgbClr val="B9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48650" y="4286250"/>
            <a:ext cx="28194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3000" b="1">
                <a:solidFill>
                  <a:srgbClr val="0E6FB8"/>
                </a:solidFill>
                <a:latin typeface="맑은 고딕"/>
                <a:ea typeface="맑은 고딕"/>
                <a:cs typeface="맑은 고딕"/>
              </a:rPr>
              <a:t>28대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8650" y="4895850"/>
            <a:ext cx="28194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10" b="0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대상 계측 장비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10" b="0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R3 CD-SEM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657850"/>
            <a:ext cx="10363200" cy="742950"/>
          </a:xfrm>
          <a:prstGeom prst="roundRect">
            <a:avLst>
              <a:gd name="adj" fmla="val 15384"/>
            </a:avLst>
          </a:prstGeom>
          <a:solidFill>
            <a:srgbClr val="0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143000" y="5810250"/>
            <a:ext cx="3810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72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예상 종료 · </a:t>
            </a:r>
            <a:r>
              <a:rPr sz="172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2026년 9월 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3000" y="5829300"/>
            <a:ext cx="6096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10" b="0">
                <a:solidFill>
                  <a:srgbClr val="D6E9F7"/>
                </a:solidFill>
                <a:latin typeface="맑은 고딕"/>
                <a:ea typeface="맑은 고딕"/>
                <a:cs typeface="맑은 고딕"/>
              </a:rPr>
              <a:t>현업 엔지니어 합동 실전 테스트와 단일 장비 Pilot 완료 시점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10" b="0">
                <a:solidFill>
                  <a:srgbClr val="D6E9F7"/>
                </a:solidFill>
                <a:latin typeface="맑은 고딕"/>
                <a:ea typeface="맑은 고딕"/>
                <a:cs typeface="맑은 고딕"/>
              </a:rPr>
              <a:t>이후 4Q 대상 장비 확대 · 2027년 Recipe Tuning 확장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76250"/>
            <a:ext cx="8572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700" b="1">
                <a:solidFill>
                  <a:srgbClr val="10233A"/>
                </a:solidFill>
                <a:latin typeface="맑은 고딕"/>
                <a:ea typeface="맑은 고딕"/>
                <a:cs typeface="맑은 고딕"/>
              </a:rPr>
              <a:t>선정 배경과 목적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47750"/>
            <a:ext cx="103632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Align Fail이 나면 장비가 멈추고, Line 구성원이 직접 접속해 정렬을 다시 맞춰야 재개됩니다.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28750"/>
            <a:ext cx="4953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1">
                <a:solidFill>
                  <a:srgbClr val="0E6FB8"/>
                </a:solidFill>
                <a:latin typeface="맑은 고딕"/>
                <a:ea typeface="맑은 고딕"/>
                <a:cs typeface="맑은 고딕"/>
              </a:rPr>
              <a:t>AS-IS · 현재의 문제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71650"/>
            <a:ext cx="4953000" cy="704850"/>
          </a:xfrm>
          <a:prstGeom prst="roundRect">
            <a:avLst>
              <a:gd name="adj" fmla="val 13513"/>
            </a:avLst>
          </a:prstGeom>
          <a:solidFill>
            <a:srgbClr val="F6F9FC"/>
          </a:solidFill>
          <a:ln w="9525">
            <a:solidFill>
              <a:srgbClr val="DC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04900" y="1924050"/>
            <a:ext cx="1714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100" b="1">
                <a:solidFill>
                  <a:srgbClr val="10233A"/>
                </a:solidFill>
                <a:latin typeface="맑은 고딕"/>
                <a:ea typeface="맑은 고딕"/>
                <a:cs typeface="맑은 고딕"/>
              </a:rPr>
              <a:t>주 400건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57500" y="1943100"/>
            <a:ext cx="2857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80" b="0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R3 CD-SEM 28대에서 발생하는 Align Fail 알람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90800"/>
            <a:ext cx="4953000" cy="704850"/>
          </a:xfrm>
          <a:prstGeom prst="roundRect">
            <a:avLst>
              <a:gd name="adj" fmla="val 13513"/>
            </a:avLst>
          </a:prstGeom>
          <a:solidFill>
            <a:srgbClr val="F6F9FC"/>
          </a:solidFill>
          <a:ln w="9525">
            <a:solidFill>
              <a:srgbClr val="DC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104900" y="2743200"/>
            <a:ext cx="1714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100" b="1">
                <a:solidFill>
                  <a:srgbClr val="10233A"/>
                </a:solidFill>
                <a:latin typeface="맑은 고딕"/>
                <a:ea typeface="맑은 고딕"/>
                <a:cs typeface="맑은 고딕"/>
              </a:rPr>
              <a:t>1건당 5분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7500" y="2762250"/>
            <a:ext cx="2857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80" b="0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Line 구성원의 감지 → RCS 접속 → 수동 재정렬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409950"/>
            <a:ext cx="4953000" cy="704850"/>
          </a:xfrm>
          <a:prstGeom prst="roundRect">
            <a:avLst>
              <a:gd name="adj" fmla="val 13513"/>
            </a:avLst>
          </a:prstGeom>
          <a:solidFill>
            <a:srgbClr val="F6F9FC"/>
          </a:solidFill>
          <a:ln w="9525">
            <a:solidFill>
              <a:srgbClr val="DC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104900" y="3562350"/>
            <a:ext cx="1714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100" b="1">
                <a:solidFill>
                  <a:srgbClr val="10233A"/>
                </a:solidFill>
                <a:latin typeface="맑은 고딕"/>
                <a:ea typeface="맑은 고딕"/>
                <a:cs typeface="맑은 고딕"/>
              </a:rPr>
              <a:t>주 33시간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7500" y="3581400"/>
            <a:ext cx="2857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80" b="0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누적 대응 지연 — 그만큼 장비가 멈춰 있습니다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24350"/>
            <a:ext cx="4953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1">
                <a:solidFill>
                  <a:srgbClr val="0E6FB8"/>
                </a:solidFill>
                <a:latin typeface="맑은 고딕"/>
                <a:ea typeface="맑은 고딕"/>
                <a:cs typeface="맑은 고딕"/>
              </a:rPr>
              <a:t>왜 자동화가 어려웠는가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76775"/>
            <a:ext cx="1333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80" b="1">
                <a:solidFill>
                  <a:srgbClr val="0E6FB8"/>
                </a:solidFill>
                <a:latin typeface="맑은 고딕"/>
                <a:ea typeface="맑은 고딕"/>
                <a:cs typeface="맑은 고딕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900" y="4629150"/>
            <a:ext cx="47625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40" b="1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표준 컴포넌트가 아닌 계측 화면</a:t>
            </a:r>
            <a:r>
              <a:rPr sz="940" b="0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 — 일반 UI 자동화 도구가 버튼·입력창을 인식하지 못해, 화면을 이미지로 보고 좌표를 찾아야 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67325"/>
            <a:ext cx="1333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80" b="1">
                <a:solidFill>
                  <a:srgbClr val="0E6FB8"/>
                </a:solidFill>
                <a:latin typeface="맑은 고딕"/>
                <a:ea typeface="맑은 고딕"/>
                <a:cs typeface="맑은 고딕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" y="5219700"/>
            <a:ext cx="47625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40" b="1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되풀이될 수밖에 없는 현상</a:t>
            </a:r>
            <a:r>
              <a:rPr sz="940" b="0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 — 등록 Align Key와 실제 Wafer 이미지가 공정 Variation으로 벌어집니다. Split Lot이 많은 R3에서는 상시 발생합니다.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857875"/>
            <a:ext cx="1333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80" b="1">
                <a:solidFill>
                  <a:srgbClr val="0E6FB8"/>
                </a:solidFill>
                <a:latin typeface="맑은 고딕"/>
                <a:ea typeface="맑은 고딕"/>
                <a:cs typeface="맑은 고딕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4900" y="5810250"/>
            <a:ext cx="47625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40" b="1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의미 이해와 픽셀 정밀도를 동시에</a:t>
            </a:r>
            <a:r>
              <a:rPr sz="940" b="0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 — 매번 조금씩 달라지는 Align Key를 찾아 정확한 좌표로 재정렬해야 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8400" y="1428750"/>
            <a:ext cx="50292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1">
                <a:solidFill>
                  <a:srgbClr val="0E6FB8"/>
                </a:solidFill>
                <a:latin typeface="맑은 고딕"/>
                <a:ea typeface="맑은 고딕"/>
                <a:cs typeface="맑은 고딕"/>
              </a:rPr>
              <a:t>TO-BE · 과제 목표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248400" y="1752600"/>
          <a:ext cx="5029200" cy="321945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79487"/>
                <a:gridCol w="1638176"/>
                <a:gridCol w="2211537"/>
              </a:tblGrid>
              <a:tr h="536575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40" b="1">
                          <a:solidFill>
                            <a:srgbClr val="0E6FB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114300" marR="114300" marT="66675" marB="66675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40" b="1">
                          <a:solidFill>
                            <a:srgbClr val="0E6FB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As-Is (수동)</a:t>
                      </a:r>
                    </a:p>
                  </a:txBody>
                  <a:tcPr marL="114300" marR="114300" marT="66675" marB="66675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40" b="1">
                          <a:solidFill>
                            <a:srgbClr val="0E6FB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To-Be (무인 Agent)</a:t>
                      </a:r>
                    </a:p>
                  </a:txBody>
                  <a:tcPr marL="114300" marR="114300" marT="66675" marB="66675" anchor="ctr">
                    <a:solidFill>
                      <a:srgbClr val="EAF3FB"/>
                    </a:solidFill>
                  </a:tcPr>
                </a:tc>
              </a:tr>
              <a:tr h="536575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40" b="0">
                          <a:solidFill>
                            <a:srgbClr val="1023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감지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40" b="0">
                          <a:solidFill>
                            <a:srgbClr val="1023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사람이 수시로 확인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40" b="0">
                          <a:solidFill>
                            <a:srgbClr val="1023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10초 주기 자동 확인 · 9006만 선별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536575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40" b="0">
                          <a:solidFill>
                            <a:srgbClr val="1023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접속·보정</a:t>
                      </a:r>
                    </a:p>
                  </a:txBody>
                  <a:tcPr marL="114300" marR="114300" marT="66675" marB="66675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40" b="0">
                          <a:solidFill>
                            <a:srgbClr val="1023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엔지니어가 RCS 접속 후 수동 재정렬</a:t>
                      </a:r>
                    </a:p>
                  </a:txBody>
                  <a:tcPr marL="114300" marR="114300" marT="66675" marB="66675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40" b="0">
                          <a:solidFill>
                            <a:srgbClr val="1023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RCS 자동 접속 → 성공 사례 기반 자동 보정</a:t>
                      </a:r>
                    </a:p>
                  </a:txBody>
                  <a:tcPr marL="114300" marR="114300" marT="66675" marB="66675" anchor="ctr">
                    <a:solidFill>
                      <a:srgbClr val="FAFCFE"/>
                    </a:solidFill>
                  </a:tcPr>
                </a:tc>
              </a:tr>
              <a:tr h="536575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40" b="0">
                          <a:solidFill>
                            <a:srgbClr val="1023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실패·오측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40" b="0">
                          <a:solidFill>
                            <a:srgbClr val="1023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사람이 발견할 때까지 지연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40" b="0">
                          <a:solidFill>
                            <a:srgbClr val="1023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담당자 Cube 알림 · 오측 시 측정 중단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536575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40" b="0">
                          <a:solidFill>
                            <a:srgbClr val="1023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기록</a:t>
                      </a:r>
                    </a:p>
                  </a:txBody>
                  <a:tcPr marL="114300" marR="114300" marT="66675" marB="66675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40" b="0">
                          <a:solidFill>
                            <a:srgbClr val="1023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별도 기록 없음</a:t>
                      </a:r>
                    </a:p>
                  </a:txBody>
                  <a:tcPr marL="114300" marR="114300" marT="66675" marB="66675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40" b="0">
                          <a:solidFill>
                            <a:srgbClr val="1023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상시 녹화 + 성공/실패 이미지 자동 저장</a:t>
                      </a:r>
                    </a:p>
                  </a:txBody>
                  <a:tcPr marL="114300" marR="114300" marT="66675" marB="66675" anchor="ctr">
                    <a:solidFill>
                      <a:srgbClr val="FAFCFE"/>
                    </a:solidFill>
                  </a:tcPr>
                </a:tc>
              </a:tr>
              <a:tr h="536575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40" b="1">
                          <a:solidFill>
                            <a:srgbClr val="1023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1건당 시간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40" b="1">
                          <a:solidFill>
                            <a:srgbClr val="1023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평균 5분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40" b="1">
                          <a:solidFill>
                            <a:srgbClr val="0E6FB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 1분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6248400" y="5143500"/>
            <a:ext cx="5029200" cy="1257300"/>
          </a:xfrm>
          <a:prstGeom prst="roundRect">
            <a:avLst>
              <a:gd name="adj" fmla="val 9090"/>
            </a:avLst>
          </a:prstGeom>
          <a:solidFill>
            <a:srgbClr val="EAF3FB"/>
          </a:solidFill>
          <a:ln w="9525">
            <a:solidFill>
              <a:srgbClr val="B9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77000" y="5314950"/>
            <a:ext cx="4572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10" b="1">
                <a:solidFill>
                  <a:srgbClr val="0E6FB8"/>
                </a:solidFill>
                <a:latin typeface="맑은 고딕"/>
                <a:ea typeface="맑은 고딕"/>
                <a:cs typeface="맑은 고딕"/>
              </a:rPr>
              <a:t>과제 목적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7000" y="5600700"/>
            <a:ext cx="4572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20" b="0">
                <a:solidFill>
                  <a:srgbClr val="10233A"/>
                </a:solidFill>
                <a:latin typeface="맑은 고딕"/>
                <a:ea typeface="맑은 고딕"/>
                <a:cs typeface="맑은 고딕"/>
              </a:rPr>
              <a:t>사람이 하던 </a:t>
            </a:r>
            <a:r>
              <a:rPr sz="1120" b="1">
                <a:solidFill>
                  <a:srgbClr val="10233A"/>
                </a:solidFill>
                <a:latin typeface="맑은 고딕"/>
                <a:ea typeface="맑은 고딕"/>
                <a:cs typeface="맑은 고딕"/>
              </a:rPr>
              <a:t>감지 → 장비 접속 → 정렬 재수정</a:t>
            </a:r>
            <a:r>
              <a:rPr sz="1120" b="0">
                <a:solidFill>
                  <a:srgbClr val="10233A"/>
                </a:solidFill>
                <a:latin typeface="맑은 고딕"/>
                <a:ea typeface="맑은 고딕"/>
                <a:cs typeface="맑은 고딕"/>
              </a:rPr>
              <a:t>을 AI가 대신 맡아 장비 idle 시간을 줄이고 계측 처리량을 회복합니다.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9100"/>
            <a:ext cx="8572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700" b="1">
                <a:solidFill>
                  <a:srgbClr val="10233A"/>
                </a:solidFill>
                <a:latin typeface="맑은 고딕"/>
                <a:ea typeface="맑은 고딕"/>
                <a:cs typeface="맑은 고딕"/>
              </a:rPr>
              <a:t>추진 전략과 성과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71550"/>
            <a:ext cx="103632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네 단계로 나눠 쌓았습니다. 앞 단계의 검증을 통과한 방식만 다음 단계에 반영했습니다.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1333500"/>
            <a:ext cx="10363200" cy="0"/>
          </a:xfrm>
          <a:prstGeom prst="line">
            <a:avLst/>
          </a:prstGeom>
          <a:ln w="19050">
            <a:solidFill>
              <a:srgbClr val="0E6F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14400" y="1447800"/>
            <a:ext cx="2419350" cy="1447800"/>
          </a:xfrm>
          <a:prstGeom prst="roundRect">
            <a:avLst>
              <a:gd name="adj" fmla="val 7894"/>
            </a:avLst>
          </a:prstGeom>
          <a:solidFill>
            <a:srgbClr val="F6F9FC"/>
          </a:solidFill>
          <a:ln w="9525">
            <a:solidFill>
              <a:srgbClr val="DC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85850" y="1543050"/>
            <a:ext cx="571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800" b="1">
                <a:solidFill>
                  <a:srgbClr val="0E6FB8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850" y="1885950"/>
            <a:ext cx="20764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1">
                <a:solidFill>
                  <a:srgbClr val="10233A"/>
                </a:solidFill>
                <a:latin typeface="맑은 고딕"/>
                <a:ea typeface="맑은 고딕"/>
                <a:cs typeface="맑은 고딕"/>
              </a:rPr>
              <a:t>VLM 인프라 확보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5850" y="2171700"/>
            <a:ext cx="2076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60" b="0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사내 HCP에 오픈소스 소형 모델 배포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60" b="0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 GPU 1~2장 규모 · 통합 API 운영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850" y="2647950"/>
            <a:ext cx="20764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19" b="1">
                <a:solidFill>
                  <a:srgbClr val="0E6FB8"/>
                </a:solidFill>
                <a:latin typeface="맑은 고딕"/>
                <a:ea typeface="맑은 고딕"/>
                <a:cs typeface="맑은 고딕"/>
              </a:rPr>
              <a:t>완료 · 2종 상시 운영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2350" y="1447800"/>
            <a:ext cx="2419350" cy="1447800"/>
          </a:xfrm>
          <a:prstGeom prst="roundRect">
            <a:avLst>
              <a:gd name="adj" fmla="val 7894"/>
            </a:avLst>
          </a:prstGeom>
          <a:solidFill>
            <a:srgbClr val="F6F9FC"/>
          </a:solidFill>
          <a:ln w="9525">
            <a:solidFill>
              <a:srgbClr val="DC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733800" y="1543050"/>
            <a:ext cx="571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800" b="1">
                <a:solidFill>
                  <a:srgbClr val="0E6FB8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3800" y="1885950"/>
            <a:ext cx="20764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1">
                <a:solidFill>
                  <a:srgbClr val="10233A"/>
                </a:solidFill>
                <a:latin typeface="맑은 고딕"/>
                <a:ea typeface="맑은 고딕"/>
                <a:cs typeface="맑은 고딕"/>
              </a:rPr>
              <a:t>GUI 자동화 증명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3800" y="2171700"/>
            <a:ext cx="2076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60" b="0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비표준 계측 화면에서 좌표 인식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60" b="0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 coarse → fine 2단계 + OCR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3800" y="2647950"/>
            <a:ext cx="20764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19" b="1">
                <a:solidFill>
                  <a:srgbClr val="0E6FB8"/>
                </a:solidFill>
                <a:latin typeface="맑은 고딕"/>
                <a:ea typeface="맑은 고딕"/>
                <a:cs typeface="맑은 고딕"/>
              </a:rPr>
              <a:t>완료 · 정확도 90%+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300" y="1447800"/>
            <a:ext cx="2419350" cy="1447800"/>
          </a:xfrm>
          <a:prstGeom prst="roundRect">
            <a:avLst>
              <a:gd name="adj" fmla="val 7894"/>
            </a:avLst>
          </a:prstGeom>
          <a:solidFill>
            <a:srgbClr val="F6F9FC"/>
          </a:solidFill>
          <a:ln w="9525">
            <a:solidFill>
              <a:srgbClr val="DC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81750" y="1543050"/>
            <a:ext cx="571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800" b="1">
                <a:solidFill>
                  <a:srgbClr val="0E6FB8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1750" y="1885950"/>
            <a:ext cx="20764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1">
                <a:solidFill>
                  <a:srgbClr val="10233A"/>
                </a:solidFill>
                <a:latin typeface="맑은 고딕"/>
                <a:ea typeface="맑은 고딕"/>
                <a:cs typeface="맑은 고딕"/>
              </a:rPr>
              <a:t>정렬 정확도 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1750" y="2171700"/>
            <a:ext cx="2076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60" b="0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오프라인 벤치에서 A/B·튜닝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60" b="0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 검증 통과한 방식만 운영 반영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1750" y="2647950"/>
            <a:ext cx="20764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19" b="1">
                <a:solidFill>
                  <a:srgbClr val="0E6FB8"/>
                </a:solidFill>
                <a:latin typeface="맑은 고딕"/>
                <a:ea typeface="맑은 고딕"/>
                <a:cs typeface="맑은 고딕"/>
              </a:rPr>
              <a:t>완료 · 운영 반영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58250" y="1447800"/>
            <a:ext cx="2419350" cy="1447800"/>
          </a:xfrm>
          <a:prstGeom prst="roundRect">
            <a:avLst>
              <a:gd name="adj" fmla="val 7894"/>
            </a:avLst>
          </a:prstGeom>
          <a:solidFill>
            <a:srgbClr val="F6F9FC"/>
          </a:solidFill>
          <a:ln w="9525">
            <a:solidFill>
              <a:srgbClr val="B9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029700" y="1543050"/>
            <a:ext cx="571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800" b="1">
                <a:solidFill>
                  <a:srgbClr val="0E6FB8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29700" y="1885950"/>
            <a:ext cx="20764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1">
                <a:solidFill>
                  <a:srgbClr val="10233A"/>
                </a:solidFill>
                <a:latin typeface="맑은 고딕"/>
                <a:ea typeface="맑은 고딕"/>
                <a:cs typeface="맑은 고딕"/>
              </a:rPr>
              <a:t>실시간 통합 루프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29700" y="2171700"/>
            <a:ext cx="2076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60" b="0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감지 → 접속 → 보정 → 알림 → 녹화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60" b="0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 end-to-end 무인 루프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9700" y="2647950"/>
            <a:ext cx="20764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19" b="1">
                <a:solidFill>
                  <a:srgbClr val="0A5389"/>
                </a:solidFill>
                <a:latin typeface="맑은 고딕"/>
                <a:ea typeface="맑은 고딕"/>
                <a:cs typeface="맑은 고딕"/>
              </a:rPr>
              <a:t>진행 · 실운전 안정화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124200"/>
            <a:ext cx="533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1">
                <a:solidFill>
                  <a:srgbClr val="0E6FB8"/>
                </a:solidFill>
                <a:latin typeface="맑은 고딕"/>
                <a:ea typeface="맑은 고딕"/>
                <a:cs typeface="맑은 고딕"/>
              </a:rPr>
              <a:t>정량적 성과 · 정렬 위치 재조정 정확도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352800"/>
            <a:ext cx="5334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60" b="0">
                <a:solidFill>
                  <a:srgbClr val="8A97A8"/>
                </a:solidFill>
                <a:latin typeface="맑은 고딕"/>
                <a:ea typeface="맑은 고딕"/>
                <a:cs typeface="맑은 고딕"/>
              </a:rPr>
              <a:t>Recipe 200개 오프라인 벤치 · 등록 이미지 1장 → 최근 성공 사례 종합(consensus)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838200" y="3581400"/>
          <a:ext cx="5486400" cy="27051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914400" y="630555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40" b="1">
                <a:solidFill>
                  <a:srgbClr val="10233A"/>
                </a:solidFill>
                <a:latin typeface="맑은 고딕"/>
                <a:ea typeface="맑은 고딕"/>
                <a:cs typeface="맑은 고딕"/>
              </a:rPr>
              <a:t>후보 포함률 </a:t>
            </a:r>
            <a:r>
              <a:rPr sz="940" b="1">
                <a:solidFill>
                  <a:srgbClr val="10233A"/>
                </a:solidFill>
                <a:latin typeface="맑은 고딕"/>
                <a:ea typeface="맑은 고딕"/>
                <a:cs typeface="맑은 고딕"/>
              </a:rPr>
              <a:t>0.434 → 0.876</a:t>
            </a:r>
            <a:r>
              <a:rPr sz="940" b="1">
                <a:solidFill>
                  <a:srgbClr val="10233A"/>
                </a:solidFill>
                <a:latin typeface="맑은 고딕"/>
                <a:ea typeface="맑은 고딕"/>
                <a:cs typeface="맑은 고딕"/>
              </a:rPr>
              <a:t> (약 2배) · 1순위 적중률 </a:t>
            </a:r>
            <a:r>
              <a:rPr sz="940" b="1">
                <a:solidFill>
                  <a:srgbClr val="10233A"/>
                </a:solidFill>
                <a:latin typeface="맑은 고딕"/>
                <a:ea typeface="맑은 고딕"/>
                <a:cs typeface="맑은 고딕"/>
              </a:rPr>
              <a:t>0.318 → 0.764</a:t>
            </a:r>
            <a:r>
              <a:rPr sz="940" b="1">
                <a:solidFill>
                  <a:srgbClr val="10233A"/>
                </a:solidFill>
                <a:latin typeface="맑은 고딕"/>
                <a:ea typeface="맑은 고딕"/>
                <a:cs typeface="맑은 고딕"/>
              </a:rPr>
              <a:t> (2배 이상)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3200" y="3124200"/>
            <a:ext cx="472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1">
                <a:solidFill>
                  <a:srgbClr val="0E6FB8"/>
                </a:solidFill>
                <a:latin typeface="맑은 고딕"/>
                <a:ea typeface="맑은 고딕"/>
                <a:cs typeface="맑은 고딕"/>
              </a:rPr>
              <a:t>정성적 성과 · 구조적으로 확보한 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3200" y="3390900"/>
            <a:ext cx="4724400" cy="895350"/>
          </a:xfrm>
          <a:prstGeom prst="roundRect">
            <a:avLst>
              <a:gd name="adj" fmla="val 10638"/>
            </a:avLst>
          </a:prstGeom>
          <a:solidFill>
            <a:srgbClr val="F6F9FC"/>
          </a:solidFill>
          <a:ln w="9525">
            <a:solidFill>
              <a:srgbClr val="DC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743700" y="3505200"/>
            <a:ext cx="4343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1">
                <a:solidFill>
                  <a:srgbClr val="10233A"/>
                </a:solidFill>
                <a:latin typeface="맑은 고딕"/>
                <a:ea typeface="맑은 고딕"/>
                <a:cs typeface="맑은 고딕"/>
              </a:rPr>
              <a:t>VLM 인프라 자체 확보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43700" y="3752850"/>
            <a:ext cx="43434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60" b="0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GPU 1~2장 규모 소형 모델을 사내 HCP에서 직접 구동. 벤치로 이긴 2종만 상시 운영해 모델 교체를 측정으로 결정합니다.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53200" y="4381500"/>
            <a:ext cx="4724400" cy="895350"/>
          </a:xfrm>
          <a:prstGeom prst="roundRect">
            <a:avLst>
              <a:gd name="adj" fmla="val 10638"/>
            </a:avLst>
          </a:prstGeom>
          <a:solidFill>
            <a:srgbClr val="F6F9FC"/>
          </a:solidFill>
          <a:ln w="9525">
            <a:solidFill>
              <a:srgbClr val="DC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743700" y="4495800"/>
            <a:ext cx="4343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1">
                <a:solidFill>
                  <a:srgbClr val="10233A"/>
                </a:solidFill>
                <a:latin typeface="맑은 고딕"/>
                <a:ea typeface="맑은 고딕"/>
                <a:cs typeface="맑은 고딕"/>
              </a:rPr>
              <a:t>실장비 보정 반자동 개통 (2026-08)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43700" y="4743450"/>
            <a:ext cx="43434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60" b="0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정렬 위치 재조정은 자동, 마지막 확정(OK)은 엔지니어. 개통 과정에서 보정이 한 번도 실행되지 않던 병목을 찾아 제거했습니다.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53200" y="5372100"/>
            <a:ext cx="4724400" cy="895350"/>
          </a:xfrm>
          <a:prstGeom prst="roundRect">
            <a:avLst>
              <a:gd name="adj" fmla="val 10638"/>
            </a:avLst>
          </a:prstGeom>
          <a:solidFill>
            <a:srgbClr val="F6F9FC"/>
          </a:solidFill>
          <a:ln w="9525">
            <a:solidFill>
              <a:srgbClr val="DC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743700" y="5486400"/>
            <a:ext cx="4343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1">
                <a:solidFill>
                  <a:srgbClr val="10233A"/>
                </a:solidFill>
                <a:latin typeface="맑은 고딕"/>
                <a:ea typeface="맑은 고딕"/>
                <a:cs typeface="맑은 고딕"/>
              </a:rPr>
              <a:t>암묵지 자산화 경로 구축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43700" y="5734050"/>
            <a:ext cx="43434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60" b="0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엔지니어 조작 녹화 → 조작 타임라인 → 한국어 절차서. 입력은 후킹하지 않고 화면만 관측해 동의 범위를 코드에 고정했습니다.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53200" y="6324600"/>
            <a:ext cx="47244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0"/>
              </a:spcAft>
            </a:pPr>
            <a:r>
              <a:rPr sz="819" b="1">
                <a:solidFill>
                  <a:srgbClr val="8A97A8"/>
                </a:solidFill>
                <a:latin typeface="맑은 고딕"/>
                <a:ea typeface="맑은 고딕"/>
                <a:cs typeface="맑은 고딕"/>
              </a:rPr>
              <a:t>※ 모드별 정확도 · 재순위 채택 · 잔여 개선 분해는 백업 슬라이드 참조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9100"/>
            <a:ext cx="8572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700" b="1">
                <a:solidFill>
                  <a:srgbClr val="10233A"/>
                </a:solidFill>
                <a:latin typeface="맑은 고딕"/>
                <a:ea typeface="맑은 고딕"/>
                <a:cs typeface="맑은 고딕"/>
              </a:rPr>
              <a:t>기대 효과와 향후 일정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028700"/>
            <a:ext cx="2419350" cy="457200"/>
          </a:xfrm>
          <a:prstGeom prst="roundRect">
            <a:avLst>
              <a:gd name="adj" fmla="val 16666"/>
            </a:avLst>
          </a:prstGeom>
          <a:solidFill>
            <a:srgbClr val="F6F9FC"/>
          </a:solidFill>
          <a:ln w="9525">
            <a:solidFill>
              <a:srgbClr val="DC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47750" y="114300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80" b="1">
                <a:solidFill>
                  <a:srgbClr val="0E6FB8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2550" y="1143000"/>
            <a:ext cx="18669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40" b="1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VLM 인프라 확보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2350" y="1028700"/>
            <a:ext cx="2419350" cy="457200"/>
          </a:xfrm>
          <a:prstGeom prst="roundRect">
            <a:avLst>
              <a:gd name="adj" fmla="val 16666"/>
            </a:avLst>
          </a:prstGeom>
          <a:solidFill>
            <a:srgbClr val="F6F9FC"/>
          </a:solidFill>
          <a:ln w="9525">
            <a:solidFill>
              <a:srgbClr val="DC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95700" y="114300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80" b="1">
                <a:solidFill>
                  <a:srgbClr val="0E6FB8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0" y="1143000"/>
            <a:ext cx="18669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40" b="1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GUI 자동화 증명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0300" y="1028700"/>
            <a:ext cx="2419350" cy="457200"/>
          </a:xfrm>
          <a:prstGeom prst="roundRect">
            <a:avLst>
              <a:gd name="adj" fmla="val 16666"/>
            </a:avLst>
          </a:prstGeom>
          <a:solidFill>
            <a:srgbClr val="F6F9FC"/>
          </a:solidFill>
          <a:ln w="9525">
            <a:solidFill>
              <a:srgbClr val="DC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343650" y="114300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80" b="1">
                <a:solidFill>
                  <a:srgbClr val="0E6FB8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8450" y="1143000"/>
            <a:ext cx="18669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40" b="1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정렬 정확도 확보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58250" y="1028700"/>
            <a:ext cx="2419350" cy="457200"/>
          </a:xfrm>
          <a:prstGeom prst="roundRect">
            <a:avLst>
              <a:gd name="adj" fmla="val 16666"/>
            </a:avLst>
          </a:prstGeom>
          <a:solidFill>
            <a:srgbClr val="F6F9FC"/>
          </a:solidFill>
          <a:ln w="9525">
            <a:solidFill>
              <a:srgbClr val="DC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991600" y="1143000"/>
            <a:ext cx="285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80" b="1">
                <a:solidFill>
                  <a:srgbClr val="0E6FB8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96400" y="1143000"/>
            <a:ext cx="18669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40" b="1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실시간 통합 루프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38300"/>
            <a:ext cx="5334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1">
                <a:solidFill>
                  <a:srgbClr val="0E6FB8"/>
                </a:solidFill>
                <a:latin typeface="맑은 고딕"/>
                <a:ea typeface="맑은 고딕"/>
                <a:cs typeface="맑은 고딕"/>
              </a:rPr>
              <a:t>기대 효과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914400" y="1943100"/>
          <a:ext cx="5334000" cy="1981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349256"/>
                <a:gridCol w="1984744"/>
              </a:tblGrid>
              <a:tr h="396240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80" b="1">
                          <a:solidFill>
                            <a:srgbClr val="0E6FB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114300" marR="114300" marT="76200" marB="76200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80" b="1">
                          <a:solidFill>
                            <a:srgbClr val="0E6FB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값</a:t>
                      </a:r>
                    </a:p>
                  </a:txBody>
                  <a:tcPr marL="114300" marR="114300" marT="76200" marB="76200" anchor="ctr">
                    <a:solidFill>
                      <a:srgbClr val="EAF3FB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80" b="0">
                          <a:solidFill>
                            <a:srgbClr val="1023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 장비 수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80" b="0">
                          <a:solidFill>
                            <a:srgbClr val="1023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28대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80" b="0">
                          <a:solidFill>
                            <a:srgbClr val="1023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 평균 Align Fail 발생</a:t>
                      </a:r>
                    </a:p>
                  </a:txBody>
                  <a:tcPr marL="114300" marR="114300" marT="7620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80" b="0">
                          <a:solidFill>
                            <a:srgbClr val="1023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400건</a:t>
                      </a:r>
                    </a:p>
                  </a:txBody>
                  <a:tcPr marL="114300" marR="114300" marT="76200" marB="76200" anchor="ctr">
                    <a:solidFill>
                      <a:srgbClr val="FAFCFE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80" b="0">
                          <a:solidFill>
                            <a:srgbClr val="1023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1건당 대응 지연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80" b="1">
                          <a:solidFill>
                            <a:srgbClr val="0E6FB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5분 → 1분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80" b="0">
                          <a:solidFill>
                            <a:srgbClr val="1023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 절감 환산</a:t>
                      </a:r>
                    </a:p>
                  </a:txBody>
                  <a:tcPr marL="114300" marR="114300" marT="76200" marB="7620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80" b="1">
                          <a:solidFill>
                            <a:srgbClr val="0E6FB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WAFER 약 100장 추가 측정</a:t>
                      </a:r>
                    </a:p>
                  </a:txBody>
                  <a:tcPr marL="114300" marR="114300" marT="76200" marB="76200" anchor="ctr">
                    <a:solidFill>
                      <a:srgbClr val="FAFCFE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914400" y="4076700"/>
            <a:ext cx="2590800" cy="609600"/>
          </a:xfrm>
          <a:prstGeom prst="roundRect">
            <a:avLst>
              <a:gd name="adj" fmla="val 12500"/>
            </a:avLst>
          </a:prstGeom>
          <a:solidFill>
            <a:srgbClr val="F6F9FC"/>
          </a:solidFill>
          <a:ln w="9525">
            <a:solidFill>
              <a:srgbClr val="DC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47750" y="4191000"/>
            <a:ext cx="23241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60" b="0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야간·주말 무인 감시·보정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4076700"/>
            <a:ext cx="2590800" cy="609600"/>
          </a:xfrm>
          <a:prstGeom prst="roundRect">
            <a:avLst>
              <a:gd name="adj" fmla="val 12500"/>
            </a:avLst>
          </a:prstGeom>
          <a:solidFill>
            <a:srgbClr val="F6F9FC"/>
          </a:solidFill>
          <a:ln w="9525">
            <a:solidFill>
              <a:srgbClr val="DC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790950" y="4191000"/>
            <a:ext cx="23241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60" b="0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실패 시점 화면 증거 자동 보존 → 원인 분석 시간 단축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781550"/>
            <a:ext cx="2590800" cy="609600"/>
          </a:xfrm>
          <a:prstGeom prst="roundRect">
            <a:avLst>
              <a:gd name="adj" fmla="val 12500"/>
            </a:avLst>
          </a:prstGeom>
          <a:solidFill>
            <a:srgbClr val="F6F9FC"/>
          </a:solidFill>
          <a:ln w="9525">
            <a:solidFill>
              <a:srgbClr val="DC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47750" y="4895850"/>
            <a:ext cx="23241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60" b="0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수집 데이터의 VLM 학습 자산화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781550"/>
            <a:ext cx="2590800" cy="609600"/>
          </a:xfrm>
          <a:prstGeom prst="roundRect">
            <a:avLst>
              <a:gd name="adj" fmla="val 12500"/>
            </a:avLst>
          </a:prstGeom>
          <a:solidFill>
            <a:srgbClr val="F6F9FC"/>
          </a:solidFill>
          <a:ln w="9525">
            <a:solidFill>
              <a:srgbClr val="DC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790950" y="4895850"/>
            <a:ext cx="23241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60" b="0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같은 Recipe면 장비가 달라도 성공 이력 공유 → 확대 비용 최소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3200" y="1638300"/>
            <a:ext cx="47244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1">
                <a:solidFill>
                  <a:srgbClr val="0E6FB8"/>
                </a:solidFill>
                <a:latin typeface="맑은 고딕"/>
                <a:ea typeface="맑은 고딕"/>
                <a:cs typeface="맑은 고딕"/>
              </a:rPr>
              <a:t>향후 일정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91300" y="21336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7" name="Connector 26"/>
          <p:cNvCxnSpPr/>
          <p:nvPr/>
        </p:nvCxnSpPr>
        <p:spPr>
          <a:xfrm>
            <a:off x="6648450" y="2286000"/>
            <a:ext cx="0" cy="514350"/>
          </a:xfrm>
          <a:prstGeom prst="line">
            <a:avLst/>
          </a:prstGeom>
          <a:ln w="15875">
            <a:solidFill>
              <a:srgbClr val="DCE5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858000" y="2057400"/>
            <a:ext cx="10477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20" b="1">
                <a:solidFill>
                  <a:srgbClr val="0E6FB8"/>
                </a:solidFill>
                <a:latin typeface="맑은 고딕"/>
                <a:ea typeface="맑은 고딕"/>
                <a:cs typeface="맑은 고딕"/>
              </a:rPr>
              <a:t>8월 후반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81950" y="2057400"/>
            <a:ext cx="32956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60" b="0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첫 실알람 완주 확인 (엔지니어 입회) · 엔지니어 작업 완료 감지 판독 확인 · 녹화 1건의 절차 추출 판정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91300" y="28384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1" name="Connector 30"/>
          <p:cNvCxnSpPr/>
          <p:nvPr/>
        </p:nvCxnSpPr>
        <p:spPr>
          <a:xfrm>
            <a:off x="6648450" y="2990850"/>
            <a:ext cx="0" cy="514350"/>
          </a:xfrm>
          <a:prstGeom prst="line">
            <a:avLst/>
          </a:prstGeom>
          <a:ln w="15875">
            <a:solidFill>
              <a:srgbClr val="DCE5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858000" y="2762250"/>
            <a:ext cx="10477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20" b="1">
                <a:solidFill>
                  <a:srgbClr val="0E6FB8"/>
                </a:solidFill>
                <a:latin typeface="맑은 고딕"/>
                <a:ea typeface="맑은 고딕"/>
                <a:cs typeface="맑은 고딕"/>
              </a:rPr>
              <a:t>9월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81950" y="2762250"/>
            <a:ext cx="32956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60" b="0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MI 현업 엔지니어와 합동 실전 테스트 · 단일 장비 Pilot · 엔지니어 PC 배포 방식 확정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91300" y="35433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AEB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5" name="Connector 34"/>
          <p:cNvCxnSpPr/>
          <p:nvPr/>
        </p:nvCxnSpPr>
        <p:spPr>
          <a:xfrm>
            <a:off x="6648450" y="3695700"/>
            <a:ext cx="0" cy="514350"/>
          </a:xfrm>
          <a:prstGeom prst="line">
            <a:avLst/>
          </a:prstGeom>
          <a:ln w="15875">
            <a:solidFill>
              <a:srgbClr val="DCE5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858000" y="3467100"/>
            <a:ext cx="10477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20" b="1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4Q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81950" y="3467100"/>
            <a:ext cx="32956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60" b="0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Pilot 결과를 반영해 대상 장비 확대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91300" y="42481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AEB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858000" y="4171950"/>
            <a:ext cx="10477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20" b="1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2027년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81950" y="4171950"/>
            <a:ext cx="32956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60" b="0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VLM이 Recipe Tuning을 수행하도록 workflow 구조 확장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53200" y="4762500"/>
            <a:ext cx="4724400" cy="800100"/>
          </a:xfrm>
          <a:prstGeom prst="roundRect">
            <a:avLst>
              <a:gd name="adj" fmla="val 11904"/>
            </a:avLst>
          </a:prstGeom>
          <a:solidFill>
            <a:srgbClr val="F6F9FC"/>
          </a:solidFill>
          <a:ln w="9525">
            <a:solidFill>
              <a:srgbClr val="DC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743700" y="4876800"/>
            <a:ext cx="43434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80" b="1">
                <a:solidFill>
                  <a:srgbClr val="10233A"/>
                </a:solidFill>
                <a:latin typeface="맑은 고딕"/>
                <a:ea typeface="맑은 고딕"/>
                <a:cs typeface="맑은 고딕"/>
              </a:rPr>
              <a:t>가장 가까운 관문 — 개통과 완주는 다릅니다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43700" y="5105400"/>
            <a:ext cx="43434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60" b="0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실보정은 열렸지만 실알람 완주 사례가 아직 없습니다. 예상 허들과 진행 현황은 백업 슬라이드 참조.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" y="5772150"/>
            <a:ext cx="10363200" cy="704850"/>
          </a:xfrm>
          <a:prstGeom prst="roundRect">
            <a:avLst>
              <a:gd name="adj" fmla="val 16216"/>
            </a:avLst>
          </a:prstGeom>
          <a:solidFill>
            <a:srgbClr val="0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143000" y="592455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예상 종료 · </a:t>
            </a:r>
            <a:r>
              <a:rPr sz="15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2026년 9월 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53000" y="5924550"/>
            <a:ext cx="609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40" b="0">
                <a:solidFill>
                  <a:srgbClr val="D6E9F7"/>
                </a:solidFill>
                <a:latin typeface="맑은 고딕"/>
                <a:ea typeface="맑은 고딕"/>
                <a:cs typeface="맑은 고딕"/>
              </a:rPr>
              <a:t>현업 합동 실전 테스트와 단일 장비 Pilot 완료를 과제 종료 시점으로 봅니다.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40" b="0">
                <a:solidFill>
                  <a:srgbClr val="D6E9F7"/>
                </a:solidFill>
                <a:latin typeface="맑은 고딕"/>
                <a:ea typeface="맑은 고딕"/>
                <a:cs typeface="맑은 고딕"/>
              </a:rPr>
              <a:t>이후 4Q 확대 적용은 후속 과제로 이어집니다.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14350"/>
            <a:ext cx="85725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250" b="1">
                <a:solidFill>
                  <a:srgbClr val="10233A"/>
                </a:solidFill>
                <a:latin typeface="맑은 고딕"/>
                <a:ea typeface="맑은 고딕"/>
                <a:cs typeface="맑은 고딕"/>
              </a:rPr>
              <a:t>[백업] 성과 상세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90600"/>
            <a:ext cx="103632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촬영 모드별 정확도와, 남은 개선 여지가 어디에 있는지에 대한 결론입니다.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428750"/>
          <a:ext cx="5334000" cy="16383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41231"/>
                <a:gridCol w="1395046"/>
                <a:gridCol w="1395046"/>
                <a:gridCol w="902677"/>
              </a:tblGrid>
              <a:tr h="546100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40" b="1">
                          <a:solidFill>
                            <a:srgbClr val="0E6FB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촬영 모드 (성공 사례 종합 기준)</a:t>
                      </a:r>
                    </a:p>
                  </a:txBody>
                  <a:tcPr marL="114300" marR="114300" marT="85725" marB="85725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40" b="1">
                          <a:solidFill>
                            <a:srgbClr val="0E6FB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후보 포함률</a:t>
                      </a:r>
                    </a:p>
                  </a:txBody>
                  <a:tcPr marL="114300" marR="114300" marT="85725" marB="85725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40" b="1">
                          <a:solidFill>
                            <a:srgbClr val="0E6FB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1순위 적중률</a:t>
                      </a:r>
                    </a:p>
                  </a:txBody>
                  <a:tcPr marL="114300" marR="114300" marT="85725" marB="85725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40" b="1">
                          <a:solidFill>
                            <a:srgbClr val="0E6FB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표본</a:t>
                      </a:r>
                    </a:p>
                  </a:txBody>
                  <a:tcPr marL="114300" marR="114300" marT="85725" marB="85725" anchor="ctr">
                    <a:solidFill>
                      <a:srgbClr val="EAF3FB"/>
                    </a:solidFill>
                  </a:tcPr>
                </a:tc>
              </a:tr>
              <a:tr h="546100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40" b="0">
                          <a:solidFill>
                            <a:srgbClr val="1023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OM · 저배율 (키가 화면의 10~20%)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40" b="0">
                          <a:solidFill>
                            <a:srgbClr val="1023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0.911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40" b="0">
                          <a:solidFill>
                            <a:srgbClr val="1023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0.852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40" b="0">
                          <a:solidFill>
                            <a:srgbClr val="1023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135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40" b="0">
                          <a:solidFill>
                            <a:srgbClr val="1023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SEM · 고배율 (키가 화면의 80~100%)</a:t>
                      </a:r>
                    </a:p>
                  </a:txBody>
                  <a:tcPr marL="114300" marR="114300" marT="85725" marB="85725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40" b="0">
                          <a:solidFill>
                            <a:srgbClr val="1023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0.789</a:t>
                      </a:r>
                    </a:p>
                  </a:txBody>
                  <a:tcPr marL="114300" marR="114300" marT="85725" marB="85725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40" b="0">
                          <a:solidFill>
                            <a:srgbClr val="1023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0.665</a:t>
                      </a:r>
                    </a:p>
                  </a:txBody>
                  <a:tcPr marL="114300" marR="114300" marT="85725" marB="85725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40" b="0">
                          <a:solidFill>
                            <a:srgbClr val="1023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185</a:t>
                      </a:r>
                    </a:p>
                  </a:txBody>
                  <a:tcPr marL="114300" marR="114300" marT="85725" marB="85725" anchor="ctr">
                    <a:solidFill>
                      <a:srgbClr val="FAFCF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3181350"/>
            <a:ext cx="533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 b="0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통념과 달리 고배율 SEM이 더 까다롭습니다. 화면 대부분이 비슷한 반복 패턴이라 진짜 정렬 위치와 헷갈리는 가짜 후보가 많습니다.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53200" y="1428750"/>
            <a:ext cx="4724400" cy="762000"/>
          </a:xfrm>
          <a:prstGeom prst="roundRect">
            <a:avLst>
              <a:gd name="adj" fmla="val 12500"/>
            </a:avLst>
          </a:prstGeom>
          <a:solidFill>
            <a:srgbClr val="EAF3FB"/>
          </a:solidFill>
          <a:ln w="9525">
            <a:solidFill>
              <a:srgbClr val="B9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743700" y="1562100"/>
            <a:ext cx="1428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950" b="1">
                <a:solidFill>
                  <a:srgbClr val="0E6FB8"/>
                </a:solidFill>
                <a:latin typeface="맑은 고딕"/>
                <a:ea typeface="맑은 고딕"/>
                <a:cs typeface="맑은 고딕"/>
              </a:rPr>
              <a:t>+0.073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10550" y="1562100"/>
            <a:ext cx="28765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60" b="0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촬영 모드별 재순위 채택 시 SEM 1순위 적중률 상승 (OM +0.021, 무손실 확인)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53200" y="2305050"/>
            <a:ext cx="4724400" cy="762000"/>
          </a:xfrm>
          <a:prstGeom prst="roundRect">
            <a:avLst>
              <a:gd name="adj" fmla="val 12500"/>
            </a:avLst>
          </a:prstGeom>
          <a:solidFill>
            <a:srgbClr val="EAF3FB"/>
          </a:solidFill>
          <a:ln w="9525">
            <a:solidFill>
              <a:srgbClr val="B9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743700" y="2438400"/>
            <a:ext cx="1428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950" b="1">
                <a:solidFill>
                  <a:srgbClr val="0E6FB8"/>
                </a:solidFill>
                <a:latin typeface="맑은 고딕"/>
                <a:ea typeface="맑은 고딕"/>
                <a:cs typeface="맑은 고딕"/>
              </a:rPr>
              <a:t>0.826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10550" y="2438400"/>
            <a:ext cx="28765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60" b="0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재순위 반영 후 최종 채택 구성의 1순위 적중률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53200" y="3181350"/>
            <a:ext cx="4724400" cy="762000"/>
          </a:xfrm>
          <a:prstGeom prst="roundRect">
            <a:avLst>
              <a:gd name="adj" fmla="val 12500"/>
            </a:avLst>
          </a:prstGeom>
          <a:solidFill>
            <a:srgbClr val="EAF3FB"/>
          </a:solidFill>
          <a:ln w="9525">
            <a:solidFill>
              <a:srgbClr val="B9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743700" y="3314700"/>
            <a:ext cx="1428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950" b="1">
                <a:solidFill>
                  <a:srgbClr val="0E6FB8"/>
                </a:solidFill>
                <a:latin typeface="맑은 고딕"/>
                <a:ea typeface="맑은 고딕"/>
                <a:cs typeface="맑은 고딕"/>
              </a:rPr>
              <a:t>1.000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0550" y="3314700"/>
            <a:ext cx="28765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860" b="0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장비 창 버튼 판독 정확도 — 모델 벤치로 5종 평가 후 2종 상시 운영으로 정리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962400"/>
            <a:ext cx="10363200" cy="1143000"/>
          </a:xfrm>
          <a:prstGeom prst="roundRect">
            <a:avLst>
              <a:gd name="adj" fmla="val 10000"/>
            </a:avLst>
          </a:prstGeom>
          <a:solidFill>
            <a:srgbClr val="EAF3FB"/>
          </a:solidFill>
          <a:ln w="9525">
            <a:solidFill>
              <a:srgbClr val="B9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43000" y="4133850"/>
            <a:ext cx="9906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1">
                <a:solidFill>
                  <a:srgbClr val="0E6FB8"/>
                </a:solidFill>
                <a:latin typeface="맑은 고딕"/>
                <a:ea typeface="맑은 고딕"/>
                <a:cs typeface="맑은 고딕"/>
              </a:rPr>
              <a:t>잔여 개선 여지의 분해 — 알고리즘 축은 소진됐습니다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419600"/>
            <a:ext cx="990600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980" b="0">
                <a:solidFill>
                  <a:srgbClr val="10233A"/>
                </a:solidFill>
                <a:latin typeface="맑은 고딕"/>
                <a:ea typeface="맑은 고딕"/>
                <a:cs typeface="맑은 고딕"/>
              </a:rPr>
              <a:t>재순위 반영 후 남은 실패의 </a:t>
            </a:r>
            <a:r>
              <a:rPr sz="980" b="1">
                <a:solidFill>
                  <a:srgbClr val="10233A"/>
                </a:solidFill>
                <a:latin typeface="맑은 고딕"/>
                <a:ea typeface="맑은 고딕"/>
                <a:cs typeface="맑은 고딕"/>
              </a:rPr>
              <a:t>약 87%</a:t>
            </a:r>
            <a:r>
              <a:rPr sz="980" b="0">
                <a:solidFill>
                  <a:srgbClr val="10233A"/>
                </a:solidFill>
                <a:latin typeface="맑은 고딕"/>
                <a:ea typeface="맑은 고딕"/>
                <a:cs typeface="맑은 고딕"/>
              </a:rPr>
              <a:t>가 '정답이 애초에 후보 목록에 없어 어떤 재순위로도 고칠 수 없는' 경우였습니다. 남은 몫은 정렬 키를 더 잘 구별되는 위치로 </a:t>
            </a:r>
            <a:r>
              <a:rPr sz="980" b="1">
                <a:solidFill>
                  <a:srgbClr val="10233A"/>
                </a:solidFill>
                <a:latin typeface="맑은 고딕"/>
                <a:ea typeface="맑은 고딕"/>
                <a:cs typeface="맑은 고딕"/>
              </a:rPr>
              <a:t>재등록</a:t>
            </a:r>
            <a:r>
              <a:rPr sz="980" b="0">
                <a:solidFill>
                  <a:srgbClr val="10233A"/>
                </a:solidFill>
                <a:latin typeface="맑은 고딕"/>
                <a:ea typeface="맑은 고딕"/>
                <a:cs typeface="맑은 고딕"/>
              </a:rPr>
              <a:t>하는 일이며, 이는 현업 엔지니어와의 협업 과제입니다. 이 결론에 따라 무게중심을 실시간 루프의 실운전 안정화로 옮겼습니다.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95900"/>
            <a:ext cx="103632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 b="0">
                <a:solidFill>
                  <a:srgbClr val="8A97A8"/>
                </a:solidFill>
                <a:latin typeface="맑은 고딕"/>
                <a:ea typeface="맑은 고딕"/>
                <a:cs typeface="맑은 고딕"/>
              </a:rPr>
              <a:t>※ 위 정확도는 모두 오프라인 벤치(다운로드 샘플) 기준입니다. 오피스 실데이터 확정은 진행 중이며, 확정 전에는 성공 사례를 더 많이 요구하는 보수적 기준으로 운영합니다.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76250"/>
            <a:ext cx="85725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250" b="1">
                <a:solidFill>
                  <a:srgbClr val="10233A"/>
                </a:solidFill>
                <a:latin typeface="맑은 고딕"/>
                <a:ea typeface="맑은 고딕"/>
                <a:cs typeface="맑은 고딕"/>
              </a:rPr>
              <a:t>[백업] 진행 현황과 예상 허들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028700"/>
          <a:ext cx="5334000" cy="4305301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67000"/>
                <a:gridCol w="2667000"/>
              </a:tblGrid>
              <a:tr h="391391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00" b="1">
                          <a:solidFill>
                            <a:srgbClr val="0E6FB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114300" marR="114300" marT="57150" marB="57150" anchor="ctr">
                    <a:solidFill>
                      <a:srgbClr val="EA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00" b="1">
                          <a:solidFill>
                            <a:srgbClr val="0E6FB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</a:t>
                      </a:r>
                    </a:p>
                  </a:txBody>
                  <a:tcPr marL="114300" marR="114300" marT="57150" marB="57150" anchor="ctr">
                    <a:solidFill>
                      <a:srgbClr val="EAF3FB"/>
                    </a:solidFill>
                  </a:tcPr>
                </a:tc>
              </a:tr>
              <a:tr h="391391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00" b="0">
                          <a:solidFill>
                            <a:srgbClr val="1023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VLM 배포·운영 (사내 HCP)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00" b="0">
                          <a:solidFill>
                            <a:srgbClr val="1023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 · 2종 상시 운영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391391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00" b="0">
                          <a:solidFill>
                            <a:srgbClr val="1023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GUI 자동화 · 화면 증거 캡처</a:t>
                      </a:r>
                    </a:p>
                  </a:txBody>
                  <a:tcPr marL="114300" marR="114300" marT="57150" marB="5715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00" b="0">
                          <a:solidFill>
                            <a:srgbClr val="1023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 · 오피스 검증</a:t>
                      </a:r>
                    </a:p>
                  </a:txBody>
                  <a:tcPr marL="114300" marR="114300" marT="57150" marB="57150" anchor="ctr">
                    <a:solidFill>
                      <a:srgbClr val="FAFCFE"/>
                    </a:solidFill>
                  </a:tcPr>
                </a:tc>
              </a:tr>
              <a:tr h="391391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00" b="0">
                          <a:solidFill>
                            <a:srgbClr val="1023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CV 정렬 정확도 (consensus + 모드별 재순위)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00" b="0">
                          <a:solidFill>
                            <a:srgbClr val="1023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 · 운영 반영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391391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00" b="0">
                          <a:solidFill>
                            <a:srgbClr val="1023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실시간 루프 골격·보정·녹화·알림</a:t>
                      </a:r>
                    </a:p>
                  </a:txBody>
                  <a:tcPr marL="114300" marR="114300" marT="57150" marB="5715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00" b="0">
                          <a:solidFill>
                            <a:srgbClr val="1023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</a:t>
                      </a:r>
                    </a:p>
                  </a:txBody>
                  <a:tcPr marL="114300" marR="114300" marT="57150" marB="57150" anchor="ctr">
                    <a:solidFill>
                      <a:srgbClr val="FAFCFE"/>
                    </a:solidFill>
                  </a:tcPr>
                </a:tc>
              </a:tr>
              <a:tr h="391391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00" b="0">
                          <a:solidFill>
                            <a:srgbClr val="1023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실장비 보정 (반자동, 확정은 사람)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00" b="1">
                          <a:solidFill>
                            <a:srgbClr val="0E6FB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개통 · 완주 대기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391391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00" b="0">
                          <a:solidFill>
                            <a:srgbClr val="1023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루프 실패 경로 하드닝</a:t>
                      </a:r>
                    </a:p>
                  </a:txBody>
                  <a:tcPr marL="114300" marR="114300" marT="57150" marB="5715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00" b="0">
                          <a:solidFill>
                            <a:srgbClr val="1023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</a:t>
                      </a:r>
                    </a:p>
                  </a:txBody>
                  <a:tcPr marL="114300" marR="114300" marT="57150" marB="57150" anchor="ctr">
                    <a:solidFill>
                      <a:srgbClr val="FAFCFE"/>
                    </a:solidFill>
                  </a:tcPr>
                </a:tc>
              </a:tr>
              <a:tr h="391391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00" b="0">
                          <a:solidFill>
                            <a:srgbClr val="1023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성공 사례 기반 보정 활성화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00" b="1">
                          <a:solidFill>
                            <a:srgbClr val="0E6FB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이미지 공급 대기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391391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00" b="0">
                          <a:solidFill>
                            <a:srgbClr val="1023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지식 자산화 (녹화 → 절차서)</a:t>
                      </a:r>
                    </a:p>
                  </a:txBody>
                  <a:tcPr marL="114300" marR="114300" marT="57150" marB="5715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00" b="1">
                          <a:solidFill>
                            <a:srgbClr val="0E6FB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녹화 확보 · 추출 미실행</a:t>
                      </a:r>
                    </a:p>
                  </a:txBody>
                  <a:tcPr marL="114300" marR="114300" marT="57150" marB="57150" anchor="ctr">
                    <a:solidFill>
                      <a:srgbClr val="FAFCFE"/>
                    </a:solidFill>
                  </a:tcPr>
                </a:tc>
              </a:tr>
              <a:tr h="391391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00" b="0">
                          <a:solidFill>
                            <a:srgbClr val="1023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엔지니어 PC 배포 방식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00" b="1">
                          <a:solidFill>
                            <a:srgbClr val="0E6FB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방식 결정 대기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391391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00" b="0">
                          <a:solidFill>
                            <a:srgbClr val="1023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현업 합동 실전 테스트</a:t>
                      </a:r>
                    </a:p>
                  </a:txBody>
                  <a:tcPr marL="114300" marR="114300" marT="57150" marB="5715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sz="900" b="1">
                          <a:solidFill>
                            <a:srgbClr val="0E6FB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9월 예정</a:t>
                      </a:r>
                    </a:p>
                  </a:txBody>
                  <a:tcPr marL="114300" marR="114300" marT="57150" marB="57150" anchor="ctr">
                    <a:solidFill>
                      <a:srgbClr val="FAFCF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53200" y="1028700"/>
            <a:ext cx="47244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1">
                <a:solidFill>
                  <a:srgbClr val="0E6FB8"/>
                </a:solidFill>
                <a:latin typeface="맑은 고딕"/>
                <a:ea typeface="맑은 고딕"/>
                <a:cs typeface="맑은 고딕"/>
              </a:rPr>
              <a:t>예상 허들과 대응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53200" y="1333500"/>
            <a:ext cx="4724400" cy="723900"/>
          </a:xfrm>
          <a:prstGeom prst="roundRect">
            <a:avLst>
              <a:gd name="adj" fmla="val 11842"/>
            </a:avLst>
          </a:prstGeom>
          <a:solidFill>
            <a:srgbClr val="F6F9FC"/>
          </a:solidFill>
          <a:ln w="9525">
            <a:solidFill>
              <a:srgbClr val="DC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724650" y="1428750"/>
            <a:ext cx="4381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80" b="1">
                <a:solidFill>
                  <a:srgbClr val="10233A"/>
                </a:solidFill>
                <a:latin typeface="맑은 고딕"/>
                <a:ea typeface="맑은 고딕"/>
                <a:cs typeface="맑은 고딕"/>
              </a:rPr>
              <a:t>개통과 완주는 다릅니다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4650" y="1638300"/>
            <a:ext cx="4381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19" b="0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실알람 완주 사례가 없습니다. → replay 절차와 점검 모드로 단계별 사전 확인, 첫 실알람은 엔지니어 입회하에 관찰합니다.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53200" y="2152650"/>
            <a:ext cx="4724400" cy="723900"/>
          </a:xfrm>
          <a:prstGeom prst="roundRect">
            <a:avLst>
              <a:gd name="adj" fmla="val 11842"/>
            </a:avLst>
          </a:prstGeom>
          <a:solidFill>
            <a:srgbClr val="F6F9FC"/>
          </a:solidFill>
          <a:ln w="9525">
            <a:solidFill>
              <a:srgbClr val="DC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724650" y="2247900"/>
            <a:ext cx="4381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80" b="1">
                <a:solidFill>
                  <a:srgbClr val="10233A"/>
                </a:solidFill>
                <a:latin typeface="맑은 고딕"/>
                <a:ea typeface="맑은 고딕"/>
                <a:cs typeface="맑은 고딕"/>
              </a:rPr>
              <a:t>오프라인 수치의 현장 검증 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4650" y="2457450"/>
            <a:ext cx="4381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19" b="0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정확도는 벤치 기준입니다. → 오피스 실데이터로 확정하며, 그전까지는 보수적 기준으로 운영합니다.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53200" y="2971800"/>
            <a:ext cx="4724400" cy="723900"/>
          </a:xfrm>
          <a:prstGeom prst="roundRect">
            <a:avLst>
              <a:gd name="adj" fmla="val 11842"/>
            </a:avLst>
          </a:prstGeom>
          <a:solidFill>
            <a:srgbClr val="F6F9FC"/>
          </a:solidFill>
          <a:ln w="9525">
            <a:solidFill>
              <a:srgbClr val="DC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724650" y="3067050"/>
            <a:ext cx="4381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80" b="1">
                <a:solidFill>
                  <a:srgbClr val="10233A"/>
                </a:solidFill>
                <a:latin typeface="맑은 고딕"/>
                <a:ea typeface="맑은 고딕"/>
                <a:cs typeface="맑은 고딕"/>
              </a:rPr>
              <a:t>성공 이미지 적재가 선행 조건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4650" y="3276600"/>
            <a:ext cx="4381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19" b="0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적재 전에는 등록 이미지 폴백으로만 동작합니다. → 수집·적재 기능을 최우선 활성화 조건으로 진행합니다.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53200" y="3790950"/>
            <a:ext cx="4724400" cy="723900"/>
          </a:xfrm>
          <a:prstGeom prst="roundRect">
            <a:avLst>
              <a:gd name="adj" fmla="val 11842"/>
            </a:avLst>
          </a:prstGeom>
          <a:solidFill>
            <a:srgbClr val="F6F9FC"/>
          </a:solidFill>
          <a:ln w="9525">
            <a:solidFill>
              <a:srgbClr val="DC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724650" y="3886200"/>
            <a:ext cx="4381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80" b="1">
                <a:solidFill>
                  <a:srgbClr val="10233A"/>
                </a:solidFill>
                <a:latin typeface="맑은 고딕"/>
                <a:ea typeface="맑은 고딕"/>
                <a:cs typeface="맑은 고딕"/>
              </a:rPr>
              <a:t>재등록은 협업 과제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4650" y="4095750"/>
            <a:ext cx="4381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19" b="0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구별력이 약한 정렬 키는 알고리즘으로 풀리지 않습니다. → 우선순위 리스트로 순위화해 현업과 재등록을 협의합니다.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53200" y="4610100"/>
            <a:ext cx="4724400" cy="723900"/>
          </a:xfrm>
          <a:prstGeom prst="roundRect">
            <a:avLst>
              <a:gd name="adj" fmla="val 11842"/>
            </a:avLst>
          </a:prstGeom>
          <a:solidFill>
            <a:srgbClr val="F6F9FC"/>
          </a:solidFill>
          <a:ln w="9525">
            <a:solidFill>
              <a:srgbClr val="DC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724650" y="4705350"/>
            <a:ext cx="4381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80" b="1">
                <a:solidFill>
                  <a:srgbClr val="10233A"/>
                </a:solidFill>
                <a:latin typeface="맑은 고딕"/>
                <a:ea typeface="맑은 고딕"/>
                <a:cs typeface="맑은 고딕"/>
              </a:rPr>
              <a:t>VLM 서버 가용성·배포 마찰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4650" y="4914900"/>
            <a:ext cx="4381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19" b="0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재시작 시 환경 재설치에 3~4시간. → 실시간 루프는 호출이 적은 경로로 설계하고, 배포는 더블클릭 실행 방식을 사내 자원으로 고정합니다.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86400"/>
            <a:ext cx="5334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940" b="0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실보정 전환은 </a:t>
            </a:r>
            <a:r>
              <a:rPr sz="940" b="1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관찰 전용 → 반자동(현재) → 단일 장비 Pilot → 확대</a:t>
            </a:r>
            <a:r>
              <a:rPr sz="940" b="0">
                <a:solidFill>
                  <a:srgbClr val="56677D"/>
                </a:solidFill>
                <a:latin typeface="맑은 고딕"/>
                <a:ea typeface="맑은 고딕"/>
                <a:cs typeface="맑은 고딕"/>
              </a:rPr>
              <a:t> 순서의 단계적 활성화로 리스크를 관리합니다.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