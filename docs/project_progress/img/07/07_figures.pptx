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51582" y="179676"/>
            <a:ext cx="12493244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Before / After : 사람이 5분 걸리던 Align Fail 대응이 AI Agent 루프에서 1분 미만으로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3960" y="634900"/>
            <a:ext cx="11682160" cy="1904700"/>
          </a:xfrm>
          <a:prstGeom prst="roundRect">
            <a:avLst>
              <a:gd name="adj" fmla="val 5333"/>
            </a:avLst>
          </a:prstGeom>
          <a:solidFill>
            <a:srgbClr val="F3F4F6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336" y="715532"/>
            <a:ext cx="873241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374151"/>
                </a:solidFill>
                <a:latin typeface="Malgun Gothic"/>
              </a:rPr>
              <a:t>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820" y="748864"/>
            <a:ext cx="10160336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4B5563"/>
                </a:solidFill>
                <a:latin typeface="Malgun Gothic"/>
              </a:rPr>
              <a:t>24시간 교대 인력이 전 과정 수행 · 감지~재조정 1건 평균 5분 = 장비 idle · 주 400~500건 (400건 환산 시 약 33시간)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336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937" y="1199326"/>
            <a:ext cx="2009966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① 24시간 모니터 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389" y="1441857"/>
            <a:ext cx="246906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RCS 화면을 사람이 교대로 지켜봄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7372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104" y="1199326"/>
            <a:ext cx="2209705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② RCS 실행·로그인·접속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2993" y="1441857"/>
            <a:ext cx="222392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장비 목록에서 해당 장비 탐색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8408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3837" y="1199326"/>
            <a:ext cx="216431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③ Align Key 육안 탐색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53451" y="1441857"/>
            <a:ext cx="184508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배율 바꿔가며 위치 찾기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39444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41189" y="1199326"/>
            <a:ext cx="2091678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111827"/>
                </a:solidFill>
                <a:latin typeface="Malgun Gothic"/>
              </a:rPr>
              <a:t>④ 화면 재조정 후 확정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4487" y="1441857"/>
            <a:ext cx="184508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위치 정밀도가 손에 좌우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50480" y="1079330"/>
            <a:ext cx="2095170" cy="660296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46774" y="1199326"/>
            <a:ext cx="702580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Malgun Gothic"/>
              </a:rPr>
              <a:t>⑤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92357" y="1441857"/>
            <a:ext cx="41141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없음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14204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/>
          <p:cNvSpPr/>
          <p:nvPr/>
        </p:nvSpPr>
        <p:spPr>
          <a:xfrm>
            <a:off x="2628486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825240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4939522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136276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Freeform 25"/>
          <p:cNvSpPr/>
          <p:nvPr/>
        </p:nvSpPr>
        <p:spPr>
          <a:xfrm>
            <a:off x="7250558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9447312.0" y="1409478.0"/>
            <a:ext cx="139678.0" cy="0.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9561594" y="1358686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4807" y="1860891"/>
            <a:ext cx="177822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사람의 확인 주기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533" y="2038663"/>
            <a:ext cx="255077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24시간 교대 인력, 인계 구간 지연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9848" y="1860891"/>
            <a:ext cx="20902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매 건 같은 조작 반복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00429" y="2038663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비표준 UI → 기존 UI 인식 도구 실패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76301" y="1860891"/>
            <a:ext cx="1399383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숙련도 편차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90028" y="2038663"/>
            <a:ext cx="217192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헷갈리는 Key 는 사람도 오판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3631" y="1860891"/>
            <a:ext cx="192679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매번 달라지는 정답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49348" y="2038663"/>
            <a:ext cx="207536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고정 좌표 스크립트로 못 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2656" y="1860891"/>
            <a:ext cx="125081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병목: 축적 없음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4667" y="2038663"/>
            <a:ext cx="192679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B91C1C"/>
                </a:solidFill>
                <a:latin typeface="Malgun Gothic"/>
              </a:rPr>
              <a:t>실패 화면·조치 근거 없음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5317" y="2304687"/>
            <a:ext cx="7299445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374151"/>
                </a:solidFill>
                <a:latin typeface="Malgun Gothic"/>
              </a:rPr>
              <a:t>"화면의 의미 이해" 와 "픽셀 단위 정밀도" 가 동시에 필요 → 규칙 기반 자동화의 사각지대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095040.0" y="2564996.0"/>
            <a:ext cx="0.0" cy="279356.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reeform 40"/>
          <p:cNvSpPr/>
          <p:nvPr/>
        </p:nvSpPr>
        <p:spPr>
          <a:xfrm>
            <a:off x="6006154" y="2806258"/>
            <a:ext cx="177772" cy="126980"/>
          </a:xfrm>
          <a:custGeom>
            <a:avLst/>
            <a:gdLst/>
            <a:ahLst/>
            <a:cxnLst/>
            <a:rect l="l" t="t" r="r" b="b"/>
            <a:pathLst>
              <a:path w="28" h="20">
                <a:moveTo>
                  <a:pt x="0" y="0"/>
                </a:moveTo>
                <a:lnTo>
                  <a:pt x="14" y="20"/>
                </a:lnTo>
                <a:lnTo>
                  <a:pt x="28" y="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349000" y="2590392"/>
            <a:ext cx="3428460" cy="279356"/>
          </a:xfrm>
          <a:prstGeom prst="roundRect">
            <a:avLst>
              <a:gd name="adj" fmla="val 50000"/>
            </a:avLst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0470" y="2634200"/>
            <a:ext cx="40255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D4ED8"/>
                </a:solidFill>
                <a:latin typeface="Malgun Gothic"/>
              </a:rPr>
              <a:t>AI Agent 도입 : VLM + OCR + CV 역할 분리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3960" y="2984030"/>
            <a:ext cx="11682160" cy="3301480"/>
          </a:xfrm>
          <a:prstGeom prst="roundRect">
            <a:avLst>
              <a:gd name="adj" fmla="val 3076"/>
            </a:avLst>
          </a:prstGeom>
          <a:solidFill>
            <a:srgbClr val="EFF6FF"/>
          </a:solidFill>
          <a:ln w="635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6336" y="3064662"/>
            <a:ext cx="755213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E3A8A"/>
                </a:solidFill>
                <a:latin typeface="Malgun Gothic"/>
              </a:rPr>
              <a:t>After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2350" y="3104661"/>
            <a:ext cx="13861136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E40AF"/>
                </a:solidFill>
                <a:latin typeface="Malgun Gothic"/>
              </a:rPr>
              <a:t>AI 가 감지 → 접속 → 재정렬 → 확정 → 기록을 자동 수행 · 감지~재조정 1분 미만(실알람 3건) · 진행 못 하면 큐브 알림으로 담당자에게 자동 인폼 → 사이클은 멈추지 않는다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7920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418" y="3491632"/>
            <a:ext cx="92197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알람 감지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8198" y="3715434"/>
            <a:ext cx="105241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10초 주기 폴링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205" y="3867810"/>
            <a:ext cx="146839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Align Fail(9006) 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3793" y="4020186"/>
            <a:ext cx="152122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신규 발생 시 1회 발동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33264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092439" y="3491632"/>
            <a:ext cx="1554616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6D28D9"/>
                </a:solidFill>
                <a:latin typeface="Malgun Gothic"/>
              </a:rPr>
              <a:t>사전 고지 (큐브)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34594" y="3715434"/>
            <a:ext cx="127030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"AI 가 대응 시작"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2057" y="3867810"/>
            <a:ext cx="1435381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담당자에게 자동 알림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95931" y="4020186"/>
            <a:ext cx="154763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장비·Recipe·알람 시각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758608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43446" y="3491632"/>
            <a:ext cx="130329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RCS 자동 접속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41084" y="3715434"/>
            <a:ext cx="15080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실행·로그인·장비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80702" y="3867810"/>
            <a:ext cx="142877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VLM 좌표 + OCR 확인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07114" y="4020186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접속 즉시 상시 녹화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383952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659450" y="3491632"/>
            <a:ext cx="92197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화면 판독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9539" y="3715434"/>
            <a:ext cx="146179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라이브 SEM 영역 검출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6619" y="3867810"/>
            <a:ext cx="154763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촬영 모드 OM/SEM 판독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32458" y="4020186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타인 점유 여부 판별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09296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98131" y="3491632"/>
            <a:ext cx="1095297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자동 재정렬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21486" y="3715434"/>
            <a:ext cx="144858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기준: 성공 사례 종합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5456" y="3867810"/>
            <a:ext cx="158064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(부족하면 등록 이미지)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4596" y="4020186"/>
            <a:ext cx="140236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CV 매칭 → 픽셀 좌표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34640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892806" y="3491632"/>
            <a:ext cx="956635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확정 (OK)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85492" y="3715434"/>
            <a:ext cx="117126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재조정 결과 확정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40227" y="3867810"/>
            <a:ext cx="146179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현 단계: 담당자가 OK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63337" y="4020186"/>
            <a:ext cx="141557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향후: Agent 가 수행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259984" y="3428460"/>
            <a:ext cx="1472968" cy="863464"/>
          </a:xfrm>
          <a:prstGeom prst="roundRect">
            <a:avLst>
              <a:gd name="adj" fmla="val 7352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93497" y="3491632"/>
            <a:ext cx="1805941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완료 감시·종료·기록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08490" y="3715434"/>
            <a:ext cx="137595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완료·개입 종료 감지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61314" y="3867810"/>
            <a:ext cx="127030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tool 창 자동 종료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295284" y="4020186"/>
            <a:ext cx="1402367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374151"/>
                </a:solidFill>
                <a:latin typeface="Malgun Gothic"/>
              </a:rPr>
              <a:t>대응 1건 = 기록 1줄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980888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Freeform 82"/>
          <p:cNvSpPr/>
          <p:nvPr/>
        </p:nvSpPr>
        <p:spPr>
          <a:xfrm>
            <a:off x="2057076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3606232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Freeform 84"/>
          <p:cNvSpPr/>
          <p:nvPr/>
        </p:nvSpPr>
        <p:spPr>
          <a:xfrm>
            <a:off x="3682420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5231576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Freeform 86"/>
          <p:cNvSpPr/>
          <p:nvPr/>
        </p:nvSpPr>
        <p:spPr>
          <a:xfrm>
            <a:off x="5307764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8" name="Connector 87"/>
          <p:cNvCxnSpPr/>
          <p:nvPr/>
        </p:nvCxnSpPr>
        <p:spPr>
          <a:xfrm>
            <a:off x="6856920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Freeform 88"/>
          <p:cNvSpPr/>
          <p:nvPr/>
        </p:nvSpPr>
        <p:spPr>
          <a:xfrm>
            <a:off x="6933108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0" name="Connector 89"/>
          <p:cNvCxnSpPr/>
          <p:nvPr/>
        </p:nvCxnSpPr>
        <p:spPr>
          <a:xfrm>
            <a:off x="8482264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8558452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10107608.0" y="3860192.0"/>
            <a:ext cx="88886.0" cy="0.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Freeform 92"/>
          <p:cNvSpPr/>
          <p:nvPr/>
        </p:nvSpPr>
        <p:spPr>
          <a:xfrm>
            <a:off x="10183796" y="3815749"/>
            <a:ext cx="76188" cy="88886"/>
          </a:xfrm>
          <a:custGeom>
            <a:avLst/>
            <a:gdLst/>
            <a:ahLst/>
            <a:cxnLst/>
            <a:rect l="l" t="t" r="r" b="b"/>
            <a:pathLst>
              <a:path w="12" h="14">
                <a:moveTo>
                  <a:pt x="0" y="0"/>
                </a:moveTo>
                <a:lnTo>
                  <a:pt x="12" y="7"/>
                </a:lnTo>
                <a:lnTo>
                  <a:pt x="0" y="14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>
            <a:off x="6120436.0" y="4304622.0"/>
            <a:ext cx="0.0" cy="431732.0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6069644" y="4723656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0"/>
                </a:moveTo>
                <a:lnTo>
                  <a:pt x="8" y="16"/>
                </a:lnTo>
                <a:lnTo>
                  <a:pt x="16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7745780.0" y="4304622.0"/>
            <a:ext cx="0.0" cy="431732.0"/>
          </a:xfrm>
          <a:prstGeom prst="line">
            <a:avLst/>
          </a:prstGeom>
          <a:ln w="1524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Freeform 96"/>
          <p:cNvSpPr/>
          <p:nvPr/>
        </p:nvSpPr>
        <p:spPr>
          <a:xfrm>
            <a:off x="7694988" y="4723656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0"/>
                </a:moveTo>
                <a:lnTo>
                  <a:pt x="8" y="16"/>
                </a:lnTo>
                <a:lnTo>
                  <a:pt x="16" y="0"/>
                </a:lnTo>
                <a:close/>
              </a:path>
            </a:pathLst>
          </a:cu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5383952" y="4825240"/>
            <a:ext cx="2691976" cy="761880"/>
          </a:xfrm>
          <a:prstGeom prst="roundRect">
            <a:avLst>
              <a:gd name="adj" fmla="val 8333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898855" y="4895079"/>
            <a:ext cx="1662168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B91C1C"/>
                </a:solidFill>
                <a:latin typeface="Malgun Gothic"/>
              </a:rPr>
              <a:t>AI 가 진행 못할 때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391570" y="5099516"/>
            <a:ext cx="267673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보정 불가 · 촬영 모드 불명 · 위치 모호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450997" y="5251892"/>
            <a:ext cx="2557885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타인 점유 · OCR 확인 실패(클릭 차단)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711814" y="5404268"/>
            <a:ext cx="2036251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F1D1D"/>
                </a:solidFill>
                <a:latin typeface="Malgun Gothic"/>
              </a:rPr>
              <a:t>추측해서 누르지 않고 물러난다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253700" y="4825240"/>
            <a:ext cx="1841210" cy="761880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215288" y="4895079"/>
            <a:ext cx="1918032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6D28D9"/>
                </a:solidFill>
                <a:latin typeface="Malgun Gothic"/>
              </a:rPr>
              <a:t>큐브 알림 → MI 담당자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172686" y="5099516"/>
            <a:ext cx="200323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원인 + 요구 행동 + 매칭 점수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42973" y="5251892"/>
            <a:ext cx="2062663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설정 문제 vs 재등록 검토 구분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317951" y="5404268"/>
            <a:ext cx="1712706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4C1D95"/>
                </a:solidFill>
                <a:latin typeface="Malgun Gothic"/>
              </a:rPr>
              <a:t>사람 개입 없이 자동 발송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0259984" y="4825240"/>
            <a:ext cx="1472968" cy="761880"/>
          </a:xfrm>
          <a:prstGeom prst="roundRect">
            <a:avLst>
              <a:gd name="adj" fmla="val 8333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474897" y="4895079"/>
            <a:ext cx="1043140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2410C"/>
                </a:solidFill>
                <a:latin typeface="Malgun Gothic"/>
              </a:rPr>
              <a:t>담당자 조치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235857" y="5099516"/>
            <a:ext cx="152122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수동 정렬 · 점유 해제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216048" y="5251892"/>
            <a:ext cx="1560838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Align Key 재등록 검토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99541" y="5404268"/>
            <a:ext cx="159385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7C2D12"/>
                </a:solidFill>
                <a:latin typeface="Malgun Gothic"/>
              </a:rPr>
              <a:t>AI 는 관전·녹화로 양보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8075928.0" y="5206180.0"/>
            <a:ext cx="101584.0" cy="0.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Freeform 113"/>
          <p:cNvSpPr/>
          <p:nvPr/>
        </p:nvSpPr>
        <p:spPr>
          <a:xfrm>
            <a:off x="8164814" y="5155388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0094910.0" y="5206180.0"/>
            <a:ext cx="88886.0" cy="0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Freeform 115"/>
          <p:cNvSpPr/>
          <p:nvPr/>
        </p:nvSpPr>
        <p:spPr>
          <a:xfrm>
            <a:off x="10171098" y="5155388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7" name="Connector 116"/>
          <p:cNvCxnSpPr/>
          <p:nvPr/>
        </p:nvCxnSpPr>
        <p:spPr>
          <a:xfrm flipV="1">
            <a:off x="10996468.0" y="4393508.0"/>
            <a:ext cx="0.0" cy="431732.0"/>
          </a:xfrm>
          <a:prstGeom prst="line">
            <a:avLst/>
          </a:prstGeom>
          <a:ln w="1524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Freeform 117"/>
          <p:cNvSpPr/>
          <p:nvPr/>
        </p:nvSpPr>
        <p:spPr>
          <a:xfrm>
            <a:off x="10945676" y="4304622"/>
            <a:ext cx="101584" cy="101584"/>
          </a:xfrm>
          <a:custGeom>
            <a:avLst/>
            <a:gdLst/>
            <a:ahLst/>
            <a:cxnLst/>
            <a:rect l="l" t="t" r="r" b="b"/>
            <a:pathLst>
              <a:path w="16" h="16">
                <a:moveTo>
                  <a:pt x="0" y="16"/>
                </a:moveTo>
                <a:lnTo>
                  <a:pt x="8" y="0"/>
                </a:lnTo>
                <a:lnTo>
                  <a:pt x="16" y="16"/>
                </a:lnTo>
                <a:close/>
              </a:path>
            </a:pathLst>
          </a:cu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174240" y="4516043"/>
            <a:ext cx="793751" cy="12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C2410C"/>
                </a:solidFill>
                <a:latin typeface="Malgun Gothic"/>
              </a:rPr>
              <a:t>조치 후 기록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7920" y="4825240"/>
            <a:ext cx="4698260" cy="761880"/>
          </a:xfrm>
          <a:prstGeom prst="roundRect">
            <a:avLst>
              <a:gd name="adj" fmla="val 8333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4900" y="4895713"/>
            <a:ext cx="185993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F9FAFB"/>
                </a:solidFill>
                <a:latin typeface="Malgun Gothic"/>
              </a:rPr>
              <a:t>안전 원칙 (코드에 고정)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34900" y="5086818"/>
            <a:ext cx="563486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① 확인 안 된 클릭은 나가지 않는다 (VLM 좌표 → OCR 라벨 확인 → 클릭, fail-closed)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4900" y="5239194"/>
            <a:ext cx="4492552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② 예외가 나도 녹화 종료 · 창 닫기 · 팝업 정리를 순서대로 시도한다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4900" y="5391570"/>
            <a:ext cx="5357540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E5E7EB"/>
                </a:solidFill>
                <a:latin typeface="Malgun Gothic"/>
              </a:rPr>
              <a:t>③ 사람이 개입하면 자동화가 양보한다 · 긴급 중단 단축키 · 점유 중이면 관전 녹화</a:t>
            </a:r>
          </a:p>
        </p:txBody>
      </p:sp>
      <p:sp>
        <p:nvSpPr>
          <p:cNvPr id="125" name="Freeform 124"/>
          <p:cNvSpPr/>
          <p:nvPr/>
        </p:nvSpPr>
        <p:spPr>
          <a:xfrm>
            <a:off x="355544" y="3860192"/>
            <a:ext cx="11491690" cy="2107868"/>
          </a:xfrm>
          <a:custGeom>
            <a:avLst/>
            <a:gdLst/>
            <a:ahLst/>
            <a:cxnLst/>
            <a:rect l="l" t="t" r="r" b="b"/>
            <a:pathLst>
              <a:path w="1810" h="332">
                <a:moveTo>
                  <a:pt x="1792" y="32"/>
                </a:moveTo>
                <a:lnTo>
                  <a:pt x="1810" y="32"/>
                </a:lnTo>
                <a:lnTo>
                  <a:pt x="1810" y="332"/>
                </a:lnTo>
                <a:lnTo>
                  <a:pt x="0" y="332"/>
                </a:lnTo>
                <a:lnTo>
                  <a:pt x="0" y="0"/>
                </a:lnTo>
                <a:lnTo>
                  <a:pt x="10" y="0"/>
                </a:lnTo>
              </a:path>
            </a:pathLst>
          </a:custGeom>
          <a:noFill/>
          <a:ln w="1524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419034" y="3809400"/>
            <a:ext cx="88886" cy="101584"/>
          </a:xfrm>
          <a:custGeom>
            <a:avLst/>
            <a:gdLst/>
            <a:ahLst/>
            <a:cxnLst/>
            <a:rect l="l" t="t" r="r" b="b"/>
            <a:pathLst>
              <a:path w="14" h="16">
                <a:moveTo>
                  <a:pt x="0" y="0"/>
                </a:moveTo>
                <a:lnTo>
                  <a:pt x="14" y="8"/>
                </a:lnTo>
                <a:lnTo>
                  <a:pt x="0" y="16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533521" y="5765844"/>
            <a:ext cx="912303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1E3A8A"/>
                </a:solidFill>
                <a:latin typeface="Malgun Gothic"/>
              </a:rPr>
              <a:t>↻ 정상·예외 경로 모두 기록 1줄로 끝나고 tool 창을 닫은 뒤 다음 알람 대기 · 점유·실패 건은 쿨다운 후 재시도 · 24시간 무인 반복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792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0296" y="6400744"/>
            <a:ext cx="1258498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사람 수행 (기존)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90470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057076" y="6400744"/>
            <a:ext cx="2731784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시스템 자동 수행 (VLM·OCR 판단 포함)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31732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469696" y="6400744"/>
            <a:ext cx="1833781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CV 매칭 엔진이 좌표 결정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09504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5F3FF"/>
          </a:solidFill>
          <a:ln w="1524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247416" y="6400744"/>
            <a:ext cx="161629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큐브 알림 (자동 발송)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7745780" y="6425188"/>
            <a:ext cx="101584" cy="101584"/>
          </a:xfrm>
          <a:prstGeom prst="roundRect">
            <a:avLst>
              <a:gd name="adj" fmla="val 18750"/>
            </a:avLst>
          </a:prstGeom>
          <a:solidFill>
            <a:srgbClr val="FEF2F2"/>
          </a:solidFill>
          <a:ln w="1524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898156" y="6400744"/>
            <a:ext cx="4317320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374151"/>
                </a:solidFill>
                <a:latin typeface="Malgun Gothic"/>
              </a:rPr>
              <a:t>AI 가 진행 못할 때 → 알림 → 담당자 조치 → 기록 → 다음 알람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328177" y="179676"/>
            <a:ext cx="5533724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AI 역할 분리 : 누가 무엇을 결정하는가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-653407" y="520300"/>
            <a:ext cx="1349689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4B5563"/>
                </a:solidFill>
                <a:latin typeface="Malgun Gothic"/>
              </a:rPr>
              <a:t>한 모델에 다 맡기지 않는다. UI 조작은 VLM 이 찍고 OCR 이 검증하며, 정렬 좌표는 CV 만 결정하고, AI 가 진행 못하는 예외는 큐브 알림으로 사람에게 넘긴다.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3960" y="1015840"/>
            <a:ext cx="1269800" cy="3174500"/>
          </a:xfrm>
          <a:prstGeom prst="roundRect">
            <a:avLst>
              <a:gd name="adj" fmla="val 6000"/>
            </a:avLst>
          </a:prstGeom>
          <a:solidFill>
            <a:srgbClr val="F9FAFB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7700" y="1250118"/>
            <a:ext cx="9023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374151"/>
                </a:solidFill>
                <a:latin typeface="Malgun Gothic"/>
              </a:rPr>
              <a:t>RCS 화면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5525" y="1486618"/>
            <a:ext cx="886669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캡처 이미지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9923" y="1791370"/>
            <a:ext cx="97787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표준 UI 아님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626" y="1969142"/>
            <a:ext cx="12444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컨트롤 트리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8876" y="2273894"/>
            <a:ext cx="101996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Align Key 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626" y="2451666"/>
            <a:ext cx="12444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매번 조금씩 다름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368" y="2756418"/>
            <a:ext cx="102698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라이브 영상이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681" y="2934190"/>
            <a:ext cx="74635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Malgun Gothic"/>
              </a:rPr>
              <a:t>계속 바뀜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77720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EFF6FF"/>
          </a:solidFill>
          <a:ln w="1524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77720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4059" y="982190"/>
            <a:ext cx="1774545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① VLM  ·  이해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52" y="1383764"/>
            <a:ext cx="1285958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E3A8A"/>
                </a:solidFill>
                <a:latin typeface="Malgun Gothic"/>
              </a:rPr>
              <a:t>"어디를 볼지"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17398" y="1695817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UI 요소 위치 (로그인·탭·장비 행)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17398" y="1886287"/>
            <a:ext cx="253591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전체에서 대략 → 잘라 확대해 정밀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17398" y="2076757"/>
            <a:ext cx="180051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(coarse → fine 2단계)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17398" y="2330717"/>
            <a:ext cx="218678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라이브 SEM 화면 영역 검출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17398" y="2521187"/>
            <a:ext cx="20679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촬영 모드 OM / SEM 판독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17398" y="2711657"/>
            <a:ext cx="26324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타인 점유 팝업 · 모호 상황 설명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7398" y="2902127"/>
            <a:ext cx="171137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정렬 후보 영역 식별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17398" y="3670674"/>
            <a:ext cx="2128438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D4ED8"/>
                </a:solidFill>
                <a:latin typeface="Malgun Gothic"/>
              </a:rPr>
              <a:t>사내 HCP 자체 배포 소형 모델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17398" y="3848446"/>
            <a:ext cx="205828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D4ED8"/>
                </a:solidFill>
                <a:latin typeface="Malgun Gothic"/>
              </a:rPr>
              <a:t>(MAI-UI 8B, 외부 API 없음)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2716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FFFBEB"/>
          </a:solidFill>
          <a:ln w="1524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342716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49055" y="982190"/>
            <a:ext cx="1774545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② OCR  ·  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1363" y="1383764"/>
            <a:ext cx="2169929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92400E"/>
                </a:solidFill>
                <a:latin typeface="Malgun Gothic"/>
              </a:rPr>
              <a:t>"정말 그 버튼이 맞는지"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2394" y="1695817"/>
            <a:ext cx="256563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VLM 이 찍은 지점의 라벨을 읽음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2394" y="1886287"/>
            <a:ext cx="225364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의도한 대상 ID·문구와 대조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2394" y="2140247"/>
            <a:ext cx="287762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다른 장비 ID 가 읽히면 → 클릭 거부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2394" y="2330717"/>
            <a:ext cx="30781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취소·종료 버튼으로 읽히면 → 클릭 거부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2394" y="2584677"/>
            <a:ext cx="223878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확인 못 하면 클릭하지 않음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2394" y="2775147"/>
            <a:ext cx="1176533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(fail-closed)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2394" y="3670674"/>
            <a:ext cx="254937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45309"/>
                </a:solidFill>
                <a:latin typeface="Malgun Gothic"/>
              </a:rPr>
              <a:t>VLM 두 단계는 독립 투표가 아니므로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2394" y="3848446"/>
            <a:ext cx="233189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B45309"/>
                </a:solidFill>
                <a:latin typeface="Malgun Gothic"/>
              </a:rPr>
              <a:t>별도 근거(문자)로 한 번 더 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07712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ECFDF5"/>
          </a:solidFill>
          <a:ln w="1524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07712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25844" y="982190"/>
            <a:ext cx="2750958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③ CV 매칭 엔진  ·  정량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50688" y="1383764"/>
            <a:ext cx="1901271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65F46"/>
                </a:solidFill>
                <a:latin typeface="Malgun Gothic"/>
              </a:rPr>
              <a:t>"정확히 몇 픽셀인지"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7390" y="1695817"/>
            <a:ext cx="31598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기준 이미지 vs 라이브 화면 유사도 점수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47390" y="1886287"/>
            <a:ext cx="210507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기준 = 등록 1장이 아니라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7390" y="2076757"/>
            <a:ext cx="321189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최근 성공 사례 종합(부족하면 등록 이미지)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7390" y="2330717"/>
            <a:ext cx="292961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여러 매칭 방식 종합 + 모드별 재순위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7390" y="2521187"/>
            <a:ext cx="291476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임계값은 성공/실패 점수 분포로 보정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7390" y="2775147"/>
            <a:ext cx="232049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최종 재정렬 좌표(픽셀) 산출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7390" y="3670674"/>
            <a:ext cx="2051266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47857"/>
                </a:solidFill>
                <a:latin typeface="Malgun Gothic"/>
              </a:rPr>
              <a:t>최종 정렬 좌표는 CV 만 결정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47390" y="3848446"/>
            <a:ext cx="3307067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047857"/>
                </a:solidFill>
                <a:latin typeface="Malgun Gothic"/>
              </a:rPr>
              <a:t>오프라인 벤치(Recipe 200개) 검증 변경만 반영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472708" y="888860"/>
            <a:ext cx="2387224" cy="3301480"/>
          </a:xfrm>
          <a:prstGeom prst="roundRect">
            <a:avLst>
              <a:gd name="adj" fmla="val 3191"/>
            </a:avLst>
          </a:prstGeom>
          <a:solidFill>
            <a:srgbClr val="FFF7ED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472708" y="888860"/>
            <a:ext cx="2387224" cy="406336"/>
          </a:xfrm>
          <a:prstGeom prst="roundRect">
            <a:avLst>
              <a:gd name="adj" fmla="val 1875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741492" y="982190"/>
            <a:ext cx="1849654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algun Gothic"/>
              </a:rPr>
              <a:t>④ 사람  ·  예외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785015" y="1383764"/>
            <a:ext cx="1762609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9A3412"/>
                </a:solidFill>
                <a:latin typeface="Malgun Gothic"/>
              </a:rPr>
              <a:t>"AI 가 못 푸는 것"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12386" y="1695817"/>
            <a:ext cx="271419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AI 가 진행 못하면 큐브 알림 수신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12386" y="1886287"/>
            <a:ext cx="263248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모드 불명 · 위치 모호 · 타인 점유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12386" y="2140247"/>
            <a:ext cx="2944475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수동 정렬 · 점유 해제 · 재등록 검토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12386" y="2330717"/>
            <a:ext cx="2580487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재순위로 안 풀리는 Recipe 판단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12386" y="2584677"/>
            <a:ext cx="260277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사람이 개입하면 자동화가 물러남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12386" y="2775147"/>
            <a:ext cx="2729054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1F2937"/>
                </a:solidFill>
                <a:latin typeface="Malgun Gothic"/>
              </a:rPr>
              <a:t>• 현 단계: 확정(OK) 도 사람이 누름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12386" y="3670674"/>
            <a:ext cx="2345923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2410C"/>
                </a:solidFill>
                <a:latin typeface="Malgun Gothic"/>
              </a:rPr>
              <a:t>감지~재정렬은 무인. 확정(OK) 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2386" y="3848446"/>
            <a:ext cx="2514299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2410C"/>
                </a:solidFill>
                <a:latin typeface="Malgun Gothic"/>
              </a:rPr>
              <a:t>현 단계 사람 → 향후 Agent 로 이관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523760.0" y="2539600.0"/>
            <a:ext cx="165074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Freeform 62"/>
          <p:cNvSpPr/>
          <p:nvPr/>
        </p:nvSpPr>
        <p:spPr>
          <a:xfrm>
            <a:off x="1663438" y="2482459"/>
            <a:ext cx="114282" cy="114282"/>
          </a:xfrm>
          <a:custGeom>
            <a:avLst/>
            <a:gdLst/>
            <a:ahLst/>
            <a:cxnLst/>
            <a:rect l="l" t="t" r="r" b="b"/>
            <a:pathLst>
              <a:path w="18" h="18">
                <a:moveTo>
                  <a:pt x="0" y="0"/>
                </a:moveTo>
                <a:lnTo>
                  <a:pt x="18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4164944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Freeform 64"/>
          <p:cNvSpPr/>
          <p:nvPr/>
        </p:nvSpPr>
        <p:spPr>
          <a:xfrm>
            <a:off x="4241132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6" name="Connector 65"/>
          <p:cNvCxnSpPr/>
          <p:nvPr/>
        </p:nvCxnSpPr>
        <p:spPr>
          <a:xfrm>
            <a:off x="6729940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reeform 66"/>
          <p:cNvSpPr/>
          <p:nvPr/>
        </p:nvSpPr>
        <p:spPr>
          <a:xfrm>
            <a:off x="6806128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9294936.0" y="2539600.0"/>
            <a:ext cx="88886.0" cy="0.0"/>
          </a:xfrm>
          <a:prstGeom prst="line">
            <a:avLst/>
          </a:prstGeom>
          <a:ln w="1524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Freeform 68"/>
          <p:cNvSpPr/>
          <p:nvPr/>
        </p:nvSpPr>
        <p:spPr>
          <a:xfrm>
            <a:off x="9371124" y="2482459"/>
            <a:ext cx="101584" cy="114282"/>
          </a:xfrm>
          <a:custGeom>
            <a:avLst/>
            <a:gdLst/>
            <a:ahLst/>
            <a:cxnLst/>
            <a:rect l="l" t="t" r="r" b="b"/>
            <a:pathLst>
              <a:path w="16" h="18">
                <a:moveTo>
                  <a:pt x="0" y="0"/>
                </a:moveTo>
                <a:lnTo>
                  <a:pt x="16" y="9"/>
                </a:lnTo>
                <a:lnTo>
                  <a:pt x="0" y="18"/>
                </a:lnTo>
                <a:close/>
              </a:path>
            </a:pathLst>
          </a:cu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76498" y="2319289"/>
            <a:ext cx="614646" cy="1244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700" b="0">
                <a:solidFill>
                  <a:srgbClr val="7C3AED"/>
                </a:solidFill>
                <a:latin typeface="Malgun Gothic"/>
              </a:rPr>
              <a:t>큐브 알림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3960" y="4444300"/>
            <a:ext cx="11605972" cy="1333290"/>
          </a:xfrm>
          <a:prstGeom prst="roundRect">
            <a:avLst>
              <a:gd name="adj" fmla="val 5714"/>
            </a:avLst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44430" y="4564296"/>
            <a:ext cx="3635119" cy="1955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F9FAFB"/>
                </a:solidFill>
                <a:latin typeface="Malgun Gothic"/>
              </a:rPr>
              <a:t>설계 원칙 (2026-05 확정, 코드에 고정)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44430" y="4856985"/>
            <a:ext cx="8719081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①  VLM 의 답이 낮은 CV 점수를 덮어쓰지 못한다. 반복되는 단계 전환은 VLM 이 아니라 CV 점수가 결정한다.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430" y="5110945"/>
            <a:ext cx="12078337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②  검증 대상 클릭은 확인 없이 나가지 않는다. 좌표 미검출·라벨 불일치·취소/종료 문구면 클릭 보류. 진행 못 하면 큐브 알림으로 담당자에게 넘긴다.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4430" y="5364905"/>
            <a:ext cx="13580511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5E7EB"/>
                </a:solidFill>
                <a:latin typeface="Malgun Gothic"/>
              </a:rPr>
              <a:t>③  되돌릴 수 없는 조작(확정 OK)은 현 단계에서 사람이 한다(향후 Agent 이관). 화면 이해는 소형 모델, 정밀 판정은 CV 에 분담해 GPU 1~2장으로 26대를 모니터링한다.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47473" y="6102023"/>
            <a:ext cx="9095132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외부 API 의존 없음 · VLM 1종 + OCR 1종 상시 운영 · 모델은 벤치 결과로 교체하며 통합 API 뒤에서 바뀌므로 루프는 그대로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429633" y="179676"/>
            <a:ext cx="3330812" cy="3022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11827"/>
                </a:solidFill>
                <a:latin typeface="Malgun Gothic"/>
              </a:rPr>
              <a:t>무엇이 얼마나 바뀌었나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56437" y="526967"/>
            <a:ext cx="7877204" cy="1777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4B5563"/>
                </a:solidFill>
                <a:latin typeface="Malgun Gothic"/>
              </a:rPr>
              <a:t>[검증] = 벤치·테스트·실알람으로 측정한 값        [목표] = 측정값을 주 400건에 적용한 환산값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94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3640" y="1046315"/>
            <a:ext cx="381701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1건당 대응 시간 (감지 → 위치 재조정)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3644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5069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3490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5711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7014" y="2085011"/>
            <a:ext cx="61255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5분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023" y="5689021"/>
            <a:ext cx="1210532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사람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4835" y="4952220"/>
            <a:ext cx="952350" cy="6349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9469" y="4624611"/>
            <a:ext cx="903081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&lt; 1분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60685" y="5689021"/>
            <a:ext cx="1500649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AI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-238055" y="5949647"/>
            <a:ext cx="4920411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감지 → 위치 재조정 구간 · 실알람 3건 · 확정 대기·측정 재개 제외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732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2774" y="1046315"/>
            <a:ext cx="3351510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정렬 위치 1순위 적중률 (rank-1)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7282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707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166534"/>
                </a:solidFill>
                <a:latin typeface="Malgun Gothic"/>
              </a:rPr>
              <a:t>[검증]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128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71280.0" y="2412620.0"/>
            <a:ext cx="3174500.0" cy="0.0"/>
          </a:xfrm>
          <a:prstGeom prst="line">
            <a:avLst/>
          </a:prstGeom>
          <a:ln w="6350">
            <a:solidFill>
              <a:srgbClr val="D1D5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96676" y="2255164"/>
            <a:ext cx="392114" cy="14221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Malgun Gothic"/>
              </a:rPr>
              <a:t>100%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93495" y="4577629"/>
            <a:ext cx="952350" cy="1009491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04923" y="4250020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31.8%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9516" y="5689021"/>
            <a:ext cx="1320306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등록 이미지 1장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71215" y="3161802"/>
            <a:ext cx="952350" cy="242531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2643" y="2834193"/>
            <a:ext cx="92949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047857"/>
                </a:solidFill>
                <a:latin typeface="Malgun Gothic"/>
              </a:rPr>
              <a:t>76.4%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2855" y="5689021"/>
            <a:ext cx="2269069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047857"/>
                </a:solidFill>
                <a:latin typeface="Malgun Gothic"/>
              </a:rPr>
              <a:t>성공 사례 종합 (consensus)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09335" y="3682420"/>
            <a:ext cx="698390" cy="25396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53539" y="3720196"/>
            <a:ext cx="609980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047857"/>
                </a:solidFill>
                <a:latin typeface="Malgun Gothic"/>
              </a:rPr>
              <a:t>× 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84314" y="5949647"/>
            <a:ext cx="4348430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Recipe 200개 오프라인 벤치 · 후보 포함률 43.4% → 87.6%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53700" y="888860"/>
            <a:ext cx="3682420" cy="5333160"/>
          </a:xfrm>
          <a:prstGeom prst="roundRect">
            <a:avLst>
              <a:gd name="adj" fmla="val 2758"/>
            </a:avLst>
          </a:prstGeom>
          <a:solidFill>
            <a:srgbClr val="F9FAFB"/>
          </a:solidFill>
          <a:ln w="635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4680" y="1046315"/>
            <a:ext cx="3460458" cy="21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Malgun Gothic"/>
              </a:rPr>
              <a:t>주당 장비 idle 시간 (400건 기준)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809205" y="1333290"/>
            <a:ext cx="571410" cy="20316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3458" y="1359638"/>
            <a:ext cx="542902" cy="15110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850" b="1">
                <a:solidFill>
                  <a:srgbClr val="92400E"/>
                </a:solidFill>
                <a:latin typeface="Malgun Gothic"/>
              </a:rPr>
              <a:t>[목표]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07660.0" y="5587120.0"/>
            <a:ext cx="3174500.0" cy="0.0"/>
          </a:xfrm>
          <a:prstGeom prst="line">
            <a:avLst/>
          </a:prstGeom>
          <a:ln w="12700">
            <a:solidFill>
              <a:srgbClr val="9CA3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729875" y="2412620"/>
            <a:ext cx="952350" cy="3174500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90390" y="2085011"/>
            <a:ext cx="1431318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374151"/>
                </a:solidFill>
                <a:latin typeface="Malgun Gothic"/>
              </a:rPr>
              <a:t>약 33시간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98904" y="5689021"/>
            <a:ext cx="1814290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374151"/>
                </a:solidFill>
                <a:latin typeface="Malgun Gothic"/>
              </a:rPr>
              <a:t>Before · 400건 × 5분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07595" y="2412620"/>
            <a:ext cx="952350" cy="2533251"/>
          </a:xfrm>
          <a:prstGeom prst="rect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7595" y="4945871"/>
            <a:ext cx="952350" cy="64124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5478" y="2085011"/>
            <a:ext cx="1576583" cy="2844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1D4ED8"/>
                </a:solidFill>
                <a:latin typeface="Malgun Gothic"/>
              </a:rPr>
              <a:t>약 6.7시간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43777" y="3415444"/>
            <a:ext cx="479984" cy="1866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050" b="1">
                <a:solidFill>
                  <a:srgbClr val="1D4ED8"/>
                </a:solidFill>
                <a:latin typeface="Malgun Gothic"/>
              </a:rPr>
              <a:t>회수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35984" y="3623374"/>
            <a:ext cx="1495570" cy="2311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Malgun Gothic"/>
              </a:rPr>
              <a:t>약 27시간/주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33553" y="5689021"/>
            <a:ext cx="2300433" cy="1688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50" b="0">
                <a:solidFill>
                  <a:srgbClr val="1D4ED8"/>
                </a:solidFill>
                <a:latin typeface="Malgun Gothic"/>
              </a:rPr>
              <a:t>After · 400건 × 1분 (가정)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07575" y="5949647"/>
            <a:ext cx="5774669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4B5563"/>
                </a:solidFill>
                <a:latin typeface="Malgun Gothic"/>
              </a:rPr>
              <a:t>≈ WAFER 약 100장/주 (장당 15분) · 장비 약 0.2대 = Capex 약 4~5억 원 절감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0656" y="6419473"/>
            <a:ext cx="11568766" cy="1599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Malgun Gothic"/>
              </a:rPr>
              <a:t>그 외 [검증]: 좌표 인식+클릭 500회 99% · 버튼 판독 100% (클릭 미실행 벤치) · VLM·OCR 5종 비교 → 2종 상시 운영 · 실장비 없이 도는 자동 테스트 1,207개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