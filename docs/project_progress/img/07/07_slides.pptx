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659089" y="165708"/>
            <a:ext cx="13508259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Before / After : 1건 5분 걸리던 Align Fail 대응이 AI Agent 루프에서 1분 미만으로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3960" y="698390"/>
            <a:ext cx="11682160" cy="2031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336" y="1058378"/>
            <a:ext cx="1544965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74151"/>
                </a:solidFill>
                <a:latin typeface="Malgun Gothic"/>
              </a:rPr>
              <a:t>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36" y="1491380"/>
            <a:ext cx="1329036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현업 담당자가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336" y="1694548"/>
            <a:ext cx="1247324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전 과정 수행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517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89293" y="1165041"/>
            <a:ext cx="158947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24시간 감시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9453" y="1530109"/>
            <a:ext cx="162915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교대로 화면 지켜봄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01454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1763" y="1165041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수동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6692" y="1530109"/>
            <a:ext cx="182724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RCS 로그인·장비 탐색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7738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8538" y="1165041"/>
            <a:ext cx="2196119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육안 탐색·재조정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0439" y="1530109"/>
            <a:ext cx="199231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배율 바꿔가며 Key 찾기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4022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0036" y="1165041"/>
            <a:ext cx="68569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3848" y="1530109"/>
            <a:ext cx="87806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B91C1C"/>
                </a:solidFill>
                <a:latin typeface="Malgun Gothic"/>
              </a:rPr>
              <a:t>기록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872890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reeform 19"/>
          <p:cNvSpPr/>
          <p:nvPr/>
        </p:nvSpPr>
        <p:spPr>
          <a:xfrm>
            <a:off x="3974474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879174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5980758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7885458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7987042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15840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6823" y="1060283"/>
            <a:ext cx="2460872" cy="5333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5분 / 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5300" y="1599313"/>
            <a:ext cx="24639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D1D5DB"/>
                </a:solidFill>
                <a:latin typeface="Malgun Gothic"/>
              </a:rPr>
              <a:t>주 400~500건 · 장비 idle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6796" y="2189135"/>
            <a:ext cx="62733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B91C1C"/>
                </a:solidFill>
                <a:latin typeface="Malgun Gothic"/>
              </a:rPr>
              <a:t>병목 : 확인 주기 · 매 건 반복 조작 · 숙련도 편차 · 기록 없음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3360" y="2933238"/>
            <a:ext cx="4063360" cy="3301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6323" y="2982125"/>
            <a:ext cx="4757432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AI Agent 도입 : VLM · OCR · CV 역할 분리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040.0" y="3276084.0"/>
            <a:ext cx="0.0" cy="76188.0"/>
          </a:xfrm>
          <a:prstGeom prst="line">
            <a:avLst/>
          </a:prstGeom>
          <a:ln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31"/>
          <p:cNvSpPr/>
          <p:nvPr/>
        </p:nvSpPr>
        <p:spPr>
          <a:xfrm>
            <a:off x="6018852" y="3339574"/>
            <a:ext cx="152376" cy="101584"/>
          </a:xfrm>
          <a:custGeom>
            <a:avLst/>
            <a:gdLst/>
            <a:ahLst/>
            <a:cxnLst/>
            <a:rect l="l" t="t" r="r" b="b"/>
            <a:pathLst>
              <a:path w="24" h="16">
                <a:moveTo>
                  <a:pt x="0" y="0"/>
                </a:moveTo>
                <a:lnTo>
                  <a:pt x="12" y="16"/>
                </a:lnTo>
                <a:lnTo>
                  <a:pt x="24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3960" y="3466554"/>
            <a:ext cx="11682160" cy="2793560"/>
          </a:xfrm>
          <a:prstGeom prst="roundRect">
            <a:avLst>
              <a:gd name="adj" fmla="val 3636"/>
            </a:avLst>
          </a:prstGeom>
          <a:solidFill>
            <a:srgbClr val="EFF6FF"/>
          </a:solidFill>
          <a:ln w="63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336" y="3826542"/>
            <a:ext cx="1336147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1E3A8A"/>
                </a:solidFill>
                <a:latin typeface="Malgun Gothic"/>
              </a:rPr>
              <a:t>After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336" y="4259544"/>
            <a:ext cx="112021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AI Agent가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336" y="4462712"/>
            <a:ext cx="96587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자동 수행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9517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25479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알람 감지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25013" y="4298273"/>
            <a:ext cx="191803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10초 폴링 · 자동 발동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01454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31763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자동 접속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7327" y="4298273"/>
            <a:ext cx="178597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VLM 좌표 + OCR 확인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07738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4242" y="3933205"/>
            <a:ext cx="156471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47857"/>
                </a:solidFill>
                <a:latin typeface="Malgun Gothic"/>
              </a:rPr>
              <a:t>자동 재정렬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45835" y="4298273"/>
            <a:ext cx="190152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CV 매칭으로 좌표 결정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14022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44331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확정·기록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1007" y="4298273"/>
            <a:ext cx="184374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담당자 OK · 기록 1줄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872890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974474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879174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5980758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85458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7987042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15840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921963" y="3855112"/>
            <a:ext cx="2250593" cy="4977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algun Gothic"/>
              </a:rPr>
              <a:t>1분 미만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73532" y="4367477"/>
            <a:ext cx="1147454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BFDBFE"/>
                </a:solidFill>
                <a:latin typeface="Malgun Gothic"/>
              </a:rPr>
              <a:t>감지~재조정</a:t>
            </a:r>
          </a:p>
        </p:txBody>
      </p:sp>
      <p:sp>
        <p:nvSpPr>
          <p:cNvPr id="58" name="Freeform 57"/>
          <p:cNvSpPr/>
          <p:nvPr/>
        </p:nvSpPr>
        <p:spPr>
          <a:xfrm>
            <a:off x="2984030" y="4698260"/>
            <a:ext cx="4012568" cy="203168"/>
          </a:xfrm>
          <a:custGeom>
            <a:avLst/>
            <a:gdLst/>
            <a:ahLst/>
            <a:cxnLst/>
            <a:rect l="l" t="t" r="r" b="b"/>
            <a:pathLst>
              <a:path w="632" h="32">
                <a:moveTo>
                  <a:pt x="632" y="0"/>
                </a:moveTo>
                <a:lnTo>
                  <a:pt x="632" y="26"/>
                </a:lnTo>
                <a:lnTo>
                  <a:pt x="0" y="26"/>
                </a:lnTo>
                <a:lnTo>
                  <a:pt x="0" y="32"/>
                </a:lnTo>
              </a:path>
            </a:pathLst>
          </a:custGeom>
          <a:noFill/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26889" y="4888730"/>
            <a:ext cx="114282" cy="126980"/>
          </a:xfrm>
          <a:custGeom>
            <a:avLst/>
            <a:gdLst/>
            <a:ahLst/>
            <a:cxnLst/>
            <a:rect l="l" t="t" r="r" b="b"/>
            <a:pathLst>
              <a:path w="18" h="20">
                <a:moveTo>
                  <a:pt x="0" y="0"/>
                </a:moveTo>
                <a:lnTo>
                  <a:pt x="9" y="20"/>
                </a:lnTo>
                <a:lnTo>
                  <a:pt x="18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6336" y="5255067"/>
            <a:ext cx="926890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91C1C"/>
                </a:solidFill>
                <a:latin typeface="Malgun Gothic"/>
              </a:rPr>
              <a:t>예외 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95170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041203" y="5160467"/>
            <a:ext cx="1885653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91C1C"/>
                </a:solidFill>
                <a:latin typeface="Malgun Gothic"/>
              </a:rPr>
              <a:t>AI가 처리 안될 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76627" y="5416331"/>
            <a:ext cx="161480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F1D1D"/>
                </a:solidFill>
                <a:latin typeface="Malgun Gothic"/>
              </a:rPr>
              <a:t>추측해서 누르지 않음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01454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63473" y="5160467"/>
            <a:ext cx="105368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Malgun Gothic"/>
              </a:rPr>
              <a:t>큐브 알림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45205" y="5416331"/>
            <a:ext cx="20902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C1D95"/>
                </a:solidFill>
                <a:latin typeface="Malgun Gothic"/>
              </a:rPr>
              <a:t>원인 + 요구 행동 자동 발송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07738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70713" y="5160467"/>
            <a:ext cx="125176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C2410C"/>
                </a:solidFill>
                <a:latin typeface="Malgun Gothic"/>
              </a:rPr>
              <a:t>담당자 조치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33483" y="5416331"/>
            <a:ext cx="1726229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2D12"/>
                </a:solidFill>
                <a:latin typeface="Malgun Gothic"/>
              </a:rPr>
              <a:t>수동 정렬 · AI는 관전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14022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14529" y="5160467"/>
            <a:ext cx="177670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Malgun Gothic"/>
              </a:rPr>
              <a:t>기록 → 다음 알람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36617" y="5416331"/>
            <a:ext cx="1332528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374151"/>
                </a:solidFill>
                <a:latin typeface="Malgun Gothic"/>
              </a:rPr>
              <a:t>24시간 무인 반복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3872890.0" y="5371254.0"/>
            <a:ext cx="126980.0" cy="0.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3974474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5879174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5980758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7885458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7987042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62035" y="5808700"/>
            <a:ext cx="10262841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안전 원칙 : 확인 안 되면 VLM이 확정하지 않고 엔지니어에게 인폼 및 작업 요청 (녹화를 위해 추후 개선 루프 발동)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17533" y="5999170"/>
            <a:ext cx="4751845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담당자가 개입하면 자동화가 양보 · 긴급 중단 단축키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64307" y="6419473"/>
            <a:ext cx="766146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회색 = 담당자 수행 · 파랑 = 시스템 자동 수행 (VLM·OCR 판단 포함) · 초록 = CV 매칭 엔진이 좌표 결정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2664" y="165708"/>
            <a:ext cx="6184751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AI 역할 분리 : 누가 무엇을 결정하는가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1218" y="551093"/>
            <a:ext cx="1100764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한 모델에 다 맡기지 않는다 · UI는 VLM이 찍고 OCR이 확인 · 좌표는 CV만 결정 · AI가 못 푸는 것은 현업 담당자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2666580" cy="342846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094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829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① VLM ·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688" y="1831686"/>
            <a:ext cx="183708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E3A8A"/>
                </a:solidFill>
                <a:latin typeface="Malgun Gothic"/>
              </a:rPr>
              <a:t>"어디를 볼지"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417" y="2443095"/>
            <a:ext cx="271762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UI 요소 위치 (2단계 정밀)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884" y="2773243"/>
            <a:ext cx="219269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라이브 SEM 영역 검출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556" y="3103391"/>
            <a:ext cx="25393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촬영 모드 OM / SEM 판독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41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135" y="4075423"/>
            <a:ext cx="295418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사내 소형 모델 · 외부 API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1480" y="1015840"/>
            <a:ext cx="2666580" cy="3428460"/>
          </a:xfrm>
          <a:prstGeom prst="roundRect">
            <a:avLst>
              <a:gd name="adj" fmla="val 3333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0148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883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② OCR ·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0524" y="1831686"/>
            <a:ext cx="246849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2400E"/>
                </a:solidFill>
                <a:latin typeface="Malgun Gothic"/>
              </a:rPr>
              <a:t>"정말 그 버튼인지"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3759" y="2443095"/>
            <a:ext cx="226202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찍은 지점의 라벨 읽기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1387" y="2773243"/>
            <a:ext cx="280676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다른 ID · 취소 문구면 거부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4810" y="3103391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확인 못 하면 클릭 안 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195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71423" y="4075423"/>
            <a:ext cx="3126692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45309"/>
                </a:solidFill>
                <a:latin typeface="Malgun Gothic"/>
              </a:rPr>
              <a:t>사내 소형 AI 모델 · fail-closed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2020" y="1015840"/>
            <a:ext cx="2666580" cy="3428460"/>
          </a:xfrm>
          <a:prstGeom prst="roundRect">
            <a:avLst>
              <a:gd name="adj" fmla="val 3333"/>
            </a:avLst>
          </a:prstGeom>
          <a:solidFill>
            <a:srgbClr val="ECFDF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202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8748" y="1163771"/>
            <a:ext cx="2573122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③ CV 엔진 · 정량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7258" y="1831686"/>
            <a:ext cx="271610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65F46"/>
                </a:solidFill>
                <a:latin typeface="Malgun Gothic"/>
              </a:rPr>
              <a:t>"정확히 몇 픽셀인지"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8312" y="2443095"/>
            <a:ext cx="309399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성공 사례 종합 vs 라이브 화면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35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여러 매칭 종합 + 재순위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8869" y="3103391"/>
            <a:ext cx="21728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최종 좌표(픽셀) 산출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249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9470" y="4075423"/>
            <a:ext cx="2091678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47857"/>
                </a:solidFill>
                <a:latin typeface="Malgun Gothic"/>
              </a:rPr>
              <a:t>정렬 좌표는 CV만 결정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2560" y="1015840"/>
            <a:ext cx="2666580" cy="3428460"/>
          </a:xfrm>
          <a:prstGeom prst="roundRect">
            <a:avLst>
              <a:gd name="adj" fmla="val 3333"/>
            </a:avLst>
          </a:prstGeom>
          <a:solidFill>
            <a:srgbClr val="FFF7ED"/>
          </a:solidFill>
          <a:ln w="1778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256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22694" y="1163771"/>
            <a:ext cx="310631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④ 현업 담당자 · 예외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4936" y="1831686"/>
            <a:ext cx="2381827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A3412"/>
                </a:solidFill>
                <a:latin typeface="Malgun Gothic"/>
              </a:rPr>
              <a:t>"AI가 못 푸는 것"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43883" y="2443095"/>
            <a:ext cx="206393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큐브 알림 받고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89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수동 정렬 · 재등록 검토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1112" y="3103391"/>
            <a:ext cx="148947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확정(OK) 누름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303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57638" y="4075423"/>
            <a:ext cx="2636422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C2410C"/>
                </a:solidFill>
                <a:latin typeface="Malgun Gothic"/>
              </a:rPr>
              <a:t>담당자가 개입하면 AI는 양보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04752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14910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96806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606964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888600.0" y="2984030.0"/>
            <a:ext cx="101584.0" cy="0.0"/>
          </a:xfrm>
          <a:prstGeom prst="line">
            <a:avLst/>
          </a:prstGeom>
          <a:ln w="381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8939392" y="2869748"/>
            <a:ext cx="203168" cy="228564"/>
          </a:xfrm>
          <a:custGeom>
            <a:avLst/>
            <a:gdLst/>
            <a:ahLst/>
            <a:cxnLst/>
            <a:rect l="l" t="t" r="r" b="b"/>
            <a:pathLst>
              <a:path w="32" h="36">
                <a:moveTo>
                  <a:pt x="0" y="0"/>
                </a:moveTo>
                <a:lnTo>
                  <a:pt x="32" y="18"/>
                </a:lnTo>
                <a:lnTo>
                  <a:pt x="0" y="36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222020" y="4520488"/>
            <a:ext cx="5587120" cy="419034"/>
          </a:xfrm>
          <a:prstGeom prst="roundRect">
            <a:avLst>
              <a:gd name="adj" fmla="val 50000"/>
            </a:avLst>
          </a:prstGeom>
          <a:solidFill>
            <a:srgbClr val="F5F3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53016" y="4613183"/>
            <a:ext cx="6325127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6D28D9"/>
                </a:solidFill>
                <a:latin typeface="Malgun Gothic"/>
              </a:rPr>
              <a:t>AI가 못 풀면 즉시 엔지니어에게 인계 - 큐브 알림 발송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0940" y="5015710"/>
            <a:ext cx="11428200" cy="698390"/>
          </a:xfrm>
          <a:prstGeom prst="roundRect">
            <a:avLst>
              <a:gd name="adj" fmla="val 12727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1750" y="5147134"/>
            <a:ext cx="2686579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9FAFB"/>
                </a:solidFill>
                <a:latin typeface="Malgun Gothic"/>
              </a:rPr>
              <a:t>설계 원칙 (코드에 고정)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-1275768" y="5414427"/>
            <a:ext cx="1474161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E5E7EB"/>
                </a:solidFill>
                <a:latin typeface="Malgun Gothic"/>
              </a:rPr>
              <a:t>① VLM의 답이 낮은 CV 점수를 덮지 못한다   ② 확인 안 되면 VLM이 확정하지 않고 엔지니어에게 인폼·작업 요청   ③ 되돌릴 수 없는 확정(OK)은 담당자가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82501" y="5961711"/>
            <a:ext cx="9825077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VLM 1종 + OCR 1종 상시 운영 · GPU 1~2장으로 26대 모니터링 · 모델은 벤치 결과로 교체 (통합 API 뒤라 루프는 그대로)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33703" y="165708"/>
            <a:ext cx="3722672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무엇이 얼마나 바뀌었나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83748" y="551093"/>
            <a:ext cx="8422583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[검증] = 벤치·테스트·실알람 측정값     [목표] = 측정값을 주 400건에 적용한 환산값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9292" y="1210119"/>
            <a:ext cx="1945714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1건당 대응 시간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470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279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3490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537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591" y="2065964"/>
            <a:ext cx="995396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5분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699" y="5427125"/>
            <a:ext cx="17271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담당자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309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256" y="4300812"/>
            <a:ext cx="146750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&lt; 1분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3231" y="5427125"/>
            <a:ext cx="189555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5053" y="5771241"/>
            <a:ext cx="283419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감지 → 위치 재조정 · 실장비 실측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732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9703" y="1210119"/>
            <a:ext cx="3817653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첫 시도에 정답 위치를 맞춘 비율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4108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3917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128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761750" y="4444300"/>
            <a:ext cx="1015840" cy="8888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4456" y="3970664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31.8%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5792" y="5427125"/>
            <a:ext cx="166775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등록 이미지 1장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9470" y="3199896"/>
            <a:ext cx="1015840" cy="21332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2176" y="2726260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047857"/>
                </a:solidFill>
                <a:latin typeface="Malgun Gothic"/>
              </a:rPr>
              <a:t>76.4%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7986" y="5427125"/>
            <a:ext cx="155880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47857"/>
                </a:solidFill>
                <a:latin typeface="Malgun Gothic"/>
              </a:rPr>
              <a:t>성공 사례 종합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45845" y="3555440"/>
            <a:ext cx="825370" cy="304752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51876" y="3584645"/>
            <a:ext cx="813306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47857"/>
                </a:solidFill>
                <a:latin typeface="Malgun Gothic"/>
              </a:rPr>
              <a:t>× 2.4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72536" y="5771241"/>
            <a:ext cx="237198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Recipe 200개 오프라인 평가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5370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6308" y="1210119"/>
            <a:ext cx="4037202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주당 장비 idle 시간 (400건 기준)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7746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7555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92400E"/>
                </a:solidFill>
                <a:latin typeface="Malgun Gothic"/>
              </a:rPr>
              <a:t>[목표]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0766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69813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5727" y="2065964"/>
            <a:ext cx="1660644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33시간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9226" y="5427125"/>
            <a:ext cx="20936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5분 × 400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75850" y="2539600"/>
            <a:ext cx="1015840" cy="2234848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47585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71475" y="2065964"/>
            <a:ext cx="1424588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7시간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2296" y="3420206"/>
            <a:ext cx="116294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27시간/주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86636" y="3648770"/>
            <a:ext cx="59426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회수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1421" y="5427125"/>
            <a:ext cx="198469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1분 × 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38455" y="5771241"/>
            <a:ext cx="3312908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≈ Wafer 100장/주 · Capex 약 4~5억 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78332" y="6342651"/>
            <a:ext cx="723341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그 외 [검증] : 화면 버튼 인식+클릭 500회 99% · 실장비 없이 도는 자동 테스트 1,207개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2.2 AI 적용 과정과 구현한 기능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926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79549"/>
                <a:gridCol w="939774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구현 내용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감지·사전 고지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10초 주기로 알람을 조회해 Align Fail만 선별, 신규 발생 시 1회 발동. 담당자에게 "AI가 대응 시작"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 접속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실행·로그인·장비 목록에서 알람 장비 선택·접속. RCS가 꺼져 있거나 로그아웃 상태면 재실행·재로그인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판독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SEM 영역 검출, 촬영 모드(OM/SEM) 판독, 타인 점유 여부 판별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자동 재정렬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모드에 맞는 기준 이미지(성공 사례 종합, 부족하면 등록 이미지)로 CV 매칭 → 재정렬 좌표 산출 → 화면 재조정. 첫 화면에서 못 찾으면 배율을 낮춰 주변을 격자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확정·완료 감시·종료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재조정 결과 확정(현 단계 담당자 OK, 향후 Agent) → 측정 재개 감시 → tool 창 자동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불가·모드 불명·위치 모호·타인 점유면 원인·요구 행동·매칭 점수를 담아 큐브 알림. 설정 문제와 Recipe 재등록 검토를 구분해 안내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접속 즉시 상시 녹화, 실패 시점 화면 증거, 대응 1건 = 기록 1줄(시도 횟수·판정 근거·결과). 재등록 검토 후보 Recipe 목록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2.3 난이도와 극복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577911"/>
                <a:gridCol w="669938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난이도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극복 방식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계측 화면이 표준 UI가 아니어서 기존 자동화 도구가 버튼을 인식하지 못함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이미지로 위치를 찾는 VLM + OCR 확인. 클릭 성공률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Align Key가 공정 변동으로 매번 달라 고정 템플릿으로 풀리지 않음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여러 매칭 방식 종합 + 기준 이미지를 최근 성공 사례 종합으로 교체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고배율 SEM 화면은 반복 패턴이라 가짜 후보가 많음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촬영 모드별로 기준 이미지·평가 방식을 분리. 남은 실패는 Align Key 재등록 과제로 분류해 현업과 검토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실장비 클릭 오동작 시 측정에 영향을 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되면 클릭하지 않고 담당자에게 알림. 점검 모드 → 반자동 → 합동 시험 → 배치의 단계적 게이트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2.5 Before / After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408742"/>
                <a:gridCol w="3613113"/>
                <a:gridCol w="525543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장비 idle(400건)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약 33시간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6.7시간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27시간 회수)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· </a:t>
                      </a:r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장비 약 0.2대 = Capex 약 4~5억 원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 구성원·엔지니어가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 + 화면 증거 + 녹화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3.1 목표 대비 달성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82702"/>
                <a:gridCol w="1818918"/>
                <a:gridCol w="7275674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목표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비표준 계측 화면의 GUI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로그인~장비 접속~닫기를 실장비에서 자동 수행, 클릭 성공률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이해 AI 사내 자체 배포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사내 HCP에 AI 모델 2종(VLM 1종 + OCR 1종) 상시 운영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정렬 위치 찾기 정확도 개선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 정답률 31.8% → 76.4%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감지~보정~기록 무인 루프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달성 (기록 현장 확인 중)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실장비에서 감지~재조정 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실전 배치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준비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08월 실제 장비에서 가동 가능 확인. 상시 운영용 별도 PC 준비, PC IP 방화벽 해제, AI 전용 RCS 계정 발행 진행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3.2 정량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255459"/>
                <a:gridCol w="1332771"/>
                <a:gridCol w="5228564"/>
                <a:gridCol w="24605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실장비 실측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31.8%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76.4%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2.4배)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Recipe 200개 오프라인 평가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버튼 인식 + 클릭 성공률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클릭 지점이 매번 어긋남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99%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(500회)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회수 장비 시간 · 환산(400건)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27시간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= Wafer 약 100장/주 = 장비 약 0.2대(Capex 약 4~5억 원)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3.3 정성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573576"/>
                <a:gridCol w="2491495"/>
                <a:gridCol w="721222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화면 + 녹화 + 대응 1건 = 기록 1줄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재등록 필요성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경험에 의존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구분이 어려운 Align Key Recipe 목록 자동 산출(오프라인 평가 기반, 현업과 대조 중)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상태 코드 한 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원인·요구 행동을 담아 담당자에게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5. Operation Improvement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380893"/>
                <a:gridCol w="6904466"/>
                <a:gridCol w="299193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AI·자동화 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적용 지점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무엇이 달라지나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탐지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알람을 10초마다 조회해 Align Fail에만 신규 발생 시 1회 발동, 접속 후 화면 상태를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모니터 감시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자동 대응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접속 → 녹화 → 성공 사례 기준 재정렬 → 확정 →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감지~재조정 5분 → 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이상치 필터·예외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되면 클릭·보정 보류, 보정 뒤 오측이 보이면 후속 측정 중단, 원인·요구 행동을 담아 담당자에게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불확실한 조작은 하지 않고 담당자는 예외만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기록·자산화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1줄, 실패 화면·녹화 보존, 재등록 검토 후보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개선 순서를 감이 아니라 데이터로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