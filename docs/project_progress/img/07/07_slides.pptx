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59089" y="165708"/>
            <a:ext cx="13508259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Before / After : 1건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98390"/>
            <a:ext cx="11682160" cy="203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1058378"/>
            <a:ext cx="1544965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36" y="1491380"/>
            <a:ext cx="132903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현업 담당자가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36" y="1694548"/>
            <a:ext cx="124732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전 과정 수행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517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89293" y="1165041"/>
            <a:ext cx="158947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24시간 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9453" y="1530109"/>
            <a:ext cx="162915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교대로 화면 지켜봄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01454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1763" y="1165041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수동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692" y="1530109"/>
            <a:ext cx="182724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RCS 로그인·장비 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7738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8538" y="1165041"/>
            <a:ext cx="2196119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육안 탐색·재조정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439" y="1530109"/>
            <a:ext cx="199231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배율 바꿔가며 Key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4022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0036" y="1165041"/>
            <a:ext cx="68569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3848" y="1530109"/>
            <a:ext cx="87806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91C1C"/>
                </a:solidFill>
                <a:latin typeface="Malgun Gothic"/>
              </a:rPr>
              <a:t>기록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2890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3974474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879174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5980758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885458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7987042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15840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823" y="1060283"/>
            <a:ext cx="2460872" cy="5333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5분 / 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5300" y="1599313"/>
            <a:ext cx="24639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1D5DB"/>
                </a:solidFill>
                <a:latin typeface="Malgun Gothic"/>
              </a:rPr>
              <a:t>주 400~500건 · 장비 idle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6796" y="2189135"/>
            <a:ext cx="62733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91C1C"/>
                </a:solidFill>
                <a:latin typeface="Malgun Gothic"/>
              </a:rPr>
              <a:t>병목 : 확인 주기 · 매 건 반복 조작 · 숙련도 편차 · 기록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3360" y="2933238"/>
            <a:ext cx="4063360" cy="3301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6323" y="2982125"/>
            <a:ext cx="4757432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AI Agent 도입 : VLM · OCR · CV 역할 분리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040.0" y="3276084.0"/>
            <a:ext cx="0.0" cy="76188.0"/>
          </a:xfrm>
          <a:prstGeom prst="line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6018852" y="3339574"/>
            <a:ext cx="152376" cy="101584"/>
          </a:xfrm>
          <a:custGeom>
            <a:avLst/>
            <a:gdLst/>
            <a:ahLst/>
            <a:cxnLst/>
            <a:rect l="l" t="t" r="r" b="b"/>
            <a:pathLst>
              <a:path w="24" h="16">
                <a:moveTo>
                  <a:pt x="0" y="0"/>
                </a:moveTo>
                <a:lnTo>
                  <a:pt x="12" y="16"/>
                </a:lnTo>
                <a:lnTo>
                  <a:pt x="24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3960" y="3466554"/>
            <a:ext cx="11682160" cy="279356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336" y="3826542"/>
            <a:ext cx="1336147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336" y="4259544"/>
            <a:ext cx="122008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AI Agent 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336" y="4462712"/>
            <a:ext cx="96587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자동 수행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9517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5479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5013" y="4298273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10초 폴링 · 자동 발동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01454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1763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자동 접속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7327" y="4298273"/>
            <a:ext cx="178597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07738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4242" y="3933205"/>
            <a:ext cx="156471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45835" y="4298273"/>
            <a:ext cx="190152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CV 매칭으로 좌표 결정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14022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44331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확정·기록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1007" y="4298273"/>
            <a:ext cx="184374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담당자 OK · 기록 1줄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872890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974474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879174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5980758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85458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7987042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15840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21963" y="3855112"/>
            <a:ext cx="2250593" cy="4977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1분 미만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0695" y="4367477"/>
            <a:ext cx="237312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FDBFE"/>
                </a:solidFill>
                <a:latin typeface="Malgun Gothic"/>
              </a:rPr>
              <a:t>감지~재조정 · 실알람 3건</a:t>
            </a:r>
          </a:p>
        </p:txBody>
      </p:sp>
      <p:sp>
        <p:nvSpPr>
          <p:cNvPr id="58" name="Freeform 57"/>
          <p:cNvSpPr/>
          <p:nvPr/>
        </p:nvSpPr>
        <p:spPr>
          <a:xfrm>
            <a:off x="2984030" y="4698260"/>
            <a:ext cx="4012568" cy="203168"/>
          </a:xfrm>
          <a:custGeom>
            <a:avLst/>
            <a:gdLst/>
            <a:ahLst/>
            <a:cxnLst/>
            <a:rect l="l" t="t" r="r" b="b"/>
            <a:pathLst>
              <a:path w="632" h="32">
                <a:moveTo>
                  <a:pt x="632" y="0"/>
                </a:moveTo>
                <a:lnTo>
                  <a:pt x="632" y="26"/>
                </a:lnTo>
                <a:lnTo>
                  <a:pt x="0" y="26"/>
                </a:lnTo>
                <a:lnTo>
                  <a:pt x="0" y="32"/>
                </a:lnTo>
              </a:path>
            </a:pathLst>
          </a:custGeom>
          <a:noFill/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26889" y="4888730"/>
            <a:ext cx="114282" cy="126980"/>
          </a:xfrm>
          <a:custGeom>
            <a:avLst/>
            <a:gdLst/>
            <a:ahLst/>
            <a:cxnLst/>
            <a:rect l="l" t="t" r="r" b="b"/>
            <a:pathLst>
              <a:path w="18" h="20">
                <a:moveTo>
                  <a:pt x="0" y="0"/>
                </a:moveTo>
                <a:lnTo>
                  <a:pt x="9" y="20"/>
                </a:lnTo>
                <a:lnTo>
                  <a:pt x="18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6336" y="5255067"/>
            <a:ext cx="92689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91C1C"/>
                </a:solidFill>
                <a:latin typeface="Malgun Gothic"/>
              </a:rPr>
              <a:t>예외 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95170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986729" y="5160467"/>
            <a:ext cx="199460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91C1C"/>
                </a:solidFill>
                <a:latin typeface="Malgun Gothic"/>
              </a:rPr>
              <a:t>AI 가 처리 안될 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76627" y="5416331"/>
            <a:ext cx="161480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F1D1D"/>
                </a:solidFill>
                <a:latin typeface="Malgun Gothic"/>
              </a:rPr>
              <a:t>추측해서 누르지 않음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01454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63473" y="5160467"/>
            <a:ext cx="105368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Malgun Gothic"/>
              </a:rPr>
              <a:t>큐브 알림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45205" y="541633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C1D95"/>
                </a:solidFill>
                <a:latin typeface="Malgun Gothic"/>
              </a:rPr>
              <a:t>원인 + 요구 행동 자동 발송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07738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70713" y="5160467"/>
            <a:ext cx="125176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2627" y="5416331"/>
            <a:ext cx="180794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2D12"/>
                </a:solidFill>
                <a:latin typeface="Malgun Gothic"/>
              </a:rPr>
              <a:t>수동 정렬 · AI 는 관전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4022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14529" y="5160467"/>
            <a:ext cx="177670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Malgun Gothic"/>
              </a:rPr>
              <a:t>기록 → 다음 알람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6617" y="5416331"/>
            <a:ext cx="1332528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74151"/>
                </a:solidFill>
                <a:latin typeface="Malgun Gothic"/>
              </a:rPr>
              <a:t>24시간 무인 반복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872890.0" y="5371254.0"/>
            <a:ext cx="126980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974474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879174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5980758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885458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7987042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2100" y="5808700"/>
            <a:ext cx="1036271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안전 원칙 : 확인 안 되면 VLM 이 확정하지 않고 엔지니어에게 인폼 및 작업 요청 (녹화를 위해 추후 개선 루프 발동)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17533" y="5999170"/>
            <a:ext cx="475184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담당자가 개입하면 자동화가 양보 · 긴급 중단 단축키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4307" y="6419473"/>
            <a:ext cx="766146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회색 = 담당자 수행 · 파랑 = 시스템 자동 수행 (VLM·OCR 판단 포함) · 초록 = CV 매칭 엔진이 좌표 결정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2664" y="165708"/>
            <a:ext cx="6184751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8846" y="551093"/>
            <a:ext cx="1155238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한 모델에 다 맡기지 않는다 · UI 는 VLM 이 찍고 OCR 이 확인 · 좌표는 CV 만 결정 · AI 가 못 푸는 것은 현업 담당자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094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29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① VLM ·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688" y="1831686"/>
            <a:ext cx="183708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417" y="2443095"/>
            <a:ext cx="271762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UI 요소 위치 (2단계 정밀)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884" y="2773243"/>
            <a:ext cx="219269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56" y="3103391"/>
            <a:ext cx="25393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촬영 모드 OM / SEM 판독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41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135" y="4075423"/>
            <a:ext cx="295418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사내 소형 모델 · 외부 API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148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0148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83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② OCR ·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0524" y="1831686"/>
            <a:ext cx="246849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2400E"/>
                </a:solidFill>
                <a:latin typeface="Malgun Gothic"/>
              </a:rPr>
              <a:t>"정말 그 버튼인지"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3759" y="2443095"/>
            <a:ext cx="226202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찍은 지점의 라벨 읽기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1387" y="2773243"/>
            <a:ext cx="280676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다른 ID · 취소 문구면 거부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4810" y="3103391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확인 못 하면 클릭 안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195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30568" y="4075423"/>
            <a:ext cx="320840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Malgun Gothic"/>
              </a:rPr>
              <a:t>fail-closed : 미확인 = 클릭 금지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2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202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8748" y="1163771"/>
            <a:ext cx="257312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③ CV 엔진 · 정량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258" y="1831686"/>
            <a:ext cx="271610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8312" y="2443095"/>
            <a:ext cx="309399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성공 사례 종합 vs 라이브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35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여러 매칭 종합 + 재순위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8869" y="3103391"/>
            <a:ext cx="21728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최종 좌표(픽셀) 산출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249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9536" y="4075423"/>
            <a:ext cx="219154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Malgun Gothic"/>
              </a:rPr>
              <a:t>정렬 좌표는 CV 만 결정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256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77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256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2694" y="1163771"/>
            <a:ext cx="310631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④ 현업 담당자 ·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6843" y="1831686"/>
            <a:ext cx="251801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A3412"/>
                </a:solidFill>
                <a:latin typeface="Malgun Gothic"/>
              </a:rPr>
              <a:t>"AI 가 못 푸는 것"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3883" y="2443095"/>
            <a:ext cx="206393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큐브 알림 받고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89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수동 정렬 · 재등록 검토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1112" y="3103391"/>
            <a:ext cx="148947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확정(OK) 누름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303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07703" y="4075423"/>
            <a:ext cx="27362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C2410C"/>
                </a:solidFill>
                <a:latin typeface="Malgun Gothic"/>
              </a:rPr>
              <a:t>담당자가 개입하면 AI 는 양보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04752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4910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96806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606964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88860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899018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20449" y="2711657"/>
            <a:ext cx="79026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3AED"/>
                </a:solidFill>
                <a:latin typeface="Malgun Gothic"/>
              </a:rPr>
              <a:t>큐브 알림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0940" y="5015710"/>
            <a:ext cx="11428200" cy="698390"/>
          </a:xfrm>
          <a:prstGeom prst="roundRect">
            <a:avLst>
              <a:gd name="adj" fmla="val 12727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1750" y="5147134"/>
            <a:ext cx="2686579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9FAFB"/>
                </a:solidFill>
                <a:latin typeface="Malgun Gothic"/>
              </a:rPr>
              <a:t>설계 원칙 (코드에 고정)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-1439191" y="5414427"/>
            <a:ext cx="1506846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Malgun Gothic"/>
              </a:rPr>
              <a:t>① VLM 의 답이 낮은 CV 점수를 덮지 못한다   ② 확인 안 되면 VLM 이 확정하지 않고 엔지니어에게 인폼·작업 요청   ③ 되돌릴 수 없는 확정(OK) 은 담당자가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2501" y="5961711"/>
            <a:ext cx="982507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VLM 1종 + OCR 1종 상시 운영 · GPU 1~2장으로 26대 모니터링 · 모델은 벤치 결과로 교체 (통합 API 뒤라 루프는 그대로)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33703" y="165708"/>
            <a:ext cx="3722672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83748" y="551093"/>
            <a:ext cx="842258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[검증] = 벤치·테스트·실알람 측정값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9292" y="1210119"/>
            <a:ext cx="1945714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1건당 대응 시간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470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279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537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591" y="2065964"/>
            <a:ext cx="995396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699" y="5427125"/>
            <a:ext cx="17271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담당자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309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256" y="4300812"/>
            <a:ext cx="146750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3231" y="5427125"/>
            <a:ext cx="189555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94" y="5771241"/>
            <a:ext cx="2759910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감지 → 위치 재조정 · 실알람 3건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9703" y="1210119"/>
            <a:ext cx="3817653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108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917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761750" y="4444300"/>
            <a:ext cx="1015840" cy="8888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4456" y="3970664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5792" y="5427125"/>
            <a:ext cx="166775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9470" y="3199896"/>
            <a:ext cx="1015840" cy="21332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2176" y="2726260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986" y="5427125"/>
            <a:ext cx="155880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47857"/>
                </a:solidFill>
                <a:latin typeface="Malgun Gothic"/>
              </a:rPr>
              <a:t>성공 사례 종합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5845" y="3555440"/>
            <a:ext cx="825370" cy="30475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51876" y="3584645"/>
            <a:ext cx="813306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2536" y="5771241"/>
            <a:ext cx="237198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Recipe 200개 오프라인 평가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5370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6308" y="1210119"/>
            <a:ext cx="4037202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7746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555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766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69813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727" y="2065964"/>
            <a:ext cx="1660644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33시간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9226" y="5427125"/>
            <a:ext cx="20936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5분 × 400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75850" y="2539600"/>
            <a:ext cx="1015840" cy="2234848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7585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1475" y="2065964"/>
            <a:ext cx="1424588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7시간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2296" y="3420206"/>
            <a:ext cx="116294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27시간/주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86636" y="3648770"/>
            <a:ext cx="59426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1421" y="5427125"/>
            <a:ext cx="198469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1분 × 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7821" y="5771241"/>
            <a:ext cx="335417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≈ 웨이퍼 100장/주 · Capex 약 4~5억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78332" y="6342651"/>
            <a:ext cx="723341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그 외 [검증] : 화면 버튼 인식+클릭 500회 99%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 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556482"/>
                <a:gridCol w="672081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계측 화면이 표준 UI가 아니라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이미지로 위치를 찾는 VLM + OCR 확인.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달라 고정 템플릿으로 풀리지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여러 매칭 방식 종합 + 기준 이미지를 최근 성공 사례 종합으로 교체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반복 패턴이라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모드별로 기준 이미지·평가 방식을 분리. 남는 실패는 Align Key 재등록 과제로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클릭은 오동작 시 측정에 영향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클릭하지 않고 담당자에게 알림. 점검 모드 → 반자동 → 합동 시험 →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2.5 Before / After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506065"/>
                <a:gridCol w="3303450"/>
                <a:gridCol w="546777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985166"/>
                <a:gridCol w="1990110"/>
                <a:gridCol w="630201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로그인~장비 접속~닫기 실장비 자동 수행,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 에 VLM 1종 + OCR 1종 상시 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 정답률 31.8% → 76.4%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 / 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감지~재조정 1분 미만. 기록은 현장 적재 확인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전용 PC 확보, R3 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276151"/>
                <a:gridCol w="1241537"/>
                <a:gridCol w="5276532"/>
                <a:gridCol w="2483074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자주 빗나감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 장비 시간 · 환산(400건)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= WAFER 약 100장/주 = 장비 약 0.2대(Capex 약 4~5억 원)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218484"/>
                <a:gridCol w="3512600"/>
                <a:gridCol w="554621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 목록 자동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4.3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50335"/>
                <a:gridCol w="6051231"/>
                <a:gridCol w="357572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알람을 10초마다 조회해 Align Fail만 발동, 접속 후 화면 상태를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모니터 감시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녹화 → 성공 사례 기준 재정렬 → 확정 →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감지~재조정 5분 →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필터·예외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클릭·보정 보류, 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하지 않고 담당자는 예외만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기록·자산화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1줄, 실패 화면·녹화 보존, 재등록 검토 후보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개선 순서를 감이 아니라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