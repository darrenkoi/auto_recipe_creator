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659089" y="165708"/>
            <a:ext cx="13508259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Before / After : 1건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98390"/>
            <a:ext cx="11682160" cy="203168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1058378"/>
            <a:ext cx="1544965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6336" y="1491380"/>
            <a:ext cx="132903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현업 담당자가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336" y="1694548"/>
            <a:ext cx="1247324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4B5563"/>
                </a:solidFill>
                <a:latin typeface="Malgun Gothic"/>
              </a:rPr>
              <a:t>전 과정 수행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517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89293" y="1165041"/>
            <a:ext cx="158947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24시간 감시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69453" y="1530109"/>
            <a:ext cx="162915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교대로 화면 지켜봄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01454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31763" y="1165041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수동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76692" y="1530109"/>
            <a:ext cx="182724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RCS 로그인·장비 탐색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7738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98538" y="1165041"/>
            <a:ext cx="2196119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육안 탐색·재조정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00439" y="1530109"/>
            <a:ext cx="199231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배율 바꿔가며 Key 찾기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4022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0036" y="1165041"/>
            <a:ext cx="68569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11827"/>
                </a:solidFill>
                <a:latin typeface="Malgun Gothic"/>
              </a:rPr>
              <a:t>확정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63848" y="1530109"/>
            <a:ext cx="87806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B91C1C"/>
                </a:solidFill>
                <a:latin typeface="Malgun Gothic"/>
              </a:rPr>
              <a:t>기록 없음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872890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reeform 19"/>
          <p:cNvSpPr/>
          <p:nvPr/>
        </p:nvSpPr>
        <p:spPr>
          <a:xfrm>
            <a:off x="3974474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5879174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5980758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7885458.0" y="1428525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7987042" y="1371384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158400" y="952350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6823" y="1060283"/>
            <a:ext cx="2460872" cy="5333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algun Gothic"/>
              </a:rPr>
              <a:t>5분 / 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5300" y="1599313"/>
            <a:ext cx="24639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D1D5DB"/>
                </a:solidFill>
                <a:latin typeface="Malgun Gothic"/>
              </a:rPr>
              <a:t>주 400~500건 · 장비 idle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56796" y="2189135"/>
            <a:ext cx="62733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91C1C"/>
                </a:solidFill>
                <a:latin typeface="Malgun Gothic"/>
              </a:rPr>
              <a:t>병목 : 확인 주기 · 매 건 반복 조작 · 숙련도 편차 · 기록 없음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63360" y="2933238"/>
            <a:ext cx="4063360" cy="330148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16323" y="2982125"/>
            <a:ext cx="4757432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AI Agent 도입 : VLM · OCR · CV 역할 분리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040.0" y="3276084.0"/>
            <a:ext cx="0.0" cy="76188.0"/>
          </a:xfrm>
          <a:prstGeom prst="line">
            <a:avLst/>
          </a:prstGeom>
          <a:ln>
            <a:noFill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31"/>
          <p:cNvSpPr/>
          <p:nvPr/>
        </p:nvSpPr>
        <p:spPr>
          <a:xfrm>
            <a:off x="6018852" y="3339574"/>
            <a:ext cx="152376" cy="101584"/>
          </a:xfrm>
          <a:custGeom>
            <a:avLst/>
            <a:gdLst/>
            <a:ahLst/>
            <a:cxnLst/>
            <a:rect l="l" t="t" r="r" b="b"/>
            <a:pathLst>
              <a:path w="24" h="16">
                <a:moveTo>
                  <a:pt x="0" y="0"/>
                </a:moveTo>
                <a:lnTo>
                  <a:pt x="12" y="16"/>
                </a:lnTo>
                <a:lnTo>
                  <a:pt x="24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253960" y="3466554"/>
            <a:ext cx="11682160" cy="2730070"/>
          </a:xfrm>
          <a:prstGeom prst="roundRect">
            <a:avLst>
              <a:gd name="adj" fmla="val 3720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6336" y="3826542"/>
            <a:ext cx="1336147" cy="4088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336" y="4259544"/>
            <a:ext cx="122008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AI Agent 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336" y="4462712"/>
            <a:ext cx="96587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1E40AF"/>
                </a:solidFill>
                <a:latin typeface="Malgun Gothic"/>
              </a:rPr>
              <a:t>자동 수행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09517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25479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5013" y="4298273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10초 폴링 · 자동 발동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01454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31763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자동 접속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97327" y="4298273"/>
            <a:ext cx="1785973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07738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4242" y="3933205"/>
            <a:ext cx="156471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45835" y="4298273"/>
            <a:ext cx="190152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CV 매칭으로 좌표 결정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114022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44331" y="3933205"/>
            <a:ext cx="1317100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D4ED8"/>
                </a:solidFill>
                <a:latin typeface="Malgun Gothic"/>
              </a:rPr>
              <a:t>확정·기록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81007" y="4298273"/>
            <a:ext cx="184374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담당자 OK · 기록 1줄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872890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reeform 49"/>
          <p:cNvSpPr/>
          <p:nvPr/>
        </p:nvSpPr>
        <p:spPr>
          <a:xfrm>
            <a:off x="3974474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879174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Freeform 51"/>
          <p:cNvSpPr/>
          <p:nvPr/>
        </p:nvSpPr>
        <p:spPr>
          <a:xfrm>
            <a:off x="5980758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85458.0" y="4196689.0"/>
            <a:ext cx="126980.0" cy="0.0"/>
          </a:xfrm>
          <a:prstGeom prst="line">
            <a:avLst/>
          </a:prstGeom>
          <a:ln w="1524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Freeform 53"/>
          <p:cNvSpPr/>
          <p:nvPr/>
        </p:nvSpPr>
        <p:spPr>
          <a:xfrm>
            <a:off x="7987042" y="4139548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0158400" y="3720514"/>
            <a:ext cx="1777720" cy="952350"/>
          </a:xfrm>
          <a:prstGeom prst="roundRect">
            <a:avLst>
              <a:gd name="adj" fmla="val 8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21963" y="3855112"/>
            <a:ext cx="2250593" cy="4977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1분 미만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0695" y="4367477"/>
            <a:ext cx="237312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FDBFE"/>
                </a:solidFill>
                <a:latin typeface="Malgun Gothic"/>
              </a:rPr>
              <a:t>감지~재조정 · 실알람 3건</a:t>
            </a:r>
          </a:p>
        </p:txBody>
      </p:sp>
      <p:sp>
        <p:nvSpPr>
          <p:cNvPr id="58" name="Freeform 57"/>
          <p:cNvSpPr/>
          <p:nvPr/>
        </p:nvSpPr>
        <p:spPr>
          <a:xfrm>
            <a:off x="2984030" y="4698260"/>
            <a:ext cx="4012568" cy="203168"/>
          </a:xfrm>
          <a:custGeom>
            <a:avLst/>
            <a:gdLst/>
            <a:ahLst/>
            <a:cxnLst/>
            <a:rect l="l" t="t" r="r" b="b"/>
            <a:pathLst>
              <a:path w="632" h="32">
                <a:moveTo>
                  <a:pt x="632" y="0"/>
                </a:moveTo>
                <a:lnTo>
                  <a:pt x="632" y="26"/>
                </a:lnTo>
                <a:lnTo>
                  <a:pt x="0" y="26"/>
                </a:lnTo>
                <a:lnTo>
                  <a:pt x="0" y="32"/>
                </a:lnTo>
              </a:path>
            </a:pathLst>
          </a:custGeom>
          <a:noFill/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26889" y="4888730"/>
            <a:ext cx="114282" cy="126980"/>
          </a:xfrm>
          <a:custGeom>
            <a:avLst/>
            <a:gdLst/>
            <a:ahLst/>
            <a:cxnLst/>
            <a:rect l="l" t="t" r="r" b="b"/>
            <a:pathLst>
              <a:path w="18" h="20">
                <a:moveTo>
                  <a:pt x="0" y="0"/>
                </a:moveTo>
                <a:lnTo>
                  <a:pt x="9" y="20"/>
                </a:lnTo>
                <a:lnTo>
                  <a:pt x="18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6336" y="5255067"/>
            <a:ext cx="92689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91C1C"/>
                </a:solidFill>
                <a:latin typeface="Malgun Gothic"/>
              </a:rPr>
              <a:t>예외 시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5170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986729" y="5160467"/>
            <a:ext cx="199460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B91C1C"/>
                </a:solidFill>
                <a:latin typeface="Malgun Gothic"/>
              </a:rPr>
              <a:t>AI 가 처리 안될 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76627" y="5416331"/>
            <a:ext cx="161480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F1D1D"/>
                </a:solidFill>
                <a:latin typeface="Malgun Gothic"/>
              </a:rPr>
              <a:t>추측해서 누르지 않음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101454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63473" y="5160467"/>
            <a:ext cx="105368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Malgun Gothic"/>
              </a:rPr>
              <a:t>큐브 알림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45205" y="541633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C1D95"/>
                </a:solidFill>
                <a:latin typeface="Malgun Gothic"/>
              </a:rPr>
              <a:t>원인 + 요구 행동 자동 발송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07738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70713" y="5160467"/>
            <a:ext cx="125176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92627" y="5416331"/>
            <a:ext cx="18079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2D12"/>
                </a:solidFill>
                <a:latin typeface="Malgun Gothic"/>
              </a:rPr>
              <a:t>수동 정렬 · AI 는 관전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14022" y="5053804"/>
            <a:ext cx="1777720" cy="6349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114529" y="5160467"/>
            <a:ext cx="177670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D4ED8"/>
                </a:solidFill>
                <a:latin typeface="Malgun Gothic"/>
              </a:rPr>
              <a:t>기록 → 다음 알람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36617" y="5416331"/>
            <a:ext cx="1332528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374151"/>
                </a:solidFill>
                <a:latin typeface="Malgun Gothic"/>
              </a:rPr>
              <a:t>24시간 무인 반복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3872890.0" y="5371254.0"/>
            <a:ext cx="126980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Freeform 73"/>
          <p:cNvSpPr/>
          <p:nvPr/>
        </p:nvSpPr>
        <p:spPr>
          <a:xfrm>
            <a:off x="3974474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5879174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Freeform 75"/>
          <p:cNvSpPr/>
          <p:nvPr/>
        </p:nvSpPr>
        <p:spPr>
          <a:xfrm>
            <a:off x="5980758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7885458.0" y="5371254.0"/>
            <a:ext cx="126980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Freeform 77"/>
          <p:cNvSpPr/>
          <p:nvPr/>
        </p:nvSpPr>
        <p:spPr>
          <a:xfrm>
            <a:off x="7987042" y="5314113"/>
            <a:ext cx="126980" cy="114282"/>
          </a:xfrm>
          <a:custGeom>
            <a:avLst/>
            <a:gdLst/>
            <a:ahLst/>
            <a:cxnLst/>
            <a:rect l="l" t="t" r="r" b="b"/>
            <a:pathLst>
              <a:path w="20" h="18">
                <a:moveTo>
                  <a:pt x="0" y="0"/>
                </a:moveTo>
                <a:lnTo>
                  <a:pt x="20" y="9"/>
                </a:lnTo>
                <a:lnTo>
                  <a:pt x="0" y="18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474872" y="5859492"/>
            <a:ext cx="903716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E3A8A"/>
                </a:solidFill>
                <a:latin typeface="Malgun Gothic"/>
              </a:rPr>
              <a:t>안전 원칙 : 확인 안 된 클릭은 나가지 않는다 · 담당자가 개입하면 자동화가 양보 · 긴급 중단 단축키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264307" y="6419473"/>
            <a:ext cx="766146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회색 = 담당자 수행 · 파랑 = 시스템 자동 수행 (VLM·OCR 판단 포함) · 초록 = CV 매칭 엔진이 좌표 결정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2664" y="165708"/>
            <a:ext cx="6184751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8846" y="551093"/>
            <a:ext cx="1155238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한 모델에 다 맡기지 않는다 · UI 는 VLM 이 찍고 OCR 이 확인 · 좌표는 CV 만 결정 · AI 가 못 푸는 것은 현업 담당자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778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094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829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① VLM ·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688" y="1831686"/>
            <a:ext cx="183708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417" y="2443095"/>
            <a:ext cx="271762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UI 요소 위치 (2단계 정밀)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884" y="2773243"/>
            <a:ext cx="219269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56" y="3103391"/>
            <a:ext cx="25393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촬영 모드 OM / SEM 판독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41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135" y="4075423"/>
            <a:ext cx="295418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사내 소형 모델 · 외부 API 없음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0148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0148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8834" y="1163771"/>
            <a:ext cx="201187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② OCR ·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0524" y="1831686"/>
            <a:ext cx="2468491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2400E"/>
                </a:solidFill>
                <a:latin typeface="Malgun Gothic"/>
              </a:rPr>
              <a:t>"정말 그 버튼인지"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3759" y="2443095"/>
            <a:ext cx="226202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찍은 지점의 라벨 읽기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31387" y="2773243"/>
            <a:ext cx="280676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다른 ID · 취소 문구면 거부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4810" y="3103391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확인 못 하면 클릭 안 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195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30568" y="4075423"/>
            <a:ext cx="3208403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B45309"/>
                </a:solidFill>
                <a:latin typeface="Malgun Gothic"/>
              </a:rPr>
              <a:t>fail-closed : 미확인 = 클릭 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2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ECFDF5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2202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8748" y="1163771"/>
            <a:ext cx="257312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③ CV 엔진 · 정량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7258" y="1831686"/>
            <a:ext cx="2716102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08312" y="2443095"/>
            <a:ext cx="3093994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성공 사례 종합 vs 라이브 화면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35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여러 매칭 종합 + 재순위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8869" y="3103391"/>
            <a:ext cx="21728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최종 좌표(픽셀) 산출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1249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59536" y="4075423"/>
            <a:ext cx="2191547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47857"/>
                </a:solidFill>
                <a:latin typeface="Malgun Gothic"/>
              </a:rPr>
              <a:t>정렬 좌표는 CV 만 결정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42560" y="1015840"/>
            <a:ext cx="2666580" cy="3682420"/>
          </a:xfrm>
          <a:prstGeom prst="roundRect">
            <a:avLst>
              <a:gd name="adj" fmla="val 3333"/>
            </a:avLst>
          </a:prstGeom>
          <a:solidFill>
            <a:srgbClr val="FFF7ED"/>
          </a:solidFill>
          <a:ln w="1778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42560" y="1015840"/>
            <a:ext cx="2666580" cy="571410"/>
          </a:xfrm>
          <a:prstGeom prst="roundRect">
            <a:avLst>
              <a:gd name="adj" fmla="val 15555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2694" y="1163771"/>
            <a:ext cx="3106311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algun Gothic"/>
              </a:rPr>
              <a:t>④ 현업 담당자 · 예외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6843" y="1831686"/>
            <a:ext cx="2518013" cy="26665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43883" y="2443095"/>
            <a:ext cx="2063932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큐브 알림 받고 판단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890" y="2773243"/>
            <a:ext cx="2479919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수동 정렬 · 재등록 검토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1112" y="3103391"/>
            <a:ext cx="148947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F2937"/>
                </a:solidFill>
                <a:latin typeface="Malgun Gothic"/>
              </a:rPr>
              <a:t>확정(OK) 누름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333030" y="3936380"/>
            <a:ext cx="2285640" cy="444430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703" y="4075423"/>
            <a:ext cx="2736292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C2410C"/>
                </a:solidFill>
                <a:latin typeface="Malgun Gothic"/>
              </a:rPr>
              <a:t>담당자가 개입하면 AI 는 양보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04752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314910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96806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606964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888600.0" y="2984030.0"/>
            <a:ext cx="126980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Freeform 44"/>
          <p:cNvSpPr/>
          <p:nvPr/>
        </p:nvSpPr>
        <p:spPr>
          <a:xfrm>
            <a:off x="8990184" y="2926889"/>
            <a:ext cx="152376" cy="114282"/>
          </a:xfrm>
          <a:custGeom>
            <a:avLst/>
            <a:gdLst/>
            <a:ahLst/>
            <a:cxnLst/>
            <a:rect l="l" t="t" r="r" b="b"/>
            <a:pathLst>
              <a:path w="24" h="18">
                <a:moveTo>
                  <a:pt x="0" y="0"/>
                </a:moveTo>
                <a:lnTo>
                  <a:pt x="24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20449" y="2711657"/>
            <a:ext cx="79026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0940" y="5015710"/>
            <a:ext cx="11428200" cy="698390"/>
          </a:xfrm>
          <a:prstGeom prst="roundRect">
            <a:avLst>
              <a:gd name="adj" fmla="val 12727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51750" y="5147134"/>
            <a:ext cx="2686579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9FAFB"/>
                </a:solidFill>
                <a:latin typeface="Malgun Gothic"/>
              </a:rPr>
              <a:t>설계 원칙 (코드에 고정)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92" y="5414427"/>
            <a:ext cx="1201789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E5E7EB"/>
                </a:solidFill>
                <a:latin typeface="Malgun Gothic"/>
              </a:rPr>
              <a:t>① VLM 의 답이 낮은 CV 점수를 덮지 못한다   ② 확인 안 된 클릭은 나가지 않는다   ③ 되돌릴 수 없는 확정(OK) 은 담당자가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2501" y="5961711"/>
            <a:ext cx="982507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VLM 1종 + OCR 1종 상시 운영 · GPU 1~2장으로 26대 모니터링 · 모델은 벤치 결과로 교체 (통합 API 뒤라 루프는 그대로)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33703" y="165708"/>
            <a:ext cx="3722672" cy="33776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9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83748" y="551093"/>
            <a:ext cx="8422583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algun Gothic"/>
              </a:rPr>
              <a:t>[검증] = 벤치·테스트·실알람 측정값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49292" y="1210119"/>
            <a:ext cx="1945714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1건당 대응 시간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470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0279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537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591" y="2065964"/>
            <a:ext cx="995396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699" y="5427125"/>
            <a:ext cx="1727181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담당자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09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7256" y="4300812"/>
            <a:ext cx="146750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63231" y="5427125"/>
            <a:ext cx="189555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94" y="5771241"/>
            <a:ext cx="275991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감지 → 위치 재조정 · 실알람 3건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9703" y="1210119"/>
            <a:ext cx="3817653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첫 시도에 정답 위치를 맞춘 비율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4108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3917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61750" y="4444300"/>
            <a:ext cx="1015840" cy="8888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4456" y="3970664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5792" y="5427125"/>
            <a:ext cx="1667755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39470" y="3199896"/>
            <a:ext cx="1015840" cy="213326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92176" y="2726260"/>
            <a:ext cx="1510427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7986" y="5427125"/>
            <a:ext cx="155880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047857"/>
                </a:solidFill>
                <a:latin typeface="Malgun Gothic"/>
              </a:rPr>
              <a:t>성공 사례 종합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5845" y="3555440"/>
            <a:ext cx="825370" cy="304752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51876" y="3584645"/>
            <a:ext cx="813306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2536" y="5771241"/>
            <a:ext cx="237198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Recipe 200개 오프라인 평가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53700" y="1015840"/>
            <a:ext cx="3682420" cy="507920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76308" y="1210119"/>
            <a:ext cx="4037202" cy="248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777460" y="1549156"/>
            <a:ext cx="634900" cy="2539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5555" y="1593599"/>
            <a:ext cx="638709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07660.0" y="533316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8698130" y="2539600"/>
            <a:ext cx="1015840" cy="279356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5727" y="2065964"/>
            <a:ext cx="1660644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374151"/>
                </a:solidFill>
                <a:latin typeface="Malgun Gothic"/>
              </a:rPr>
              <a:t>33시간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9226" y="5427125"/>
            <a:ext cx="2093646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374151"/>
                </a:solidFill>
                <a:latin typeface="Malgun Gothic"/>
              </a:rPr>
              <a:t>Before · 5분 × 400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75850" y="2539600"/>
            <a:ext cx="1015840" cy="2234848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75850" y="4774448"/>
            <a:ext cx="1015840" cy="55871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1475" y="2065964"/>
            <a:ext cx="1424588" cy="4622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2600" b="1">
                <a:solidFill>
                  <a:srgbClr val="1D4ED8"/>
                </a:solidFill>
                <a:latin typeface="Malgun Gothic"/>
              </a:rPr>
              <a:t>7시간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2296" y="3420206"/>
            <a:ext cx="116294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27시간/주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86636" y="3648770"/>
            <a:ext cx="594266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91421" y="5427125"/>
            <a:ext cx="1984697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1D4ED8"/>
                </a:solidFill>
                <a:latin typeface="Malgun Gothic"/>
              </a:rPr>
              <a:t>After · 1분 × 400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7821" y="5771241"/>
            <a:ext cx="335417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≈ 웨이퍼 100장/주 · Capex 약 4~5억 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78332" y="6342651"/>
            <a:ext cx="723341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Malgun Gothic"/>
              </a:rPr>
              <a:t>그 외 [검증] : 화면 버튼 인식+클릭 500회 99% · 실장비 없이 도는 자동 테스트 1,207개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1. 사례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506065"/>
                <a:gridCol w="3303450"/>
                <a:gridCol w="546777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주당 장비 idle(400건)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약 33시간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약 6.7시간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(약 27시간 회수)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· </a:t>
                      </a:r>
                      <a:r>
                        <a:rPr sz="1400" b="1">
                          <a:solidFill>
                            <a:srgbClr val="1F2328"/>
                          </a:solidFill>
                          <a:latin typeface="Malgun Gothic"/>
                        </a:rPr>
                        <a:t>장비 약 0.2대 = Capex 약 4~5억 원</a:t>
                      </a:r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 </a:t>
                      </a:r>
                      <a:r>
                        <a:rPr sz="14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 + 화면 증거 + 녹화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2.2 AI 적용 과정과 구현한 기능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9260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879549"/>
                <a:gridCol w="9397745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구현 내용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감지·사전 고지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10초 주기로 알람을 조회해 Align Fail만 선별, 신규 발생 시 1회 발동. 담당자에게 "AI 가 대응 시작" 큐브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 접속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실행·로그인·장비 목록에서 알람 장비 선택·접속. RCS가 꺼져 있거나 로그아웃 상태면 재실행·재로그인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판독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SEM 영역 검출, 촬영 모드(OM/SEM) 판독, 타인 점유 여부 판별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자동 재정렬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모드에 맞는 기준 이미지(성공 사례 종합, 부족하면 등록 이미지)로 CV 매칭 → 재정렬 좌표 산출 → 화면 재조정. 첫 화면에서 못 찾으면 배율을 낮춰 주변을 격자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확정·완료 감시·종료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재조정 결과 확정(현 단계 담당자 OK, 향후 Agent) → 측정 재개 감시 → tool 창 자동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불가·모드 불명·위치 모호·타인 점유면 원인·요구 행동·매칭 점수를 담아 큐브 알림. 설정 문제와 Recipe 재등록 검토를 구분해 안내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접속 즉시 상시 녹화, 실패 시점 화면 증거, 대응 1건 = 기록 1줄(시도 횟수·판정 근거·결과). 재등록 검토 후보 Recipe 목록 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2.3 난이도와 극복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4833126"/>
                <a:gridCol w="644416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난이도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극복 방식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계측 클라이언트가 표준 UI가 아니라 기존 자동화 도구가 버튼을 인식하지 못함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이미지를 보고 위치를 찾는 VLM 으로 전환. coarse → fine 2단계 + OCR 확인으로 클릭 신뢰도 99%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Align Key가 공정 변동으로 매번 조금씩 달라 픽셀 동일성을 가정할 수 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구조·기하 기반 매칭에 여러 매칭 방식을 종합하고, 기준 이미지를 최근 성공 사례 종합으로 바꿔 지금의 웨이퍼 외관을 따라감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고배율 SEM 화면은 대부분 반복 패턴이라 가짜 후보가 많음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촬영 모드를 화면에서 읽어 모드별로 기준 이미지와 후보 평가 방식을 바꿈. 그래도 남는 실패의 약 87%는 정답이 후보에 없는 유형이라 Align Key 재등록 권고 목록으로 현업과 검토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라이브 영상이 계속 바뀌는 화면에서 AI가 오해 없이 정확히 눌러야 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VLM이 UI 요소와 라이브 영상 영역을 먼저 구분하고 CV가 그 안에서만 위치·이동량을 계산하는 역할 순서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실장비 클릭은 오동작 시 측정에 영향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확인 안 된 클릭은 나가지 않는 fail-closed, 모드 불명이면 보정 보류, 잘못 열린 창은 닫고 재시도. 점검 모드(비파괴) → 반자동 → 현업 합동 시험 → 26대 배치의 단계적 게이트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2.4 소요 기간·조직 영향·확산 가능성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13006"/>
                <a:gridCol w="1998507"/>
                <a:gridCol w="75657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시기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산출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2026-01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요구사항 정의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범위·제약·평가 지표 확정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02~03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VLM 인프라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HCP 배포, VLM·OCR 5종 설치·비교,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03~05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자동화 PoC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coarse→fine→confirm, RCS 로그인~장비 선택 오피스 검증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05~07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CV 정확도 벤치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rank-1 31.8% → 76.4%, 촬영 모드별 재평가 채택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06~08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실시간 루프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 10초 수신, 감지~기록 end-to-end, 실장비 보정 개통(08-12)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08~09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기록 계층 +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Recovery Episode, 실알람 3건 1분 미만 실측, 전용 PC 확보·26대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3.1 목표 대비 달성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850305"/>
                <a:gridCol w="1487115"/>
                <a:gridCol w="693987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목표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달성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근거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비표준 계측 화면의 GUI 자동화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RCS 로그인·장비 선택·캡처·닫기를 실장비에서 자동 수행. 버튼 인식+클릭 500회 중 99% 성공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이해 AI 사내 자체 배포·운영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사내 HCP 에 VLM 1종 + OCR 1종 상시 운영, 통합 API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정렬 위치 찾기 정확도 개선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 31.8% → 76.4% (오프라인 평가)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감지~보정~기록 무인 루프 · 실알람 완주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✅ / 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08월 실장비 보정 개통, 실알람 3건 감지~재조정 1분 미만. 기록은 현장 적재 확인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실전 배치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전용 PC 확보(방화벽 해제·AI용 ID 할당 진행), R3 26대 배치 준비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3.2 정량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2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85581"/>
                <a:gridCol w="1409661"/>
                <a:gridCol w="4662727"/>
                <a:gridCol w="281932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비고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1건당 대응 시간(감지 → 위치 재조정)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5분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실알람 3건 실측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첫 시도에 정답 위치를 맞춘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31.8%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76.4%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(약 2.4배)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Recipe 200개 오프라인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 가 낸 후보 안에 정답이 든 비율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43.4%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87.6%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같은 평가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화면 버튼 인식 + 클릭 성공률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단일 모델: 자주 빗나감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99%</a:t>
                      </a:r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 (500회)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현업 집계 </a:t>
                      </a:r>
                      <a:r>
                        <a:rPr sz="1300" b="1">
                          <a:solidFill>
                            <a:srgbClr val="166534"/>
                          </a:solidFill>
                          <a:latin typeface="Malgun Gothic"/>
                        </a:rPr>
                        <a:t>[검증]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주당 회수되는 장비 시간(400건)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약 27시간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400건 × 4분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추가 측정량 · 장비 환산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-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WAFER 약 100장/주 · 장비 약 0.2대 = Capex 약 4~5억 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장당 15분, 1대 약 20억 원 추산 </a:t>
                      </a:r>
                      <a:r>
                        <a:rPr sz="1300" b="1">
                          <a:solidFill>
                            <a:srgbClr val="92400E"/>
                          </a:solidFill>
                          <a:latin typeface="Malgun Gothic"/>
                        </a:rPr>
                        <a:t>[목표]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3.3 정성 성과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4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339876"/>
                <a:gridCol w="3238035"/>
                <a:gridCol w="6699383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대응 체계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인라인·엔지니어가 교대로 모니터 감시·접속·육안 탐색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감지·접속·재조정 자동, 담당자는 예외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원인 기록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없음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실패 화면 + 전 구간 녹화 + 대응 1건 = 기록 1줄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재등록 필요성 판단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화면 근거 없음, 경험에 의존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 목록을 자동 산출(SEM Recipe 104개 중 84개), 현업 대조 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보정 불가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상태 코드 한 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엔지니어 조작 지식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개인 암묵지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328"/>
                          </a:solidFill>
                          <a:latin typeface="Malgun Gothic"/>
                        </a:rPr>
                        <a:t>녹화 → 조작 타임라인 → 절차서 변환 경로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54864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2400" b="1">
                <a:solidFill>
                  <a:srgbClr val="1E3A8A"/>
                </a:solidFill>
                <a:latin typeface="Malgun Gothic"/>
              </a:rPr>
              <a:t>4.3 Operation Improvement with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11277295" cy="254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77293" cy="256032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53032"/>
                <a:gridCol w="6265163"/>
                <a:gridCol w="3759098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AI·자동화 기능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적용 지점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Malgun Gothic"/>
                        </a:rPr>
                        <a:t>무엇이 달라지나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탐지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알람을 10초마다 조회해 Align Fail만 골라 발동. 접속 후 화면에서 라이브 영역·촬영 모드·타인 점유를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24시간 모니터 감시가 자동화되고 화면 상태를 시스템이 먼저 읽음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자동 대응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RCS 접속 → 녹화 → 최근 성공 사례 기준으로 위치 계산 → 재정렬 → 확정 → 측정 재개 감시 → 종료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감지~재조정 5분 → 1분 미만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판단 지원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헷갈리는 Align Key Recipe를 재등록 검토 후보로 제시, 대응 기록의 실패 분포 집계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"무엇을 먼저 고칠지"를 감이 아니라 데이터로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이상치 필터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버튼을 못 찾거나 라벨이 다르거나 모드를 못 읽으면 클릭·보정 보류. 보정 뒤 오측이 보이면 후속 측정 중단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불확실한 조작은 하지 않음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예외 알림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AI가 진행 못하면 원인·요구 행동을 담아 담당자에게 큐브 알림. 설정 문제와 재등록 검토를 구분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담당자는 예외만 판단, 다음 행동의 근거 확보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328"/>
                          </a:solidFill>
                          <a:latin typeface="Malgun Gothic"/>
                        </a:rPr>
                        <a:t>기록·자산화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대응 1건 = 기록 1줄, 실패 화면·녹화 보존. 수동 조작 녹화 → 절차서 변환 경로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328"/>
                          </a:solidFill>
                          <a:latin typeface="Malgun Gothic"/>
                        </a:rPr>
                        <a:t>개인 경험이 기록으로 남고 개선 근거가 쌓임</a:t>
                      </a:r>
                    </a:p>
                  </a:txBody>
                  <a:tcPr marL="88900" marR="88900" marT="63500" marB="63500" anchor="ctr">
                    <a:lnL w="9525" cap="flat" cmpd="sng" algn="ctr">
                      <a:solidFill>
                        <a:srgbClr val="D0D7DE"/>
                      </a:solidFill>
                      <a:prstDash val="soli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