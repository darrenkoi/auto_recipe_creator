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9356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12021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73532" y="4367477"/>
            <a:ext cx="114745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41203" y="5160467"/>
            <a:ext cx="188565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33483" y="5416331"/>
            <a:ext cx="172622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62035" y="5808700"/>
            <a:ext cx="10262841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되면 VLM이 확정하지 않고 엔지니어에게 인폼 및 작업 요청 (녹화를 위해 추후 개선 루프 발동)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7533" y="5999170"/>
            <a:ext cx="47518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담당자가 개입하면 자동화가 양보 · 긴급 중단 단축키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1218" y="551093"/>
            <a:ext cx="1100764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UI는 VLM이 찍고 OCR이 확인 · 좌표는 CV만 결정 · AI가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42846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42846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71423" y="4075423"/>
            <a:ext cx="31266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사내 소형 AI 모델 · fail-closed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42846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9470" y="4075423"/>
            <a:ext cx="2091678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42846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4936" y="1831686"/>
            <a:ext cx="2381827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7638" y="4075423"/>
            <a:ext cx="263642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01584.0" cy="0.0"/>
          </a:xfrm>
          <a:prstGeom prst="line">
            <a:avLst/>
          </a:prstGeom>
          <a:ln w="381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39392" y="2869748"/>
            <a:ext cx="203168" cy="228564"/>
          </a:xfrm>
          <a:custGeom>
            <a:avLst/>
            <a:gdLst/>
            <a:ahLst/>
            <a:cxnLst/>
            <a:rect l="l" t="t" r="r" b="b"/>
            <a:pathLst>
              <a:path w="32" h="36">
                <a:moveTo>
                  <a:pt x="0" y="0"/>
                </a:moveTo>
                <a:lnTo>
                  <a:pt x="32" y="18"/>
                </a:lnTo>
                <a:lnTo>
                  <a:pt x="0" y="36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222020" y="4520488"/>
            <a:ext cx="5587120" cy="419034"/>
          </a:xfrm>
          <a:prstGeom prst="roundRect">
            <a:avLst>
              <a:gd name="adj" fmla="val 50000"/>
            </a:avLst>
          </a:prstGeom>
          <a:solidFill>
            <a:srgbClr val="F5F3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53016" y="4613183"/>
            <a:ext cx="6325127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6D28D9"/>
                </a:solidFill>
                <a:latin typeface="Malgun Gothic"/>
              </a:rPr>
              <a:t>AI가 못 풀면 즉시 엔지니어에게 인계 - 큐브 알림 발송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-1275768" y="5414427"/>
            <a:ext cx="1474161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VLM의 답이 낮은 CV 점수를 덮지 못한다   ② 확인 안 되면 VLM이 확정하지 않고 엔지니어에게 인폼·작업 요청   ③ 되돌릴 수 없는 확정(OK)은 담당자가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053" y="5771241"/>
            <a:ext cx="283419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실장비 실측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8455" y="5771241"/>
            <a:ext cx="3312908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Wafer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577911"/>
                <a:gridCol w="6699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계측 화면이 표준 UI가 아니어서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이미지로 위치를 찾는 VLM + OCR 확인.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달라 고정 템플릿으로 풀리지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여러 매칭 방식 종합 + 기준 이미지를 최근 성공 사례 종합으로 교체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모드별로 기준 이미지·평가 방식을 분리. 남은 실패는 Align Key 재등록 과제로 분류해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 오동작 시 측정에 영향을 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클릭하지 않고 담당자에게 알림. 점검 모드 → 반자동 → 합동 시험 →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2.5 Before / After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408742"/>
                <a:gridCol w="3613113"/>
                <a:gridCol w="525543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 구성원·엔지니어가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743125"/>
                <a:gridCol w="2285938"/>
                <a:gridCol w="624823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로그인~장비 접속~닫기를 실장비에서 자동 수행,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HCP에 AI 모델 2종(VLM 1종 + OCR 1종) 상시 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 정답률 31.8% → 76.4%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달성 (기록 현장 확인 중)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실장비에서 감지~재조정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준비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확보, R3 26대 대상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255459"/>
                <a:gridCol w="1332771"/>
                <a:gridCol w="5228564"/>
                <a:gridCol w="24605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실측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클릭 지점이 매번 어긋남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 장비 시간 · 환산(400건)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= Wafer 약 100장/주 = 장비 약 0.2대(Capex 약 4~5억 원)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573576"/>
                <a:gridCol w="2491495"/>
                <a:gridCol w="72122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구분이 어려운 Align Key Recipe 목록 자동 산출(오프라인 평가 기반, 현업과 대조 중)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5.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80893"/>
                <a:gridCol w="6904466"/>
                <a:gridCol w="299193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Fail에만 신규 발생 시 1회 발동, 접속 후 화면 상태를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성공 사례 기준 재정렬 → 확정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필터·예외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클릭·보정 보류, 보정 뒤 오측이 보이면 후속 측정 중단, 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않고 담당자는 예외만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보존, 재등록 검토 후보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개선 순서를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