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30070"/>
          </a:xfrm>
          <a:prstGeom prst="roundRect">
            <a:avLst>
              <a:gd name="adj" fmla="val 3720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93766" y="5160467"/>
            <a:ext cx="138052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물러남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474872" y="5859492"/>
            <a:ext cx="903716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된 클릭은 나가지 않는다 · 담당자가 개입하면 자동화가 양보 · 긴급 중단 단축키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92" y="5414427"/>
            <a:ext cx="1201789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된 클릭은 나가지 않는다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29633" y="179676"/>
            <a:ext cx="333081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56437" y="526967"/>
            <a:ext cx="7877204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[검증] = 벤치·테스트·실알람으로 측정한 값   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3640" y="1046315"/>
            <a:ext cx="381701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1건당 대응 시간 (감지 → 위치 재조정)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3644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5069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5711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014" y="2085011"/>
            <a:ext cx="61255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023" y="5689021"/>
            <a:ext cx="1210532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사람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4835" y="4952220"/>
            <a:ext cx="952350" cy="6349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9469" y="4624611"/>
            <a:ext cx="90308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0685" y="5689021"/>
            <a:ext cx="1500649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238055" y="5949647"/>
            <a:ext cx="492041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감지 → 위치 재조정 구간 · 실알람 3건 · 확정 대기·측정 재개 제외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2392" y="1046315"/>
            <a:ext cx="327227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7282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707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1280.0" y="2412620.0"/>
            <a:ext cx="3174500.0" cy="0.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96676" y="2255164"/>
            <a:ext cx="3921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Malgun Gothic"/>
              </a:rPr>
              <a:t>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93495" y="4577629"/>
            <a:ext cx="952350" cy="1009491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4923" y="4250020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9516" y="5689021"/>
            <a:ext cx="1320306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71215" y="3161802"/>
            <a:ext cx="952350" cy="242531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2643" y="2834193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2909" y="5689021"/>
            <a:ext cx="2668960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47857"/>
                </a:solidFill>
                <a:latin typeface="Malgun Gothic"/>
              </a:rPr>
              <a:t>최근 성공 사례 취합 (consensus)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9335" y="3682420"/>
            <a:ext cx="698390" cy="2539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3539" y="3720196"/>
            <a:ext cx="60998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0331" y="5949647"/>
            <a:ext cx="53363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Recipe 200개 오프라인 평가 · 후보 안에 정답이 든 비율 43.4% → 87.6%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370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4680" y="1046315"/>
            <a:ext cx="346045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0920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345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0766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72987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90390" y="2085011"/>
            <a:ext cx="1431318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약 33시간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8904" y="5689021"/>
            <a:ext cx="1814290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400건 × 5분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07595" y="2412620"/>
            <a:ext cx="952350" cy="2533251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7595" y="4945871"/>
            <a:ext cx="952350" cy="64124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5478" y="2085011"/>
            <a:ext cx="157658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약 6.7시간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3777" y="3415444"/>
            <a:ext cx="47998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35984" y="3623374"/>
            <a:ext cx="149557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약 27시간/주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33553" y="5689021"/>
            <a:ext cx="2300433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400건 × 1분 (가정)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7575" y="5949647"/>
            <a:ext cx="577466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≈ WAFER 약 100장/주 (장당 15분) · 장비 약 0.2대 = Capex 약 4~5억 원 절감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0331" y="6419473"/>
            <a:ext cx="916941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그 외 [검증]: 화면 버튼 인식+클릭 500회 99% · VLM·OCR 5종 비교 → 2종 상시 운영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1. 사례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833126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계측 클라이언트가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이미지를 보고 위치를 찾는 VLM 으로 전환. coarse → fine 2단계 + OCR 확인으로 클릭 신뢰도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조금씩 달라 픽셀 동일성을 가정할 수 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구조·기하 기반 매칭에 여러 매칭 방식을 종합하고, 기준 이미지를 최근 성공 사례 종합으로 바꿔 지금의 웨이퍼 외관을 따라감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대부분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모드를 화면에서 읽어 모드별로 기준 이미지와 후보 평가 방식을 바꿈. 그래도 남는 실패의 약 87%는 정답이 후보에 없는 유형이라 Align Key 재등록 권고 목록으로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영상이 계속 바뀌는 화면에서 AI가 오해 없이 정확히 눌러야 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VLM이 UI 요소와 라이브 영상 영역을 먼저 구분하고 CV가 그 안에서만 위치·이동량을 계산하는 역할 순서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된 클릭은 나가지 않는 fail-closed, 모드 불명이면 보정 보류, 잘못 열린 창은 닫고 재시도. 점검 모드(비파괴) → 반자동 → 현업 합동 시험 → 26대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2.4 소요 기간·조직 영향·확산 가능성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13006"/>
                <a:gridCol w="1998507"/>
                <a:gridCol w="75657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시기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2026-01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요구사항 정의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범위·제약·평가 지표 확정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02~03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 인프라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HCP 배포, VLM·OCR 5종 설치·비교,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03~05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자동화 PoC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coarse→fine→confirm, RCS 로그인~장비 선택 오피스 검증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05~07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CV 정확도 벤치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rank-1 31.8% → 76.4%, 촬영 모드별 재평가 채택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06~08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실시간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10초 수신, 감지~기록 end-to-end, 실장비 보정 개통(08-12)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08~09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 계층 +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Recovery Episode, 실알람 3건 1분 미만 실측, 전용 PC 확보·26대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50305"/>
                <a:gridCol w="1487115"/>
                <a:gridCol w="693987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로그인·장비 선택·캡처·닫기를 실장비에서 자동 수행. 버튼 인식+클릭 500회 중 99% 성공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배포·운영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 31.8% → 76.4% (오프라인 평가)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 ·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실장비 보정 개통, 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확보(방화벽 해제·AI용 ID 할당 진행),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85581"/>
                <a:gridCol w="1409661"/>
                <a:gridCol w="4662727"/>
                <a:gridCol w="28193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실측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 가 낸 후보 안에 정답이 든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43.4%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87.6%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같은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단일 모델: 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현업 집계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회수되는 장비 시간(400건)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400건 × 4분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 · 장비 약 0.2대 = Capex 약 4~5억 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장당 15분, 1대 약 20억 원 추산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9876"/>
                <a:gridCol w="3238035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원인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전 구간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근거 없음, 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목록을 자동 산출(SEM Recipe 104개 중 84개), 현업 대조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엔지니어 조작 지식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개인 암묵지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녹화 → 조작 타임라인 → 절차서 변환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53032"/>
                <a:gridCol w="6265163"/>
                <a:gridCol w="375909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골라 발동. 접속 후 화면에서 라이브 영역·촬영 모드·타인 점유를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감시가 자동화되고 화면 상태를 시스템이 먼저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최근 성공 사례 기준으로 위치 계산 → 재정렬 → 확정 → 측정 재개 감시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판단 지원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Recipe를 재등록 검토 후보로 제시, 대응 기록의 실패 분포 집계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"무엇을 먼저 고칠지"를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버튼을 못 찾거나 라벨이 다르거나 모드를 못 읽으면 클릭·보정 보류. 보정 뒤 오측이 보이면 후속 측정 중단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AI가 진행 못하면 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담당자는 예외만 판단, 다음 행동의 근거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보존. 수동 조작 녹화 → 절차서 변환 경로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개인 경험이 기록으로 남고 개선 근거가 쌓임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