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-659089" y="165708"/>
            <a:ext cx="13508259" cy="33776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900" b="1">
                <a:solidFill>
                  <a:srgbClr val="111827"/>
                </a:solidFill>
                <a:latin typeface="Malgun Gothic"/>
              </a:rPr>
              <a:t>Before / After : 1건 5분 걸리던 Align Fail 대응이 AI Agent 루프에서 1분 미만으로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53960" y="698390"/>
            <a:ext cx="11682160" cy="203168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6336" y="1058378"/>
            <a:ext cx="1544965" cy="408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300" b="1">
                <a:solidFill>
                  <a:srgbClr val="374151"/>
                </a:solidFill>
                <a:latin typeface="Malgun Gothic"/>
              </a:rPr>
              <a:t>Before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6336" y="1491380"/>
            <a:ext cx="1329036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4B5563"/>
                </a:solidFill>
                <a:latin typeface="Malgun Gothic"/>
              </a:rPr>
              <a:t>현업 담당자가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6336" y="1694548"/>
            <a:ext cx="1247324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4B5563"/>
                </a:solidFill>
                <a:latin typeface="Malgun Gothic"/>
              </a:rPr>
              <a:t>전 과정 수행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95170" y="952350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89293" y="1165041"/>
            <a:ext cx="1589472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11827"/>
                </a:solidFill>
                <a:latin typeface="Malgun Gothic"/>
              </a:rPr>
              <a:t>24시간 감시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69453" y="1530109"/>
            <a:ext cx="1629153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Malgun Gothic"/>
              </a:rPr>
              <a:t>교대로 화면 지켜봄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01454" y="952350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31763" y="1165041"/>
            <a:ext cx="1317100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11827"/>
                </a:solidFill>
                <a:latin typeface="Malgun Gothic"/>
              </a:rPr>
              <a:t>수동 접속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76692" y="1530109"/>
            <a:ext cx="1827242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Malgun Gothic"/>
              </a:rPr>
              <a:t>RCS 로그인·장비 탐색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07738" y="952350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98538" y="1165041"/>
            <a:ext cx="2196119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11827"/>
                </a:solidFill>
                <a:latin typeface="Malgun Gothic"/>
              </a:rPr>
              <a:t>육안 탐색·재조정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00439" y="1530109"/>
            <a:ext cx="1992316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Malgun Gothic"/>
              </a:rPr>
              <a:t>배율 바꿔가며 Key 찾기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14022" y="952350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9CA3A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60036" y="1165041"/>
            <a:ext cx="685692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11827"/>
                </a:solidFill>
                <a:latin typeface="Malgun Gothic"/>
              </a:rPr>
              <a:t>확정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63848" y="1530109"/>
            <a:ext cx="878066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B91C1C"/>
                </a:solidFill>
                <a:latin typeface="Malgun Gothic"/>
              </a:rPr>
              <a:t>기록 없음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872890.0" y="1428525.0"/>
            <a:ext cx="126980.0" cy="0.0"/>
          </a:xfrm>
          <a:prstGeom prst="line">
            <a:avLst/>
          </a:prstGeom>
          <a:ln w="1524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Freeform 19"/>
          <p:cNvSpPr/>
          <p:nvPr/>
        </p:nvSpPr>
        <p:spPr>
          <a:xfrm>
            <a:off x="3974474" y="1371384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5879174.0" y="1428525.0"/>
            <a:ext cx="126980.0" cy="0.0"/>
          </a:xfrm>
          <a:prstGeom prst="line">
            <a:avLst/>
          </a:prstGeom>
          <a:ln w="1524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eform 21"/>
          <p:cNvSpPr/>
          <p:nvPr/>
        </p:nvSpPr>
        <p:spPr>
          <a:xfrm>
            <a:off x="5980758" y="1371384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7885458.0" y="1428525.0"/>
            <a:ext cx="126980.0" cy="0.0"/>
          </a:xfrm>
          <a:prstGeom prst="line">
            <a:avLst/>
          </a:prstGeom>
          <a:ln w="1524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Freeform 23"/>
          <p:cNvSpPr/>
          <p:nvPr/>
        </p:nvSpPr>
        <p:spPr>
          <a:xfrm>
            <a:off x="7987042" y="1371384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158400" y="952350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374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16823" y="1060283"/>
            <a:ext cx="2460872" cy="5333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Malgun Gothic"/>
              </a:rPr>
              <a:t>5분 / 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15300" y="1599313"/>
            <a:ext cx="2463919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D1D5DB"/>
                </a:solidFill>
                <a:latin typeface="Malgun Gothic"/>
              </a:rPr>
              <a:t>주 400~500건 · 장비 idle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56796" y="2189135"/>
            <a:ext cx="6273319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B91C1C"/>
                </a:solidFill>
                <a:latin typeface="Malgun Gothic"/>
              </a:rPr>
              <a:t>병목 : 확인 주기 · 매 건 반복 조작 · 숙련도 편차 · 기록 없음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063360" y="2933238"/>
            <a:ext cx="4063360" cy="330148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16323" y="2982125"/>
            <a:ext cx="4757432" cy="2311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D4ED8"/>
                </a:solidFill>
                <a:latin typeface="Malgun Gothic"/>
              </a:rPr>
              <a:t>AI Agent 도입 : VLM · OCR · CV 역할 분리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095040.0" y="3276084.0"/>
            <a:ext cx="0.0" cy="76188.0"/>
          </a:xfrm>
          <a:prstGeom prst="line">
            <a:avLst/>
          </a:prstGeom>
          <a:ln>
            <a:noFill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Freeform 31"/>
          <p:cNvSpPr/>
          <p:nvPr/>
        </p:nvSpPr>
        <p:spPr>
          <a:xfrm>
            <a:off x="6018852" y="3339574"/>
            <a:ext cx="152376" cy="101584"/>
          </a:xfrm>
          <a:custGeom>
            <a:avLst/>
            <a:gdLst/>
            <a:ahLst/>
            <a:cxnLst/>
            <a:rect l="l" t="t" r="r" b="b"/>
            <a:pathLst>
              <a:path w="24" h="16">
                <a:moveTo>
                  <a:pt x="0" y="0"/>
                </a:moveTo>
                <a:lnTo>
                  <a:pt x="12" y="16"/>
                </a:lnTo>
                <a:lnTo>
                  <a:pt x="24" y="0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253960" y="3466554"/>
            <a:ext cx="11682160" cy="2793560"/>
          </a:xfrm>
          <a:prstGeom prst="roundRect">
            <a:avLst>
              <a:gd name="adj" fmla="val 3636"/>
            </a:avLst>
          </a:prstGeom>
          <a:solidFill>
            <a:srgbClr val="EFF6FF"/>
          </a:solidFill>
          <a:ln w="635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06336" y="3826542"/>
            <a:ext cx="1336147" cy="408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300" b="1">
                <a:solidFill>
                  <a:srgbClr val="1E3A8A"/>
                </a:solidFill>
                <a:latin typeface="Malgun Gothic"/>
              </a:rPr>
              <a:t>After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6336" y="4259544"/>
            <a:ext cx="1120217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E40AF"/>
                </a:solidFill>
                <a:latin typeface="Malgun Gothic"/>
              </a:rPr>
              <a:t>AI Agent가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6336" y="4462712"/>
            <a:ext cx="965873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E40AF"/>
                </a:solidFill>
                <a:latin typeface="Malgun Gothic"/>
              </a:rPr>
              <a:t>자동 수행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095170" y="3720514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325479" y="3933205"/>
            <a:ext cx="1317100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D4ED8"/>
                </a:solidFill>
                <a:latin typeface="Malgun Gothic"/>
              </a:rPr>
              <a:t>알람 감지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025013" y="4298273"/>
            <a:ext cx="1918032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374151"/>
                </a:solidFill>
                <a:latin typeface="Malgun Gothic"/>
              </a:rPr>
              <a:t>10초 폴링 · 자동 발동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101454" y="3720514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31763" y="3933205"/>
            <a:ext cx="1317100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D4ED8"/>
                </a:solidFill>
                <a:latin typeface="Malgun Gothic"/>
              </a:rPr>
              <a:t>자동 접속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97327" y="4298273"/>
            <a:ext cx="1785973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374151"/>
                </a:solidFill>
                <a:latin typeface="Malgun Gothic"/>
              </a:rPr>
              <a:t>VLM 좌표 + OCR 확인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107738" y="3720514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14242" y="3933205"/>
            <a:ext cx="1564711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47857"/>
                </a:solidFill>
                <a:latin typeface="Malgun Gothic"/>
              </a:rPr>
              <a:t>자동 재정렬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45835" y="4298273"/>
            <a:ext cx="1901525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374151"/>
                </a:solidFill>
                <a:latin typeface="Malgun Gothic"/>
              </a:rPr>
              <a:t>CV 매칭으로 좌표 결정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114022" y="3720514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344331" y="3933205"/>
            <a:ext cx="1317100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D4ED8"/>
                </a:solidFill>
                <a:latin typeface="Malgun Gothic"/>
              </a:rPr>
              <a:t>확정·기록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81007" y="4298273"/>
            <a:ext cx="1843749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374151"/>
                </a:solidFill>
                <a:latin typeface="Malgun Gothic"/>
              </a:rPr>
              <a:t>담당자 OK · 기록 1줄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3872890.0" y="4196689.0"/>
            <a:ext cx="126980.0" cy="0.0"/>
          </a:xfrm>
          <a:prstGeom prst="line">
            <a:avLst/>
          </a:prstGeom>
          <a:ln w="1524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Freeform 49"/>
          <p:cNvSpPr/>
          <p:nvPr/>
        </p:nvSpPr>
        <p:spPr>
          <a:xfrm>
            <a:off x="3974474" y="4139548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5879174.0" y="4196689.0"/>
            <a:ext cx="126980.0" cy="0.0"/>
          </a:xfrm>
          <a:prstGeom prst="line">
            <a:avLst/>
          </a:prstGeom>
          <a:ln w="1524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Freeform 51"/>
          <p:cNvSpPr/>
          <p:nvPr/>
        </p:nvSpPr>
        <p:spPr>
          <a:xfrm>
            <a:off x="5980758" y="4139548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7885458.0" y="4196689.0"/>
            <a:ext cx="126980.0" cy="0.0"/>
          </a:xfrm>
          <a:prstGeom prst="line">
            <a:avLst/>
          </a:prstGeom>
          <a:ln w="1524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Freeform 53"/>
          <p:cNvSpPr/>
          <p:nvPr/>
        </p:nvSpPr>
        <p:spPr>
          <a:xfrm>
            <a:off x="7987042" y="4139548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10158400" y="3720514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921963" y="3855112"/>
            <a:ext cx="2250593" cy="49776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Malgun Gothic"/>
              </a:rPr>
              <a:t>1분 미만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473532" y="4367477"/>
            <a:ext cx="1147454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BFDBFE"/>
                </a:solidFill>
                <a:latin typeface="Malgun Gothic"/>
              </a:rPr>
              <a:t>감지~재조정</a:t>
            </a:r>
          </a:p>
        </p:txBody>
      </p:sp>
      <p:sp>
        <p:nvSpPr>
          <p:cNvPr id="58" name="Freeform 57"/>
          <p:cNvSpPr/>
          <p:nvPr/>
        </p:nvSpPr>
        <p:spPr>
          <a:xfrm>
            <a:off x="2984030" y="4698260"/>
            <a:ext cx="4012568" cy="203168"/>
          </a:xfrm>
          <a:custGeom>
            <a:avLst/>
            <a:gdLst/>
            <a:ahLst/>
            <a:cxnLst/>
            <a:rect l="l" t="t" r="r" b="b"/>
            <a:pathLst>
              <a:path w="632" h="32">
                <a:moveTo>
                  <a:pt x="632" y="0"/>
                </a:moveTo>
                <a:lnTo>
                  <a:pt x="632" y="26"/>
                </a:lnTo>
                <a:lnTo>
                  <a:pt x="0" y="26"/>
                </a:lnTo>
                <a:lnTo>
                  <a:pt x="0" y="32"/>
                </a:lnTo>
              </a:path>
            </a:pathLst>
          </a:custGeom>
          <a:noFill/>
          <a:ln w="1524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2926889" y="4888730"/>
            <a:ext cx="114282" cy="126980"/>
          </a:xfrm>
          <a:custGeom>
            <a:avLst/>
            <a:gdLst/>
            <a:ahLst/>
            <a:cxnLst/>
            <a:rect l="l" t="t" r="r" b="b"/>
            <a:pathLst>
              <a:path w="18" h="20">
                <a:moveTo>
                  <a:pt x="0" y="0"/>
                </a:moveTo>
                <a:lnTo>
                  <a:pt x="9" y="20"/>
                </a:lnTo>
                <a:lnTo>
                  <a:pt x="18" y="0"/>
                </a:lnTo>
                <a:close/>
              </a:path>
            </a:pathLst>
          </a:cu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06336" y="5255067"/>
            <a:ext cx="926890" cy="2311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B91C1C"/>
                </a:solidFill>
                <a:latin typeface="Malgun Gothic"/>
              </a:rPr>
              <a:t>예외 시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095170" y="5053804"/>
            <a:ext cx="1777720" cy="634900"/>
          </a:xfrm>
          <a:prstGeom prst="roundRect">
            <a:avLst>
              <a:gd name="adj" fmla="val 12000"/>
            </a:avLst>
          </a:prstGeom>
          <a:solidFill>
            <a:srgbClr val="FEF2F2"/>
          </a:solidFill>
          <a:ln w="1524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041203" y="5160467"/>
            <a:ext cx="1885653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B91C1C"/>
                </a:solidFill>
                <a:latin typeface="Malgun Gothic"/>
              </a:rPr>
              <a:t>AI가 처리 안될 때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176627" y="5416331"/>
            <a:ext cx="1614804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7F1D1D"/>
                </a:solidFill>
                <a:latin typeface="Malgun Gothic"/>
              </a:rPr>
              <a:t>추측해서 누르지 않음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101454" y="5053804"/>
            <a:ext cx="1777720" cy="634900"/>
          </a:xfrm>
          <a:prstGeom prst="roundRect">
            <a:avLst>
              <a:gd name="adj" fmla="val 12000"/>
            </a:avLst>
          </a:prstGeom>
          <a:solidFill>
            <a:srgbClr val="F5F3FF"/>
          </a:solidFill>
          <a:ln w="1524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63473" y="5160467"/>
            <a:ext cx="1053680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6D28D9"/>
                </a:solidFill>
                <a:latin typeface="Malgun Gothic"/>
              </a:rPr>
              <a:t>큐브 알림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945205" y="5416331"/>
            <a:ext cx="2090217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4C1D95"/>
                </a:solidFill>
                <a:latin typeface="Malgun Gothic"/>
              </a:rPr>
              <a:t>원인 + 요구 행동 자동 발송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107738" y="5053804"/>
            <a:ext cx="1777720" cy="634900"/>
          </a:xfrm>
          <a:prstGeom prst="roundRect">
            <a:avLst>
              <a:gd name="adj" fmla="val 12000"/>
            </a:avLst>
          </a:prstGeom>
          <a:solidFill>
            <a:srgbClr val="FFF7ED"/>
          </a:solidFill>
          <a:ln w="1524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70713" y="5160467"/>
            <a:ext cx="1251768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C2410C"/>
                </a:solidFill>
                <a:latin typeface="Malgun Gothic"/>
              </a:rPr>
              <a:t>담당자 조치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133483" y="5416331"/>
            <a:ext cx="1726229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7C2D12"/>
                </a:solidFill>
                <a:latin typeface="Malgun Gothic"/>
              </a:rPr>
              <a:t>수동 정렬 · AI는 관전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114022" y="5053804"/>
            <a:ext cx="1777720" cy="6349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114529" y="5160467"/>
            <a:ext cx="1776704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1D4ED8"/>
                </a:solidFill>
                <a:latin typeface="Malgun Gothic"/>
              </a:rPr>
              <a:t>기록 → 다음 알람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336617" y="5416331"/>
            <a:ext cx="1332528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374151"/>
                </a:solidFill>
                <a:latin typeface="Malgun Gothic"/>
              </a:rPr>
              <a:t>24시간 무인 반복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3872890.0" y="5371254.0"/>
            <a:ext cx="126980.0" cy="0.0"/>
          </a:xfrm>
          <a:prstGeom prst="line">
            <a:avLst/>
          </a:prstGeom>
          <a:ln w="1524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Freeform 73"/>
          <p:cNvSpPr/>
          <p:nvPr/>
        </p:nvSpPr>
        <p:spPr>
          <a:xfrm>
            <a:off x="3974474" y="5314113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5" name="Connector 74"/>
          <p:cNvCxnSpPr/>
          <p:nvPr/>
        </p:nvCxnSpPr>
        <p:spPr>
          <a:xfrm>
            <a:off x="5879174.0" y="5371254.0"/>
            <a:ext cx="126980.0" cy="0.0"/>
          </a:xfrm>
          <a:prstGeom prst="line">
            <a:avLst/>
          </a:prstGeom>
          <a:ln w="1524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Freeform 75"/>
          <p:cNvSpPr/>
          <p:nvPr/>
        </p:nvSpPr>
        <p:spPr>
          <a:xfrm>
            <a:off x="5980758" y="5314113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7" name="Connector 76"/>
          <p:cNvCxnSpPr/>
          <p:nvPr/>
        </p:nvCxnSpPr>
        <p:spPr>
          <a:xfrm>
            <a:off x="7885458.0" y="5371254.0"/>
            <a:ext cx="126980.0" cy="0.0"/>
          </a:xfrm>
          <a:prstGeom prst="line">
            <a:avLst/>
          </a:prstGeom>
          <a:ln w="1524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Freeform 77"/>
          <p:cNvSpPr/>
          <p:nvPr/>
        </p:nvSpPr>
        <p:spPr>
          <a:xfrm>
            <a:off x="7987042" y="5314113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62035" y="5808700"/>
            <a:ext cx="10262841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1E3A8A"/>
                </a:solidFill>
                <a:latin typeface="Malgun Gothic"/>
              </a:rPr>
              <a:t>안전 원칙 : 확인 안 되면 VLM이 확정하지 않고 엔지니어에게 인폼 및 작업 요청 (녹화를 위해 추후 개선 루프 발동)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17533" y="5999170"/>
            <a:ext cx="4751845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1E3A8A"/>
                </a:solidFill>
                <a:latin typeface="Malgun Gothic"/>
              </a:rPr>
              <a:t>담당자가 개입하면 자동화가 양보 · 긴급 중단 단축키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264307" y="6419473"/>
            <a:ext cx="7661465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Malgun Gothic"/>
              </a:rPr>
              <a:t>회색 = 담당자 수행 · 파랑 = 시스템 자동 수행 (VLM·OCR 판단 포함) · 초록 = CV 매칭 엔진이 좌표 결정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02664" y="165708"/>
            <a:ext cx="6184751" cy="33776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900" b="1">
                <a:solidFill>
                  <a:srgbClr val="111827"/>
                </a:solidFill>
                <a:latin typeface="Malgun Gothic"/>
              </a:rPr>
              <a:t>AI 역할 분리 : 누가 무엇을 결정하는가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1218" y="551093"/>
            <a:ext cx="11007642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Malgun Gothic"/>
              </a:rPr>
              <a:t>한 모델에 다 맡기지 않는다 · UI는 VLM이 찍고 OCR이 확인 · 좌표는 CV만 결정 · AI가 못 푸는 것은 현업 담당자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80940" y="1015840"/>
            <a:ext cx="2666580" cy="3428460"/>
          </a:xfrm>
          <a:prstGeom prst="roundRect">
            <a:avLst>
              <a:gd name="adj" fmla="val 3333"/>
            </a:avLst>
          </a:prstGeom>
          <a:solidFill>
            <a:srgbClr val="EFF6FF"/>
          </a:solidFill>
          <a:ln w="1778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80940" y="1015840"/>
            <a:ext cx="2666580" cy="571410"/>
          </a:xfrm>
          <a:prstGeom prst="roundRect">
            <a:avLst>
              <a:gd name="adj" fmla="val 15555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8294" y="1163771"/>
            <a:ext cx="2011871" cy="3022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Malgun Gothic"/>
              </a:rPr>
              <a:t>① VLM · 이해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688" y="1831686"/>
            <a:ext cx="1837083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E3A8A"/>
                </a:solidFill>
                <a:latin typeface="Malgun Gothic"/>
              </a:rPr>
              <a:t>"어디를 볼지"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5417" y="2443095"/>
            <a:ext cx="2717625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UI 요소 위치 (2단계 정밀)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884" y="2773243"/>
            <a:ext cx="2192690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라이브 SEM 영역 검출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556" y="3103391"/>
            <a:ext cx="2539346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촬영 모드 OM / SEM 판독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1410" y="3936380"/>
            <a:ext cx="2285640" cy="444430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7135" y="4075423"/>
            <a:ext cx="2954189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1D4ED8"/>
                </a:solidFill>
                <a:latin typeface="Malgun Gothic"/>
              </a:rPr>
              <a:t>사내 소형 모델 · 외부 API 없음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01480" y="1015840"/>
            <a:ext cx="2666580" cy="3428460"/>
          </a:xfrm>
          <a:prstGeom prst="roundRect">
            <a:avLst>
              <a:gd name="adj" fmla="val 3333"/>
            </a:avLst>
          </a:prstGeom>
          <a:solidFill>
            <a:srgbClr val="FFFBEB"/>
          </a:solidFill>
          <a:ln w="1778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301480" y="1015840"/>
            <a:ext cx="2666580" cy="571410"/>
          </a:xfrm>
          <a:prstGeom prst="roundRect">
            <a:avLst>
              <a:gd name="adj" fmla="val 15555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8834" y="1163771"/>
            <a:ext cx="2011871" cy="3022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Malgun Gothic"/>
              </a:rPr>
              <a:t>② OCR · 확인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00524" y="1831686"/>
            <a:ext cx="2468491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92400E"/>
                </a:solidFill>
                <a:latin typeface="Malgun Gothic"/>
              </a:rPr>
              <a:t>"정말 그 버튼인지"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3759" y="2443095"/>
            <a:ext cx="2262021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찍은 지점의 라벨 읽기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31387" y="2773243"/>
            <a:ext cx="2806765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다른 ID · 취소 문구면 거부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94810" y="3103391"/>
            <a:ext cx="2479919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확인 못 하면 클릭 안 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91950" y="3936380"/>
            <a:ext cx="2285640" cy="444430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71423" y="4075423"/>
            <a:ext cx="3126692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B45309"/>
                </a:solidFill>
                <a:latin typeface="Malgun Gothic"/>
              </a:rPr>
              <a:t>사내 소형 AI 모델 · fail-closed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22020" y="1015840"/>
            <a:ext cx="2666580" cy="3428460"/>
          </a:xfrm>
          <a:prstGeom prst="roundRect">
            <a:avLst>
              <a:gd name="adj" fmla="val 3333"/>
            </a:avLst>
          </a:prstGeom>
          <a:solidFill>
            <a:srgbClr val="ECFDF5"/>
          </a:solidFill>
          <a:ln w="1778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22020" y="1015840"/>
            <a:ext cx="2666580" cy="571410"/>
          </a:xfrm>
          <a:prstGeom prst="roundRect">
            <a:avLst>
              <a:gd name="adj" fmla="val 15555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68748" y="1163771"/>
            <a:ext cx="2573122" cy="3022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Malgun Gothic"/>
              </a:rPr>
              <a:t>③ CV 엔진 · 정량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97258" y="1831686"/>
            <a:ext cx="2716102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65F46"/>
                </a:solidFill>
                <a:latin typeface="Malgun Gothic"/>
              </a:rPr>
              <a:t>"정확히 몇 픽셀인지"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08312" y="2443095"/>
            <a:ext cx="3093994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성공 사례 종합 vs 라이브 화면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15350" y="2773243"/>
            <a:ext cx="2479919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여러 매칭 종합 + 재순위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68869" y="3103391"/>
            <a:ext cx="2172881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최종 좌표(픽셀) 산출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12490" y="3936380"/>
            <a:ext cx="2285640" cy="444430"/>
          </a:xfrm>
          <a:prstGeom prst="roundRect">
            <a:avLst>
              <a:gd name="adj" fmla="val 50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09470" y="4075423"/>
            <a:ext cx="2091678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47857"/>
                </a:solidFill>
                <a:latin typeface="Malgun Gothic"/>
              </a:rPr>
              <a:t>정렬 좌표는 CV만 결정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142560" y="1015840"/>
            <a:ext cx="2666580" cy="3428460"/>
          </a:xfrm>
          <a:prstGeom prst="roundRect">
            <a:avLst>
              <a:gd name="adj" fmla="val 3333"/>
            </a:avLst>
          </a:prstGeom>
          <a:solidFill>
            <a:srgbClr val="FFF7ED"/>
          </a:solidFill>
          <a:ln w="1778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142560" y="1015840"/>
            <a:ext cx="2666580" cy="571410"/>
          </a:xfrm>
          <a:prstGeom prst="roundRect">
            <a:avLst>
              <a:gd name="adj" fmla="val 15555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22694" y="1163771"/>
            <a:ext cx="3106311" cy="3022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Malgun Gothic"/>
              </a:rPr>
              <a:t>④ 현업 담당자 · 예외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84936" y="1831686"/>
            <a:ext cx="2381827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9A3412"/>
                </a:solidFill>
                <a:latin typeface="Malgun Gothic"/>
              </a:rPr>
              <a:t>"AI가 못 푸는 것"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43883" y="2443095"/>
            <a:ext cx="2063932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큐브 알림 받고 판단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5890" y="2773243"/>
            <a:ext cx="2479919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수동 정렬 · 재등록 검토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31112" y="3103391"/>
            <a:ext cx="1489475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확정(OK) 누름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333030" y="3936380"/>
            <a:ext cx="2285640" cy="444430"/>
          </a:xfrm>
          <a:prstGeom prst="roundRect">
            <a:avLst>
              <a:gd name="adj" fmla="val 50000"/>
            </a:avLst>
          </a:prstGeom>
          <a:solidFill>
            <a:srgbClr val="FFED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57638" y="4075423"/>
            <a:ext cx="2636422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C2410C"/>
                </a:solidFill>
                <a:latin typeface="Malgun Gothic"/>
              </a:rPr>
              <a:t>담당자가 개입하면 AI는 양보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3047520.0" y="2984030.0"/>
            <a:ext cx="126980.0" cy="0.0"/>
          </a:xfrm>
          <a:prstGeom prst="line">
            <a:avLst/>
          </a:prstGeom>
          <a:ln w="1524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eform 40"/>
          <p:cNvSpPr/>
          <p:nvPr/>
        </p:nvSpPr>
        <p:spPr>
          <a:xfrm>
            <a:off x="3149104" y="2926889"/>
            <a:ext cx="152376" cy="114282"/>
          </a:xfrm>
          <a:custGeom>
            <a:avLst/>
            <a:gdLst/>
            <a:ahLst/>
            <a:cxnLst/>
            <a:rect l="l" t="t" r="r" b="b"/>
            <a:pathLst>
              <a:path w="24" h="18">
                <a:moveTo>
                  <a:pt x="0" y="0"/>
                </a:moveTo>
                <a:lnTo>
                  <a:pt x="24" y="9"/>
                </a:lnTo>
                <a:lnTo>
                  <a:pt x="0" y="18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5968060.0" y="2984030.0"/>
            <a:ext cx="126980.0" cy="0.0"/>
          </a:xfrm>
          <a:prstGeom prst="line">
            <a:avLst/>
          </a:prstGeom>
          <a:ln w="1524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Freeform 42"/>
          <p:cNvSpPr/>
          <p:nvPr/>
        </p:nvSpPr>
        <p:spPr>
          <a:xfrm>
            <a:off x="6069644" y="2926889"/>
            <a:ext cx="152376" cy="114282"/>
          </a:xfrm>
          <a:custGeom>
            <a:avLst/>
            <a:gdLst/>
            <a:ahLst/>
            <a:cxnLst/>
            <a:rect l="l" t="t" r="r" b="b"/>
            <a:pathLst>
              <a:path w="24" h="18">
                <a:moveTo>
                  <a:pt x="0" y="0"/>
                </a:moveTo>
                <a:lnTo>
                  <a:pt x="24" y="9"/>
                </a:lnTo>
                <a:lnTo>
                  <a:pt x="0" y="18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8888600.0" y="2984030.0"/>
            <a:ext cx="101584.0" cy="0.0"/>
          </a:xfrm>
          <a:prstGeom prst="line">
            <a:avLst/>
          </a:prstGeom>
          <a:ln w="3810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Freeform 44"/>
          <p:cNvSpPr/>
          <p:nvPr/>
        </p:nvSpPr>
        <p:spPr>
          <a:xfrm>
            <a:off x="8939392" y="2869748"/>
            <a:ext cx="203168" cy="228564"/>
          </a:xfrm>
          <a:custGeom>
            <a:avLst/>
            <a:gdLst/>
            <a:ahLst/>
            <a:cxnLst/>
            <a:rect l="l" t="t" r="r" b="b"/>
            <a:pathLst>
              <a:path w="32" h="36">
                <a:moveTo>
                  <a:pt x="0" y="0"/>
                </a:moveTo>
                <a:lnTo>
                  <a:pt x="32" y="18"/>
                </a:lnTo>
                <a:lnTo>
                  <a:pt x="0" y="36"/>
                </a:lnTo>
                <a:close/>
              </a:path>
            </a:pathLst>
          </a:cu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6222020" y="4520488"/>
            <a:ext cx="5587120" cy="419034"/>
          </a:xfrm>
          <a:prstGeom prst="roundRect">
            <a:avLst>
              <a:gd name="adj" fmla="val 50000"/>
            </a:avLst>
          </a:prstGeom>
          <a:solidFill>
            <a:srgbClr val="F5F3FF"/>
          </a:solidFill>
          <a:ln w="1905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853016" y="4613183"/>
            <a:ext cx="6325127" cy="248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6D28D9"/>
                </a:solidFill>
                <a:latin typeface="Malgun Gothic"/>
              </a:rPr>
              <a:t>AI가 못 풀면 즉시 엔지니어에게 인계 - 큐브 알림 발송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80940" y="5015710"/>
            <a:ext cx="11428200" cy="698390"/>
          </a:xfrm>
          <a:prstGeom prst="roundRect">
            <a:avLst>
              <a:gd name="adj" fmla="val 12727"/>
            </a:avLst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751750" y="5147134"/>
            <a:ext cx="2686579" cy="2311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F9FAFB"/>
                </a:solidFill>
                <a:latin typeface="Malgun Gothic"/>
              </a:rPr>
              <a:t>설계 원칙 (코드에 고정)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-1275768" y="5414427"/>
            <a:ext cx="14741616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E5E7EB"/>
                </a:solidFill>
                <a:latin typeface="Malgun Gothic"/>
              </a:rPr>
              <a:t>① VLM의 답이 낮은 CV 점수를 덮지 못한다   ② 확인 안 되면 VLM이 확정하지 않고 엔지니어에게 인폼·작업 요청   ③ 되돌릴 수 없는 확정(OK)은 담당자가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82501" y="5961711"/>
            <a:ext cx="9825077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Malgun Gothic"/>
              </a:rPr>
              <a:t>VLM 1종 + OCR 1종 상시 운영 · GPU 1~2장으로 26대 모니터링 · 모델은 벤치 결과로 교체 (통합 API 뒤라 루프는 그대로)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33703" y="165708"/>
            <a:ext cx="3722672" cy="33776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900" b="1">
                <a:solidFill>
                  <a:srgbClr val="111827"/>
                </a:solidFill>
                <a:latin typeface="Malgun Gothic"/>
              </a:rPr>
              <a:t>무엇이 얼마나 바뀌었나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83748" y="551093"/>
            <a:ext cx="8422583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Malgun Gothic"/>
              </a:rPr>
              <a:t>[검증] = 벤치·테스트·실알람 측정값     [목표] = 측정값을 주 400건에 적용한 환산값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80940" y="1015840"/>
            <a:ext cx="3682420" cy="5079200"/>
          </a:xfrm>
          <a:prstGeom prst="roundRect">
            <a:avLst>
              <a:gd name="adj" fmla="val 2758"/>
            </a:avLst>
          </a:prstGeom>
          <a:solidFill>
            <a:srgbClr val="F9FAF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49292" y="1210119"/>
            <a:ext cx="1945714" cy="248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Malgun Gothic"/>
              </a:rPr>
              <a:t>1건당 대응 시간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04700" y="1549156"/>
            <a:ext cx="634900" cy="253960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02795" y="1593599"/>
            <a:ext cx="638709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66534"/>
                </a:solidFill>
                <a:latin typeface="Malgun Gothic"/>
              </a:rPr>
              <a:t>[검증]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34900.0" y="5333160.0"/>
            <a:ext cx="3174500.0" cy="0.0"/>
          </a:xfrm>
          <a:prstGeom prst="line">
            <a:avLst/>
          </a:prstGeom>
          <a:ln w="12700">
            <a:solidFill>
              <a:srgbClr val="9CA3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825370" y="2539600"/>
            <a:ext cx="1015840" cy="2793560"/>
          </a:xfrm>
          <a:prstGeom prst="rect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591" y="2065964"/>
            <a:ext cx="995396" cy="4622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374151"/>
                </a:solidFill>
                <a:latin typeface="Malgun Gothic"/>
              </a:rPr>
              <a:t>5분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9699" y="5427125"/>
            <a:ext cx="1727181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374151"/>
                </a:solidFill>
                <a:latin typeface="Malgun Gothic"/>
              </a:rPr>
              <a:t>Before · 담당자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03090" y="4774448"/>
            <a:ext cx="1015840" cy="55871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77256" y="4300812"/>
            <a:ext cx="1467507" cy="4622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1D4ED8"/>
                </a:solidFill>
                <a:latin typeface="Malgun Gothic"/>
              </a:rPr>
              <a:t>&lt; 1분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63231" y="5427125"/>
            <a:ext cx="1895557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D4ED8"/>
                </a:solidFill>
                <a:latin typeface="Malgun Gothic"/>
              </a:rPr>
              <a:t>After · AI 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5053" y="5771241"/>
            <a:ext cx="2834193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4B5563"/>
                </a:solidFill>
                <a:latin typeface="Malgun Gothic"/>
              </a:rPr>
              <a:t>감지 → 위치 재조정 · 실장비 실측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7320" y="1015840"/>
            <a:ext cx="3682420" cy="5079200"/>
          </a:xfrm>
          <a:prstGeom prst="roundRect">
            <a:avLst>
              <a:gd name="adj" fmla="val 2758"/>
            </a:avLst>
          </a:prstGeom>
          <a:solidFill>
            <a:srgbClr val="F9FAF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49703" y="1210119"/>
            <a:ext cx="3817653" cy="248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Malgun Gothic"/>
              </a:rPr>
              <a:t>첫 시도에 정답 위치를 맞춘 비율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41080" y="1549156"/>
            <a:ext cx="634900" cy="253960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39175" y="1593599"/>
            <a:ext cx="638709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66534"/>
                </a:solidFill>
                <a:latin typeface="Malgun Gothic"/>
              </a:rPr>
              <a:t>[검증]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71280.0" y="5333160.0"/>
            <a:ext cx="3174500.0" cy="0.0"/>
          </a:xfrm>
          <a:prstGeom prst="line">
            <a:avLst/>
          </a:prstGeom>
          <a:ln w="12700">
            <a:solidFill>
              <a:srgbClr val="9CA3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4761750" y="4444300"/>
            <a:ext cx="1015840" cy="888860"/>
          </a:xfrm>
          <a:prstGeom prst="rect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14456" y="3970664"/>
            <a:ext cx="1510427" cy="4622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374151"/>
                </a:solidFill>
                <a:latin typeface="Malgun Gothic"/>
              </a:rPr>
              <a:t>31.8%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5792" y="5427125"/>
            <a:ext cx="1667755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374151"/>
                </a:solidFill>
                <a:latin typeface="Malgun Gothic"/>
              </a:rPr>
              <a:t>등록 이미지 1장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39470" y="3199896"/>
            <a:ext cx="1015840" cy="213326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92176" y="2726260"/>
            <a:ext cx="1510427" cy="4622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047857"/>
                </a:solidFill>
                <a:latin typeface="Malgun Gothic"/>
              </a:rPr>
              <a:t>76.4%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7986" y="5427125"/>
            <a:ext cx="1558806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047857"/>
                </a:solidFill>
                <a:latin typeface="Malgun Gothic"/>
              </a:rPr>
              <a:t>성공 사례 종합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745845" y="3555440"/>
            <a:ext cx="825370" cy="304752"/>
          </a:xfrm>
          <a:prstGeom prst="roundRect">
            <a:avLst>
              <a:gd name="adj" fmla="val 50000"/>
            </a:avLst>
          </a:prstGeom>
          <a:solidFill>
            <a:srgbClr val="ECFDF5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51876" y="3584645"/>
            <a:ext cx="813306" cy="248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47857"/>
                </a:solidFill>
                <a:latin typeface="Malgun Gothic"/>
              </a:rPr>
              <a:t>× 2.4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72536" y="5771241"/>
            <a:ext cx="2371986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4B5563"/>
                </a:solidFill>
                <a:latin typeface="Malgun Gothic"/>
              </a:rPr>
              <a:t>Recipe 200개 오프라인 평가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53700" y="1015840"/>
            <a:ext cx="3682420" cy="5079200"/>
          </a:xfrm>
          <a:prstGeom prst="roundRect">
            <a:avLst>
              <a:gd name="adj" fmla="val 2758"/>
            </a:avLst>
          </a:prstGeom>
          <a:solidFill>
            <a:srgbClr val="F9FAF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76308" y="1210119"/>
            <a:ext cx="4037202" cy="248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Malgun Gothic"/>
              </a:rPr>
              <a:t>주당 장비 idle 시간 (400건 기준)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777460" y="1549156"/>
            <a:ext cx="634900" cy="253960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775555" y="1593599"/>
            <a:ext cx="638709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92400E"/>
                </a:solidFill>
                <a:latin typeface="Malgun Gothic"/>
              </a:rPr>
              <a:t>[목표]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507660.0" y="5333160.0"/>
            <a:ext cx="3174500.0" cy="0.0"/>
          </a:xfrm>
          <a:prstGeom prst="line">
            <a:avLst/>
          </a:prstGeom>
          <a:ln w="12700">
            <a:solidFill>
              <a:srgbClr val="9CA3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8698130" y="2539600"/>
            <a:ext cx="1015840" cy="2793560"/>
          </a:xfrm>
          <a:prstGeom prst="rect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75727" y="2065964"/>
            <a:ext cx="1660644" cy="4622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374151"/>
                </a:solidFill>
                <a:latin typeface="Malgun Gothic"/>
              </a:rPr>
              <a:t>33시간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59226" y="5427125"/>
            <a:ext cx="2093646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374151"/>
                </a:solidFill>
                <a:latin typeface="Malgun Gothic"/>
              </a:rPr>
              <a:t>Before · 5분 × 400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475850" y="2539600"/>
            <a:ext cx="1015840" cy="2234848"/>
          </a:xfrm>
          <a:prstGeom prst="rect">
            <a:avLst/>
          </a:prstGeom>
          <a:solidFill>
            <a:srgbClr val="FFFFFF"/>
          </a:solidFill>
          <a:ln w="12700">
            <a:solidFill>
              <a:srgbClr val="2563E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475850" y="4774448"/>
            <a:ext cx="1015840" cy="55871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71475" y="2065964"/>
            <a:ext cx="1424588" cy="4622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1D4ED8"/>
                </a:solidFill>
                <a:latin typeface="Malgun Gothic"/>
              </a:rPr>
              <a:t>7시간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02296" y="3420206"/>
            <a:ext cx="1162946" cy="2311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D4ED8"/>
                </a:solidFill>
                <a:latin typeface="Malgun Gothic"/>
              </a:rPr>
              <a:t>27시간/주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686636" y="3648770"/>
            <a:ext cx="594266" cy="2311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D4ED8"/>
                </a:solidFill>
                <a:latin typeface="Malgun Gothic"/>
              </a:rPr>
              <a:t>회수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91421" y="5427125"/>
            <a:ext cx="1984697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D4ED8"/>
                </a:solidFill>
                <a:latin typeface="Malgun Gothic"/>
              </a:rPr>
              <a:t>After · 1분 × 400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38455" y="5771241"/>
            <a:ext cx="3312908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4B5563"/>
                </a:solidFill>
                <a:latin typeface="Malgun Gothic"/>
              </a:rPr>
              <a:t>≈ Wafer 100장/주 · Capex 약 4~5억 원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478332" y="6342651"/>
            <a:ext cx="7233415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Malgun Gothic"/>
              </a:rPr>
              <a:t>그 외 [검증] : 화면 버튼 인식+클릭 500회 99% · 실장비 없이 도는 자동 테스트 1,207개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2.2 AI 적용 과정과 구현한 기능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4" cy="292608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879549"/>
                <a:gridCol w="9397745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기능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구현 내용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알람 감지·사전 고지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10초 주기로 알람을 조회해 Align Fail만 선별, 신규 발생 시 1회 발동. 담당자에게 "AI가 대응 시작" 큐브 알림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RCS 자동 접속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RCS 실행·로그인·장비 목록에서 알람 장비 선택·접속. RCS가 꺼져 있거나 로그아웃 상태면 재실행·재로그인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화면 판독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라이브 SEM 영역 검출, 촬영 모드(OM/SEM) 판독, 타인 점유 여부 판별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자동 재정렬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모드에 맞는 기준 이미지(성공 사례 종합, 부족하면 등록 이미지)로 CV 매칭 → 재정렬 좌표 산출 → 화면 재조정. 첫 화면에서 못 찾으면 배율을 낮춰 주변을 격자 탐색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확정·완료 감시·종료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재조정 결과 확정(현 단계 담당자 OK, 향후 Agent) → 측정 재개 감시 → tool 창 자동 종료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예외 알림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보정 불가·모드 불명·위치 모호·타인 점유면 원인·요구 행동·매칭 점수를 담아 큐브 알림. 설정 문제와 Recipe 재등록 검토를 구분해 안내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기록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접속 즉시 상시 녹화, 실패 시점 화면 증거, 대응 1건 = 기록 1줄(시도 횟수·판정 근거·결과). 재등록 검토 후보 Recipe 목록 산출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2.3 난이도와 극복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4" cy="182880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4577911"/>
                <a:gridCol w="6699383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난이도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극복 방식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계측 화면이 표준 UI가 아니어서 기존 자동화 도구가 버튼을 인식하지 못함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화면 이미지로 위치를 찾는 VLM + OCR 확인. 클릭 성공률 99%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Align Key가 공정 변동으로 매번 달라 고정 템플릿으로 풀리지 않음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여러 매칭 방식 종합 + 기준 이미지를 최근 성공 사례 종합으로 교체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고배율 SEM 화면은 위치를 특정할 단서가 드물어 가짜 후보가 많음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촬영 모드별로 기준 이미지·평가 방식을 분리. 남은 실패는 Align Key 재등록 과제로 분류해 현업과 검토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얼라인 위치 재설정 오동작 시 측정에 영향을 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확인 안 되면 클릭하지 않고 담당자에게 알림. 점검 모드 → 반자동 → 합동 시험 → 배치의 단계적 게이트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2.5 Before / After 요약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3" cy="219456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408742"/>
                <a:gridCol w="3613113"/>
                <a:gridCol w="5255438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Before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After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1건당 대응 시간(감지 → 위치 재조정)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5분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1분 미만</a:t>
                      </a:r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 </a:t>
                      </a:r>
                      <a:r>
                        <a:rPr sz="1400" b="1">
                          <a:solidFill>
                            <a:srgbClr val="166534"/>
                          </a:solidFill>
                          <a:latin typeface="Malgun Gothic"/>
                        </a:rPr>
                        <a:t>[검증]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주당 장비 idle(400건)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약 33시간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약 6.7시간</a:t>
                      </a:r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 (약 27시간 회수) </a:t>
                      </a:r>
                      <a:r>
                        <a:rPr sz="1400" b="1">
                          <a:solidFill>
                            <a:srgbClr val="92400E"/>
                          </a:solidFill>
                          <a:latin typeface="Malgun Gothic"/>
                        </a:rPr>
                        <a:t>[목표]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추가 측정량 · 장비 환산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-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Wafer 약 100장/주</a:t>
                      </a:r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 · </a:t>
                      </a:r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장비 약 0.2대 = Capex 약 4~5억 원</a:t>
                      </a:r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 </a:t>
                      </a:r>
                      <a:r>
                        <a:rPr sz="1400" b="1">
                          <a:solidFill>
                            <a:srgbClr val="92400E"/>
                          </a:solidFill>
                          <a:latin typeface="Malgun Gothic"/>
                        </a:rPr>
                        <a:t>[목표]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24시간 대응 체계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인라인 구성원·엔지니어가 교대로 모니터 감시·접속·육안 탐색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감지·접속·재조정 자동, 담당자는 예외 판단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실패 기록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없음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대응 1건 = 기록 1줄 + 화면 증거 + 녹화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3.1 목표 대비 달성 현황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4" cy="219456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182702"/>
                <a:gridCol w="1818918"/>
                <a:gridCol w="7275674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목표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달성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근거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비표준 계측 화면의 GUI 자동화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달성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RCS 로그인~장비 접속~닫기를 실장비에서 자동 수행, 클릭 성공률 99%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화면 이해 AI 사내 자체 배포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달성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사내 HCP에 AI 모델 2종(VLM 1종 + OCR 1종) 상시 운영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정렬 위치 찾기 정확도 개선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달성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첫 시도 정답률 31.8% → 76.4%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감지~보정~기록 무인 루프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달성 (기록 현장 확인 중)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실장비에서 감지~재조정 1분 미만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실전 배치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준비 중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08월 실제 장비에서 가동 가능 확인. 상시 운영용 별도 PC 준비, PC IP 방화벽 해제, AI 전용 RCS 계정 발행 진행 중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3.2 정량 성과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4" cy="182880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255459"/>
                <a:gridCol w="1332771"/>
                <a:gridCol w="5228564"/>
                <a:gridCol w="246050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Before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After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근거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1건당 대응 시간(감지 → 위치 재조정)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5분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1분 미만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실장비 실측 </a:t>
                      </a:r>
                      <a:r>
                        <a:rPr sz="1400" b="1">
                          <a:solidFill>
                            <a:srgbClr val="166534"/>
                          </a:solidFill>
                          <a:latin typeface="Malgun Gothic"/>
                        </a:rPr>
                        <a:t>[검증]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첫 시도에 정답 위치를 맞춘 비율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31.8%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76.4%</a:t>
                      </a:r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 (약 2.4배)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Recipe 200개 오프라인 평가 </a:t>
                      </a:r>
                      <a:r>
                        <a:rPr sz="1400" b="1">
                          <a:solidFill>
                            <a:srgbClr val="166534"/>
                          </a:solidFill>
                          <a:latin typeface="Malgun Gothic"/>
                        </a:rPr>
                        <a:t>[검증]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화면 버튼 인식 + 클릭 성공률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클릭 지점이 매번 어긋남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99%</a:t>
                      </a:r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 (500회)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66534"/>
                          </a:solidFill>
                          <a:latin typeface="Malgun Gothic"/>
                        </a:rPr>
                        <a:t>[검증]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주당 회수 장비 시간 · 환산(400건)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-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약 27시간</a:t>
                      </a:r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 = Wafer 약 100장/주 = 장비 약 0.2대(Capex 약 4~5억 원)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92400E"/>
                          </a:solidFill>
                          <a:latin typeface="Malgun Gothic"/>
                        </a:rPr>
                        <a:t>[목표]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3.3 정성 성과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4" cy="182880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573576"/>
                <a:gridCol w="2491495"/>
                <a:gridCol w="7212223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Before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After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24시간 대응 체계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교대로 모니터 감시·접속·육안 탐색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감지·접속·재조정 자동, 담당자는 예외 판단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실패 기록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없음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실패 화면 + 녹화 + 대응 1건 = 기록 1줄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재등록 필요성 판단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경험에 의존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구분이 어려운 Align Key Recipe 목록 자동 산출(오프라인 평가 기반, 현업과 대조 중)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보정 불가 알림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상태 코드 한 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원인·요구 행동을 담아 담당자에게 큐브 알림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5. Operation Improvement with AI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4" cy="182880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380893"/>
                <a:gridCol w="6904466"/>
                <a:gridCol w="2991935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AI·자동화 기능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적용 지점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무엇이 달라지나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탐지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알람을 10초마다 조회해 Align Fail에만 신규 발생 시 1회 발동, 접속 후 화면 상태를 읽음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24시간 모니터 감시 자동화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자동 대응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RCS 접속 → 녹화 → 성공 사례 기준 재정렬 → 확정 → 종료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감지~재조정 5분 → 1분 미만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이상치 필터·예외 알림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확인 안 되면 클릭·보정 보류, 보정 뒤 오측이 보이면 후속 측정 중단, 원인·요구 행동을 담아 담당자에게 큐브 알림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불확실한 조작은 하지 않고 담당자는 예외만 판단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기록·자산화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대응 1건 = 기록 1줄, 실패 화면·녹화 보존, 재등록 검토 후보 산출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개선 순서를 감이 아니라 데이터로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