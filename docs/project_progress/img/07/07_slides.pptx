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51582" y="179676"/>
            <a:ext cx="1249324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Before / After : 사람이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34900"/>
            <a:ext cx="11682160" cy="19047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715532"/>
            <a:ext cx="873241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820" y="748864"/>
            <a:ext cx="1016033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Malgun Gothic"/>
              </a:rPr>
              <a:t>24시간 교대 인력이 전 과정 수행 · 감지~재조정 1건 평균 5분 = 장비 idle · 주 400~500건 (400건 환산 시 약 33시간)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336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937" y="1199326"/>
            <a:ext cx="200996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① 24시간 모니터 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389" y="1441857"/>
            <a:ext cx="246906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RCS 화면을 사람이 교대로 지켜봄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7372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104" y="1199326"/>
            <a:ext cx="220970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② RCS 실행·로그인·접속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2993" y="1441857"/>
            <a:ext cx="22239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장비 목록에서 해당 장비 탐색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8408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3837" y="1199326"/>
            <a:ext cx="21643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③ Align Key 육안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3451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배율 바꿔가며 위치 찾기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39444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1189" y="1199326"/>
            <a:ext cx="2091678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④ 화면 재조정 후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4487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위치 정밀도가 손에 좌우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50480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46774" y="1199326"/>
            <a:ext cx="70258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algun Gothic"/>
              </a:rPr>
              <a:t>⑤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2357" y="1441857"/>
            <a:ext cx="41141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14204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2628486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825240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4939522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136276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7250558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9447312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9561594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4807" y="1860891"/>
            <a:ext cx="17782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사람의 확인 주기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533" y="2038663"/>
            <a:ext cx="25507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24시간 교대 인력, 인계 구간 지연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9848" y="186089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 건 같은 조작 반복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00429" y="2038663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비표준 UI → 기존 UI 인식 도구 실패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6301" y="1860891"/>
            <a:ext cx="139938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숙련도 편차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90028" y="2038663"/>
            <a:ext cx="217192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헷갈리는 Key 는 사람도 오판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3631" y="1860891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매번 달라지는 정답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9348" y="2038663"/>
            <a:ext cx="207536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고정 좌표 스크립트로 못 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2656" y="1860891"/>
            <a:ext cx="125081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축적 없음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4667" y="2038663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실패 화면·조치 근거 없음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5317" y="2304687"/>
            <a:ext cx="729944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"화면의 의미 이해" 와 "픽셀 단위 정밀도" 가 동시에 필요 → 규칙 기반 자동화의 사각지대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5040.0" y="2564996.0"/>
            <a:ext cx="0.0" cy="279356.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6006154" y="2806258"/>
            <a:ext cx="177772" cy="126980"/>
          </a:xfrm>
          <a:custGeom>
            <a:avLst/>
            <a:gdLst/>
            <a:ahLst/>
            <a:cxnLst/>
            <a:rect l="l" t="t" r="r" b="b"/>
            <a:pathLst>
              <a:path w="28" h="20">
                <a:moveTo>
                  <a:pt x="0" y="0"/>
                </a:moveTo>
                <a:lnTo>
                  <a:pt x="14" y="20"/>
                </a:lnTo>
                <a:lnTo>
                  <a:pt x="28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49000" y="2590392"/>
            <a:ext cx="3428460" cy="27935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0470" y="2634200"/>
            <a:ext cx="40255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AI Agent 도입 : VLM + OCR + CV 역할 분리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3960" y="2984030"/>
            <a:ext cx="11682160" cy="3301480"/>
          </a:xfrm>
          <a:prstGeom prst="roundRect">
            <a:avLst>
              <a:gd name="adj" fmla="val 307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336" y="3064662"/>
            <a:ext cx="755213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350" y="3104661"/>
            <a:ext cx="1386113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40AF"/>
                </a:solidFill>
                <a:latin typeface="Malgun Gothic"/>
              </a:rPr>
              <a:t>AI 가 감지 → 접속 → 재정렬 → 확정 → 기록을 자동 수행 · 감지~재조정 1분 미만(실알람 3건) · 진행 못 하면 큐브 알림으로 담당자에게 자동 인폼 → 사이클은 멈추지 않는다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92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418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8198" y="3715434"/>
            <a:ext cx="105241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10초 주기 폴링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205" y="3867810"/>
            <a:ext cx="146839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Align Fail(9006) 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793" y="402018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신규 발생 시 1회 발동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3326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92439" y="3491632"/>
            <a:ext cx="155461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6D28D9"/>
                </a:solidFill>
                <a:latin typeface="Malgun Gothic"/>
              </a:rPr>
              <a:t>사전 고지 (큐브)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4594" y="3715434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"AI 가 대응 시작"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2057" y="3867810"/>
            <a:ext cx="143538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담당자에게 자동 알림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95931" y="4020186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장비·Recipe·알람 시각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758608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3446" y="3491632"/>
            <a:ext cx="130329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RCS 자동 접속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1084" y="3715434"/>
            <a:ext cx="15080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실행·로그인·장비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80702" y="3867810"/>
            <a:ext cx="142877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07114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접속 즉시 상시 녹화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83952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59450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화면 판독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9539" y="3715434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6619" y="3867810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촬영 모드 OM/SEM 판독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32458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타인 점유 여부 판별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09296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98131" y="3491632"/>
            <a:ext cx="1095297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21486" y="3715434"/>
            <a:ext cx="144858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기준: 성공 사례 종합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5456" y="3867810"/>
            <a:ext cx="158064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(부족하면 등록 이미지)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4596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CV 매칭 → 픽셀 좌표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3464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892806" y="3491632"/>
            <a:ext cx="956635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확정 (OK)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85492" y="3715434"/>
            <a:ext cx="11712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재조정 결과 확정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40227" y="3867810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현 단계: 담당자가 OK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63337" y="4020186"/>
            <a:ext cx="141557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향후: Agent 가 수행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998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93497" y="3491632"/>
            <a:ext cx="180594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완료 감시·종료·기록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08490" y="3715434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완료·개입 종료 감지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14" y="3867810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tool 창 자동 종료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295284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대응 1건 = 기록 1줄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98088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05707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606232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682420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231576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5307764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6856920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6933108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8482264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8558452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010760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018379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6120436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6069644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7745780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7694988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383952" y="4825240"/>
            <a:ext cx="2691976" cy="761880"/>
          </a:xfrm>
          <a:prstGeom prst="roundRect">
            <a:avLst>
              <a:gd name="adj" fmla="val 8333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98855" y="4895079"/>
            <a:ext cx="166216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91C1C"/>
                </a:solidFill>
                <a:latin typeface="Malgun Gothic"/>
              </a:rPr>
              <a:t>AI 가 진행 못할 때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91570" y="5099516"/>
            <a:ext cx="26767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보정 불가 · 촬영 모드 불명 · 위치 모호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0997" y="5251892"/>
            <a:ext cx="255788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타인 점유 · OCR 확인 실패(클릭 차단)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1814" y="5404268"/>
            <a:ext cx="203625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추측해서 누르지 않고 물러난다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253700" y="4825240"/>
            <a:ext cx="1841210" cy="761880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215288" y="4895079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Malgun Gothic"/>
              </a:rPr>
              <a:t>큐브 알림 → MI 담당자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172686" y="5099516"/>
            <a:ext cx="200323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원인 + 요구 행동 + 매칭 점수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42973" y="5251892"/>
            <a:ext cx="20626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설정 문제 vs 재등록 검토 구분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17951" y="5404268"/>
            <a:ext cx="171270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사람 개입 없이 자동 발송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259984" y="4825240"/>
            <a:ext cx="1472968" cy="761880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474897" y="4895079"/>
            <a:ext cx="104314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35857" y="509951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수동 정렬 · 점유 해제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6048" y="5251892"/>
            <a:ext cx="15608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Align Key 재등록 검토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99541" y="5404268"/>
            <a:ext cx="15938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AI 는 관전·녹화로 양보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075928.0" y="5206180.0"/>
            <a:ext cx="101584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Freeform 113"/>
          <p:cNvSpPr/>
          <p:nvPr/>
        </p:nvSpPr>
        <p:spPr>
          <a:xfrm>
            <a:off x="8164814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0094910.0" y="5206180.0"/>
            <a:ext cx="88886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 115"/>
          <p:cNvSpPr/>
          <p:nvPr/>
        </p:nvSpPr>
        <p:spPr>
          <a:xfrm>
            <a:off x="10171098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 flipV="1">
            <a:off x="10996468.0" y="4393508.0"/>
            <a:ext cx="0.0" cy="431732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Freeform 117"/>
          <p:cNvSpPr/>
          <p:nvPr/>
        </p:nvSpPr>
        <p:spPr>
          <a:xfrm>
            <a:off x="10945676" y="4304622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16"/>
                </a:moveTo>
                <a:lnTo>
                  <a:pt x="8" y="0"/>
                </a:lnTo>
                <a:lnTo>
                  <a:pt x="16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174240" y="4516043"/>
            <a:ext cx="793751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2410C"/>
                </a:solidFill>
                <a:latin typeface="Malgun Gothic"/>
              </a:rPr>
              <a:t>조치 후 기록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7920" y="4825240"/>
            <a:ext cx="4698260" cy="76188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4900" y="4895713"/>
            <a:ext cx="185993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9FAFB"/>
                </a:solidFill>
                <a:latin typeface="Malgun Gothic"/>
              </a:rPr>
              <a:t>안전 원칙 (코드에 고정)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4900" y="5086818"/>
            <a:ext cx="563486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① 확인 안 된 클릭은 나가지 않는다 (VLM 좌표 → OCR 라벨 확인 → 클릭, fail-closed)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4900" y="5239194"/>
            <a:ext cx="44925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② 예외가 나도 녹화 종료 · 창 닫기 · 팝업 정리를 순서대로 시도한다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4900" y="5391570"/>
            <a:ext cx="535754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③ 사람이 개입하면 자동화가 양보한다 · 긴급 중단 단축키 · 점유 중이면 관전 녹화</a:t>
            </a:r>
          </a:p>
        </p:txBody>
      </p:sp>
      <p:sp>
        <p:nvSpPr>
          <p:cNvPr id="125" name="Freeform 124"/>
          <p:cNvSpPr/>
          <p:nvPr/>
        </p:nvSpPr>
        <p:spPr>
          <a:xfrm>
            <a:off x="355544" y="3860192"/>
            <a:ext cx="11491690" cy="2107868"/>
          </a:xfrm>
          <a:custGeom>
            <a:avLst/>
            <a:gdLst/>
            <a:ahLst/>
            <a:cxnLst/>
            <a:rect l="l" t="t" r="r" b="b"/>
            <a:pathLst>
              <a:path w="1810" h="332">
                <a:moveTo>
                  <a:pt x="1792" y="32"/>
                </a:moveTo>
                <a:lnTo>
                  <a:pt x="1810" y="32"/>
                </a:lnTo>
                <a:lnTo>
                  <a:pt x="1810" y="332"/>
                </a:lnTo>
                <a:lnTo>
                  <a:pt x="0" y="332"/>
                </a:lnTo>
                <a:lnTo>
                  <a:pt x="0" y="0"/>
                </a:lnTo>
                <a:lnTo>
                  <a:pt x="10" y="0"/>
                </a:lnTo>
              </a:path>
            </a:pathLst>
          </a:custGeom>
          <a:noFill/>
          <a:ln w="1524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19034" y="3809400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533521" y="5765844"/>
            <a:ext cx="912303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1E3A8A"/>
                </a:solidFill>
                <a:latin typeface="Malgun Gothic"/>
              </a:rPr>
              <a:t>↻ 정상·예외 경로 모두 기록 1줄로 끝나고 tool 창을 닫은 뒤 다음 알람 대기 · 점유·실패 건은 쿨다운 후 재시도 · 24시간 무인 반복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79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0296" y="6400744"/>
            <a:ext cx="125849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사람 수행 (기존)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90470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057076" y="6400744"/>
            <a:ext cx="2731784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시스템 자동 수행 (VLM·OCR 판단 포함)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3173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469696" y="6400744"/>
            <a:ext cx="1833781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CV 매칭 엔진이 좌표 결정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504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47416" y="6400744"/>
            <a:ext cx="161629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큐브 알림 (자동 발송)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74578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898156" y="6400744"/>
            <a:ext cx="4317320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AI 가 진행 못할 때 → 알림 → 담당자 조치 → 기록 → 다음 알람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28177" y="179676"/>
            <a:ext cx="553372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53407" y="520300"/>
            <a:ext cx="1349689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4B5563"/>
                </a:solidFill>
                <a:latin typeface="Malgun Gothic"/>
              </a:rPr>
              <a:t>한 모델에 다 맡기지 않는다. UI 조작은 VLM 이 찍고 OCR 이 검증하며, 정렬 좌표는 CV 만 결정하고, AI 가 진행 못하는 예외는 큐브 알림으로 사람에게 넘긴다.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3960" y="1015840"/>
            <a:ext cx="1269800" cy="317450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7700" y="1250118"/>
            <a:ext cx="9023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74151"/>
                </a:solidFill>
                <a:latin typeface="Malgun Gothic"/>
              </a:rPr>
              <a:t>RCS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525" y="1486618"/>
            <a:ext cx="88666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캡처 이미지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923" y="1791370"/>
            <a:ext cx="97787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표준 UI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626" y="1969142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컨트롤 트리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876" y="2273894"/>
            <a:ext cx="10199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Align Key 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626" y="2451666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매번 조금씩 다름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368" y="2756418"/>
            <a:ext cx="10269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라이브 영상이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681" y="2934190"/>
            <a:ext cx="74635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계속 바뀜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77720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77720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059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① VLM  ·  이해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52" y="1383764"/>
            <a:ext cx="1285958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7398" y="169581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UI 요소 위치 (로그인·탭·장비 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7398" y="1886287"/>
            <a:ext cx="25359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전체에서 대략 → 잘라 확대해 정밀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7398" y="2076757"/>
            <a:ext cx="180051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(coarse → fine 2단계)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7398" y="2330717"/>
            <a:ext cx="218678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라이브 SEM 화면 영역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7398" y="2521187"/>
            <a:ext cx="20679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촬영 모드 OM / SEM 판독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7398" y="271165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타인 점유 팝업 · 모호 상황 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7398" y="2902127"/>
            <a:ext cx="17113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정렬 후보 영역 식별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7398" y="3670674"/>
            <a:ext cx="212843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사내 HCP 자체 배포 소형 모델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7398" y="3848446"/>
            <a:ext cx="20582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(MAI-UI 8B, 외부 API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2716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BEB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42716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9055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② OCR  · 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1363" y="1383764"/>
            <a:ext cx="216992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2400E"/>
                </a:solidFill>
                <a:latin typeface="Malgun Gothic"/>
              </a:rPr>
              <a:t>"정말 그 버튼이 맞는지"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2394" y="1695817"/>
            <a:ext cx="256563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VLM 이 찍은 지점의 라벨을 읽음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2394" y="1886287"/>
            <a:ext cx="22536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의도한 대상 ID·문구와 대조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2394" y="2140247"/>
            <a:ext cx="287762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다른 장비 ID 가 읽히면 → 클릭 거부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2394" y="2330717"/>
            <a:ext cx="30781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취소·종료 버튼으로 읽히면 → 클릭 거부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2394" y="2584677"/>
            <a:ext cx="223878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확인 못 하면 클릭하지 않음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2394" y="2775147"/>
            <a:ext cx="117653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(fail-closed)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2394" y="3670674"/>
            <a:ext cx="254937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VLM 두 단계는 독립 투표가 아니므로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2394" y="3848446"/>
            <a:ext cx="233189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별도 근거(문자)로 한 번 더 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7712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07712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5844" y="982190"/>
            <a:ext cx="2750958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③ CV 매칭 엔진  ·  정량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0688" y="1383764"/>
            <a:ext cx="190127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7390" y="1695817"/>
            <a:ext cx="31598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이미지 vs 라이브 화면 유사도 점수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7390" y="1886287"/>
            <a:ext cx="21050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= 등록 1장이 아니라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7390" y="2076757"/>
            <a:ext cx="321189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최근 성공 사례 종합(부족하면 등록 이미지)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7390" y="2330717"/>
            <a:ext cx="292961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여러 매칭 방식 종합 + 모드별 재순위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7390" y="2521187"/>
            <a:ext cx="291476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임계값은 성공/실패 점수 분포로 보정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7390" y="2775147"/>
            <a:ext cx="232049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최종 재정렬 좌표(픽셀) 산출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7390" y="3670674"/>
            <a:ext cx="20512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최종 정렬 좌표는 CV 만 결정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7390" y="3848446"/>
            <a:ext cx="33070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오프라인 벤치(Recipe 200개) 검증 변경만 반영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72708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72708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1492" y="982190"/>
            <a:ext cx="1849654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④ 사람  ·  예외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5015" y="1383764"/>
            <a:ext cx="176260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2386" y="1695817"/>
            <a:ext cx="27141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AI 가 진행 못하면 큐브 알림 수신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12386" y="188628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모드 불명 · 위치 모호 · 타인 점유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12386" y="2140247"/>
            <a:ext cx="294447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수동 정렬 · 점유 해제 · 재등록 검토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12386" y="2330717"/>
            <a:ext cx="258048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재순위로 안 풀리는 Recipe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12386" y="2584677"/>
            <a:ext cx="26027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사람이 개입하면 자동화가 물러남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12386" y="277514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현 단계: 확정(OK) 도 사람이 누름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12386" y="3670674"/>
            <a:ext cx="2345923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감지~재정렬은 무인. 확정(OK) 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2386" y="3848446"/>
            <a:ext cx="251429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현 단계 사람 → 향후 Agent 로 이관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523760.0" y="2539600.0"/>
            <a:ext cx="165074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663438" y="2482459"/>
            <a:ext cx="114282" cy="11428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0"/>
                </a:moveTo>
                <a:lnTo>
                  <a:pt x="18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164944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241132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6729940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6806128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294936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9371124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76498" y="2319289"/>
            <a:ext cx="614646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3960" y="4444300"/>
            <a:ext cx="11605972" cy="133329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4430" y="4564296"/>
            <a:ext cx="36351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9FAFB"/>
                </a:solidFill>
                <a:latin typeface="Malgun Gothic"/>
              </a:rPr>
              <a:t>설계 원칙 (2026-05 확정, 코드에 고정)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4430" y="4856985"/>
            <a:ext cx="871908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①  VLM 의 답이 낮은 CV 점수를 덮어쓰지 못한다. 반복되는 단계 전환은 VLM 이 아니라 CV 점수가 결정한다.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430" y="5110945"/>
            <a:ext cx="1207833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②  검증 대상 클릭은 확인 없이 나가지 않는다. 좌표 미검출·라벨 불일치·취소/종료 문구면 클릭 보류. 진행 못 하면 큐브 알림으로 담당자에게 넘긴다.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4430" y="5364905"/>
            <a:ext cx="1358051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③  되돌릴 수 없는 조작(확정 OK)은 현 단계에서 사람이 한다(향후 Agent 이관). 화면 이해는 소형 모델, 정밀 판정은 CV 에 분담해 GPU 1~2장으로 26대를 모니터링한다.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47473" y="6102023"/>
            <a:ext cx="90951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외부 API 의존 없음 · VLM 1종 + OCR 1종 상시 운영 · 모델은 벤치 결과로 교체하며 통합 API 뒤에서 바뀌므로 루프는 그대로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29633" y="179676"/>
            <a:ext cx="333081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56437" y="526967"/>
            <a:ext cx="7877204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[검증] = 벤치·테스트·실알람으로 측정한 값   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3640" y="1046315"/>
            <a:ext cx="381701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1건당 대응 시간 (감지 → 위치 재조정)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3644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5069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5711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014" y="2085011"/>
            <a:ext cx="61255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023" y="5689021"/>
            <a:ext cx="1210532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사람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4835" y="4952220"/>
            <a:ext cx="952350" cy="6349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9469" y="4624611"/>
            <a:ext cx="90308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0685" y="5689021"/>
            <a:ext cx="1500649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238055" y="5949647"/>
            <a:ext cx="492041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감지 → 위치 재조정 구간 · 실알람 3건 · 확정 대기·측정 재개 제외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2392" y="1046315"/>
            <a:ext cx="327227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7282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707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1280.0" y="2412620.0"/>
            <a:ext cx="3174500.0" cy="0.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96676" y="2255164"/>
            <a:ext cx="3921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Malgun Gothic"/>
              </a:rPr>
              <a:t>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93495" y="4577629"/>
            <a:ext cx="952350" cy="1009491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4923" y="4250020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9516" y="5689021"/>
            <a:ext cx="1320306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71215" y="3161802"/>
            <a:ext cx="952350" cy="242531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2643" y="2834193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909" y="5689021"/>
            <a:ext cx="266896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47857"/>
                </a:solidFill>
                <a:latin typeface="Malgun Gothic"/>
              </a:rPr>
              <a:t>최근 성공 사례 취합 (consensus)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9335" y="3682420"/>
            <a:ext cx="698390" cy="2539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3539" y="3720196"/>
            <a:ext cx="60998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0331" y="5949647"/>
            <a:ext cx="53363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Recipe 200개 오프라인 평가 · 후보 안에 정답이 든 비율 43.4% → 87.6%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370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4680" y="1046315"/>
            <a:ext cx="346045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0920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345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0766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72987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90390" y="2085011"/>
            <a:ext cx="1431318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약 33시간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8904" y="5689021"/>
            <a:ext cx="181429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400건 × 5분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07595" y="2412620"/>
            <a:ext cx="952350" cy="2533251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7595" y="4945871"/>
            <a:ext cx="952350" cy="64124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5478" y="2085011"/>
            <a:ext cx="157658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약 6.7시간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3777" y="3415444"/>
            <a:ext cx="47998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35984" y="3623374"/>
            <a:ext cx="149557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약 27시간/주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3553" y="5689021"/>
            <a:ext cx="2300433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400건 × 1분 (가정)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7575" y="5949647"/>
            <a:ext cx="577466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≈ WAFER 약 100장/주 (장당 15분) · 장비 약 0.2대 = Capex 약 4~5억 원 절감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0331" y="6419473"/>
            <a:ext cx="916941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그 외 [검증]: 화면 버튼 인식+클릭 500회 99% · VLM·OCR 5종 비교 → 2종 상시 운영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1. 사례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833126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계측 클라이언트가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이미지를 보고 위치를 찾는 VLM 으로 전환. coarse → fine 2단계 + OCR 확인으로 클릭 신뢰도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조금씩 달라 픽셀 동일성을 가정할 수 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구조·기하 기반 매칭에 여러 매칭 방식을 종합하고, 기준 이미지를 최근 성공 사례 종합으로 바꿔 지금의 웨이퍼 외관을 따라감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대부분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모드를 화면에서 읽어 모드별로 기준 이미지와 후보 평가 방식을 바꿈. 그래도 남는 실패의 약 87%는 정답이 후보에 없는 유형이라 Align Key 재등록 권고 목록으로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영상이 계속 바뀌는 화면에서 AI가 오해 없이 정확히 눌러야 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VLM이 UI 요소와 라이브 영상 영역을 먼저 구분하고 CV가 그 안에서만 위치·이동량을 계산하는 역할 순서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된 클릭은 나가지 않는 fail-closed, 모드 불명이면 보정 보류, 잘못 열린 창은 닫고 재시도. 점검 모드(비파괴) → 반자동 → 현업 합동 시험 → 26대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2.4 소요 기간·조직 영향·확산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13006"/>
                <a:gridCol w="1998507"/>
                <a:gridCol w="75657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시기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2026-01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요구사항 정의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범위·제약·평가 지표 확정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02~03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 인프라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HCP 배포, VLM·OCR 5종 설치·비교,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03~05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자동화 PoC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coarse→fine→confirm, RCS 로그인~장비 선택 오피스 검증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05~07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CV 정확도 벤치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rank-1 31.8% → 76.4%, 촬영 모드별 재평가 채택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06~08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실시간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10초 수신, 감지~기록 end-to-end, 실장비 보정 개통(08-12)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08~09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 계층 +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Recovery Episode, 실알람 3건 1분 미만 실측, 전용 PC 확보·26대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53032"/>
                <a:gridCol w="6265163"/>
                <a:gridCol w="375909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골라 발동. 접속 후 화면에서 라이브 영역·촬영 모드·타인 점유를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감시가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최근 성공 사례 기준으로 위치 계산 → 재정렬 → 확정 → 측정 재개 감시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Recipe를 재등록 검토 후보로 제시, 대응 기록의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버튼을 못 찾거나 라벨이 다르거나 모드를 못 읽으면 클릭·보정 보류. 보정 뒤 오측이 보이면 후속 측정 중단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AI가 진행 못하면 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담당자는 예외만 판단,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보존. 수동 조작 녹화 → 절차서 변환 경로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기록으로 남고 개선 근거가 쌓임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