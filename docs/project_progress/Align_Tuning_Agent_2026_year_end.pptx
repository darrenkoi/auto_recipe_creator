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이전 (등록 이미지 1장)</c:v>
                </c:pt>
              </c:strCache>
            </c:strRef>
          </c:tx>
          <c:spPr>
            <a:solidFill>
              <a:srgbClr val="A8A096"/>
            </a:solidFill>
          </c:spPr>
          <c:cat>
            <c:strRef>
              <c:f>Sheet1!$A$2:$A$3</c:f>
              <c:strCache>
                <c:ptCount val="2"/>
                <c:pt idx="0">
                  <c:v>첫 시도 정답률</c:v>
                </c:pt>
                <c:pt idx="1">
                  <c:v>후보 포함률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0.318</c:v>
                </c:pt>
                <c:pt idx="1">
                  <c:v>0.434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현재 (consensus)</c:v>
                </c:pt>
              </c:strCache>
            </c:strRef>
          </c:tx>
          <c:spPr>
            <a:solidFill>
              <a:srgbClr val="C75A3C"/>
            </a:solidFill>
          </c:spPr>
          <c:cat>
            <c:strRef>
              <c:f>Sheet1!$A$2:$A$3</c:f>
              <c:strCache>
                <c:ptCount val="2"/>
                <c:pt idx="0">
                  <c:v>첫 시도 정답률</c:v>
                </c:pt>
                <c:pt idx="1">
                  <c:v>후보 포함률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0.764</c:v>
                </c:pt>
                <c:pt idx="1">
                  <c:v>0.876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A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00250"/>
            <a:ext cx="10477500" cy="2857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A8A096"/>
                </a:solidFill>
                <a:latin typeface="맑은 고딕"/>
                <a:ea typeface="맑은 고딕"/>
                <a:cs typeface="맑은 고딕"/>
              </a:rPr>
              <a:t>ALIGN TUNING AGENT · 2026-10-21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81250"/>
            <a:ext cx="10477500" cy="7620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F8F4EC"/>
                </a:solidFill>
                <a:latin typeface="맑은 고딕"/>
                <a:ea typeface="맑은 고딕"/>
                <a:cs typeface="맑은 고딕"/>
              </a:rPr>
              <a:t>Align Tuning Agent 2026년 성과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333750"/>
            <a:ext cx="9525000" cy="857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A8A096"/>
                </a:solidFill>
                <a:latin typeface="맑은 고딕"/>
                <a:ea typeface="맑은 고딕"/>
                <a:cs typeface="맑은 고딕"/>
              </a:rPr>
              <a:t>R3 CD-SEM 의 Align Fail 을 사람 대신 감지 · 접속 · 재정렬하는 AI Agent 를 만들어, 2026년에 실장비 완전 자동 제어까지 열었습니다.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42900"/>
            <a:ext cx="11049000" cy="2857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6B635A"/>
                </a:solidFill>
                <a:latin typeface="맑은 고딕"/>
                <a:ea typeface="맑은 고딕"/>
                <a:cs typeface="맑은 고딕"/>
              </a:rPr>
              <a:t>ALIGN TUNING AGENT · 2026 성과 보고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90550"/>
            <a:ext cx="1104900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15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381125"/>
            <a:ext cx="3619500" cy="1143000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552575"/>
            <a:ext cx="323850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4EC"/>
                </a:solidFill>
                <a:latin typeface="맑은 고딕"/>
                <a:ea typeface="맑은 고딕"/>
                <a:cs typeface="맑은 고딕"/>
              </a:rPr>
              <a:t>5분 → 1분 미만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66925"/>
            <a:ext cx="3238500" cy="3810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8F4EC"/>
                </a:solidFill>
                <a:latin typeface="맑은 고딕"/>
                <a:ea typeface="맑은 고딕"/>
                <a:cs typeface="맑은 고딕"/>
              </a:rPr>
              <a:t>Align Fail 1건당 대응 시간 (실장비 실측)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6250" y="1381125"/>
            <a:ext cx="3619500" cy="114300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>
            <a:solidFill>
              <a:srgbClr val="E2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6750" y="1552575"/>
            <a:ext cx="323850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C75A3C"/>
                </a:solidFill>
                <a:latin typeface="맑은 고딕"/>
                <a:ea typeface="맑은 고딕"/>
                <a:cs typeface="맑은 고딕"/>
              </a:rPr>
              <a:t>31.8 → 76.4%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6750" y="2066925"/>
            <a:ext cx="3238500" cy="3810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635A"/>
                </a:solidFill>
                <a:latin typeface="맑은 고딕"/>
                <a:ea typeface="맑은 고딕"/>
                <a:cs typeface="맑은 고딕"/>
              </a:rPr>
              <a:t>Align Key 첫 시도 정답률 (Recipe 200개 오프라인 평가)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81125"/>
            <a:ext cx="3619500" cy="114300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>
            <a:solidFill>
              <a:srgbClr val="E2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1500" y="1552575"/>
            <a:ext cx="323850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C75A3C"/>
                </a:solidFill>
                <a:latin typeface="맑은 고딕"/>
                <a:ea typeface="맑은 고딕"/>
                <a:cs typeface="맑은 고딕"/>
              </a:rPr>
              <a:t>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2066925"/>
            <a:ext cx="3238500" cy="3810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635A"/>
                </a:solidFill>
                <a:latin typeface="맑은 고딕"/>
                <a:ea typeface="맑은 고딕"/>
                <a:cs typeface="맑은 고딕"/>
              </a:rPr>
              <a:t>화면 버튼 인식 + 클릭 성공률 (500회)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71500" y="2762250"/>
          <a:ext cx="11049000" cy="360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/>
                <a:gridCol w="1428750"/>
                <a:gridCol w="7239000"/>
              </a:tblGrid>
              <a:tr h="51435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4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</a:t>
                      </a:r>
                    </a:p>
                  </a:txBody>
                  <a:tcPr marL="95250" marR="95250">
                    <a:solidFill>
                      <a:srgbClr val="2A2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4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95250" marR="95250">
                    <a:solidFill>
                      <a:srgbClr val="2A2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8F4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95250" marR="95250">
                    <a:solidFill>
                      <a:srgbClr val="2A2622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인프라 자체 확보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중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HCP 에서 5종 평가 -&gt; MAI-UI + PaddleOCR-VL 2종 상시 운영 (외부 API 없음, GPU 1~2장)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비표준 화면 GUI 자동화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실장비 확인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RCS 로그인 · 장비 접속 · 창 닫기를 coarse -&gt; fine -&gt; OCR 확인 3단계로 자동 수행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정렬 정확도 개선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 완료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성공 이미지 합성 기준(consensus) + OM/SEM 분리 재순위로 첫 시도 정답률 2.4배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무인 대응 루프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완전 자동 개통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알람 감지 -&gt; 접속 -&gt; 재정렬 -&gt; OK 확정 -&gt; 기록 -&gt; 종료 (2026-09-15)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알람 감지 확산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 중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알람 감지를 스큐노노 실시간 알람에 적용, 인라인 교대 구성원이 실시간 대응에 활용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R3 26대 실전 배치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준비 중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전용 RCS 계정 발행 · IP 방화벽 해제 완료, Headless 제어 가능성 테스트 중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42900"/>
            <a:ext cx="11049000" cy="2857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6B635A"/>
                </a:solidFill>
                <a:latin typeface="맑은 고딕"/>
                <a:ea typeface="맑은 고딕"/>
                <a:cs typeface="맑은 고딕"/>
              </a:rPr>
              <a:t>ALIGN TUNING AGENT · 2026 성과 보고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90550"/>
            <a:ext cx="1104900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해결한 업무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15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4953000" cy="323850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>
            <a:solidFill>
              <a:srgbClr val="E2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581150"/>
            <a:ext cx="4572000" cy="2286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6B635A"/>
                </a:solidFill>
                <a:latin typeface="맑은 고딕"/>
                <a:ea typeface="맑은 고딕"/>
                <a:cs typeface="맑은 고딕"/>
              </a:rPr>
              <a:t>이전 · 사람 대응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828800"/>
            <a:ext cx="4572000" cy="5715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6B635A"/>
                </a:solidFill>
                <a:latin typeface="맑은 고딕"/>
                <a:ea typeface="맑은 고딕"/>
                <a:cs typeface="맑은 고딕"/>
              </a:rPr>
              <a:t>5분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438400"/>
            <a:ext cx="4572000" cy="2857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Align Fail 1건당 장비 idle 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819400"/>
            <a:ext cx="4572000" cy="18097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주 400~500건 발생, 교대 구성원이 RCS 모니터를 24시간 감시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접속해 배율을 바꿔가며 육안으로 Align Key 탐색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실패 화면이 남지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9750" y="2762250"/>
            <a:ext cx="952500" cy="5715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C75A3C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500" y="1428750"/>
            <a:ext cx="4953000" cy="3238500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96100" y="1581150"/>
            <a:ext cx="4572000" cy="2286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8A096"/>
                </a:solidFill>
                <a:latin typeface="맑은 고딕"/>
                <a:ea typeface="맑은 고딕"/>
                <a:cs typeface="맑은 고딕"/>
              </a:rPr>
              <a:t>현재 · AI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6100" y="1828800"/>
            <a:ext cx="4572000" cy="5715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C75A3C"/>
                </a:solidFill>
                <a:latin typeface="맑은 고딕"/>
                <a:ea typeface="맑은 고딕"/>
                <a:cs typeface="맑은 고딕"/>
              </a:rPr>
              <a:t>1분 미만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6100" y="2438400"/>
            <a:ext cx="4572000" cy="2857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8F4EC"/>
                </a:solidFill>
                <a:latin typeface="맑은 고딕"/>
                <a:ea typeface="맑은 고딕"/>
                <a:cs typeface="맑은 고딕"/>
              </a:rPr>
              <a:t>감지부터 재정렬까지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6100" y="2819400"/>
            <a:ext cx="4572000" cy="18097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F8F4EC"/>
                </a:solidFill>
                <a:latin typeface="맑은 고딕"/>
                <a:ea typeface="맑은 고딕"/>
                <a:cs typeface="맑은 고딕"/>
              </a:rPr>
              <a:t>• 10초 주기로 알람(9006) 확인 후 바로 접속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8F4EC"/>
                </a:solidFill>
                <a:latin typeface="맑은 고딕"/>
                <a:ea typeface="맑은 고딕"/>
                <a:cs typeface="맑은 고딕"/>
              </a:rPr>
              <a:t>• CV(Computer Vision, 이미지 매칭)가 좌표를 정하고 OK 까지 누름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8F4EC"/>
                </a:solidFill>
                <a:latin typeface="맑은 고딕"/>
                <a:ea typeface="맑은 고딕"/>
                <a:cs typeface="맑은 고딕"/>
              </a:rPr>
              <a:t>• 대응 1건마다 녹화 · 이미지 · 기록 1줄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953000"/>
            <a:ext cx="11049000" cy="11430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계측 화면은 표준 UI 가 아니라 일반 RPA 가 버튼을 못 찾고, Align Key 는 공정 변동으로 매번 달라 고정 템플릿으로 풀리지 않았습니다.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C75A3C"/>
                </a:solidFill>
                <a:latin typeface="맑은 고딕"/>
                <a:ea typeface="맑은 고딕"/>
                <a:cs typeface="맑은 고딕"/>
              </a:rPr>
              <a:t>VLM = "어디를 볼지" · OCR = "정말 그 버튼인지" · CV = "정확히 몇 픽셀인지" 로 역할을 나눴습니다.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42900"/>
            <a:ext cx="11049000" cy="2857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6B635A"/>
                </a:solidFill>
                <a:latin typeface="맑은 고딕"/>
                <a:ea typeface="맑은 고딕"/>
                <a:cs typeface="맑은 고딕"/>
              </a:rPr>
              <a:t>ALIGN TUNING AGENT · 2026 성과 보고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90550"/>
            <a:ext cx="1104900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올해 만든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15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5429250" cy="238125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>
            <a:solidFill>
              <a:srgbClr val="E2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562100"/>
            <a:ext cx="5048250" cy="3048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VLM 인프라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62500" y="1600200"/>
            <a:ext cx="1047750" cy="247650"/>
          </a:xfrm>
          <a:prstGeom prst="roundRect">
            <a:avLst>
              <a:gd name="adj" fmla="val 6000"/>
            </a:avLst>
          </a:prstGeom>
          <a:solidFill>
            <a:srgbClr val="F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C75A3C"/>
                </a:solidFill>
                <a:latin typeface="맑은 고딕"/>
                <a:ea typeface="맑은 고딕"/>
                <a:cs typeface="맑은 고딕"/>
              </a:rPr>
              <a:t>운영 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943100"/>
            <a:ext cx="5048250" cy="17716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오픈소스 소형 모델 5종(VLM 3 + OCR 2)을 사내 HCP 에 배포 · 평가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업무 화면 벤치로 이긴 2종만 상시 운영, 모델 교체는 측정으로 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1250" y="1428750"/>
            <a:ext cx="5429250" cy="238125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>
            <a:solidFill>
              <a:srgbClr val="E2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1750" y="1562100"/>
            <a:ext cx="5048250" cy="3048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GUI 자동화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82250" y="1600200"/>
            <a:ext cx="1047750" cy="247650"/>
          </a:xfrm>
          <a:prstGeom prst="roundRect">
            <a:avLst>
              <a:gd name="adj" fmla="val 6000"/>
            </a:avLst>
          </a:prstGeom>
          <a:solidFill>
            <a:srgbClr val="F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C75A3C"/>
                </a:solidFill>
                <a:latin typeface="맑은 고딕"/>
                <a:ea typeface="맑은 고딕"/>
                <a:cs typeface="맑은 고딕"/>
              </a:rPr>
              <a:t>실장비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0" y="1943100"/>
            <a:ext cx="5048250" cy="17716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영역 -&gt; 정밀 좌표 -&gt; OCR 확인으로 바꿔 클릭 성공률 99%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접속 전 Connection User 를 읽어 엔지니어가 쓰는 장비에는 들어가지 않음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4000500"/>
            <a:ext cx="5429250" cy="238125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>
            <a:solidFill>
              <a:srgbClr val="E2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133850"/>
            <a:ext cx="5048250" cy="3048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정렬 정확도 (CV 벤치)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2500" y="4171950"/>
            <a:ext cx="1047750" cy="247650"/>
          </a:xfrm>
          <a:prstGeom prst="roundRect">
            <a:avLst>
              <a:gd name="adj" fmla="val 6000"/>
            </a:avLst>
          </a:prstGeom>
          <a:solidFill>
            <a:srgbClr val="F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C75A3C"/>
                </a:solidFill>
                <a:latin typeface="맑은 고딕"/>
                <a:ea typeface="맑은 고딕"/>
                <a:cs typeface="맑은 고딕"/>
              </a:rPr>
              <a:t>반영 완료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514850"/>
            <a:ext cx="5048250" cy="17716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Recipe 200개 오프라인 벤치에서 A/B, 이긴 것만 실시간 루프로 이식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남은 오답의 약 87% 는 등록 위치 문제 -&gt; 재등록 대상 목록 자동 산출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1250" y="4000500"/>
            <a:ext cx="5429250" cy="238125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>
            <a:solidFill>
              <a:srgbClr val="E2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1750" y="4133850"/>
            <a:ext cx="5048250" cy="3048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실시간 대응 루프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82250" y="4171950"/>
            <a:ext cx="1047750" cy="247650"/>
          </a:xfrm>
          <a:prstGeom prst="roundRect">
            <a:avLst>
              <a:gd name="adj" fmla="val 6000"/>
            </a:avLst>
          </a:prstGeom>
          <a:solidFill>
            <a:srgbClr val="F3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C75A3C"/>
                </a:solidFill>
                <a:latin typeface="맑은 고딕"/>
                <a:ea typeface="맑은 고딕"/>
                <a:cs typeface="맑은 고딕"/>
              </a:rPr>
              <a:t>완전 자동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750" y="4514850"/>
            <a:ext cx="5048250" cy="17716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Align Key 가 화면에 없으면 배율을 낮춰 격자로 찾는 Search Around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OK 뒤 다음 측정 위치까지 이어서 보정, Cube 알림은 반드시 전달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42900"/>
            <a:ext cx="11049000" cy="2857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6B635A"/>
                </a:solidFill>
                <a:latin typeface="맑은 고딕"/>
                <a:ea typeface="맑은 고딕"/>
                <a:cs typeface="맑은 고딕"/>
              </a:rPr>
              <a:t>ALIGN TUNING AGENT · 2026 성과 보고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90550"/>
            <a:ext cx="1104900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정렬 정확도와 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15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1500" y="1333500"/>
          <a:ext cx="57150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1500" y="5238750"/>
            <a:ext cx="5715000" cy="5715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6B635A"/>
                </a:solidFill>
                <a:latin typeface="맑은 고딕"/>
                <a:ea typeface="맑은 고딕"/>
                <a:cs typeface="맑은 고딕"/>
              </a:rPr>
              <a:t>Recipe 200개 오프라인 평가 기준. 현장 자동 복구 성공률은 배치 후 건별 기록으로 집계합니다.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0" y="1428750"/>
            <a:ext cx="4953000" cy="1238250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600200"/>
            <a:ext cx="457200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4EC"/>
                </a:solidFill>
                <a:latin typeface="맑은 고딕"/>
                <a:ea typeface="맑은 고딕"/>
                <a:cs typeface="맑은 고딕"/>
              </a:rPr>
              <a:t>주 약 27시간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14550"/>
            <a:ext cx="457200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8F4EC"/>
                </a:solidFill>
                <a:latin typeface="맑은 고딕"/>
                <a:ea typeface="맑은 고딕"/>
                <a:cs typeface="맑은 고딕"/>
              </a:rPr>
              <a:t>회수 장비 시간 = Wafer 약 100장/주 추가 측정 (건당 4분 × 주 400건)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2857500"/>
            <a:ext cx="4953000" cy="28575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장비 약 0.2대(Capex 약 4~5억 원)에 해당, 배치 후 실측값으로 갱신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야간 · 주말 대응, 실패 화면과 녹화가 남아 원인 분석과 개선 순서를 데이터로 결정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버튼 좌표나 이미지를 저장하지 않아, 다른 장비군에도 프롬프트와 기준 이미지만 바꿔 적용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42900"/>
            <a:ext cx="11049000" cy="2857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6B635A"/>
                </a:solidFill>
                <a:latin typeface="맑은 고딕"/>
                <a:ea typeface="맑은 고딕"/>
                <a:cs typeface="맑은 고딕"/>
              </a:rPr>
              <a:t>ALIGN TUNING AGENT · 2026 성과 보고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90550"/>
            <a:ext cx="1104900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2026 주요 이정표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15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428750"/>
          <a:ext cx="110490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9525000"/>
              </a:tblGrid>
              <a:tr h="7239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4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95250" marR="95250">
                    <a:solidFill>
                      <a:srgbClr val="2A2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4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95250" marR="95250">
                    <a:solidFill>
                      <a:srgbClr val="2A2622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상반기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5종 사내 배포, GUI 자동화 PoC, CV 정확도 벤치 구축과 consensus 채택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07월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OM/SEM 분리 재순위를 운영에 반영 (SEM 첫 시도 정답률 약 +0.07)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08월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2종 상시 운영으로 정리, 실장비 보정 반자동 개통 (재정렬 자동 · OK 는 사람)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09월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List 점유 게이트 오피스 확인 후 완전 자동 제어 전환, 재정렬 closed-loop, OM/OM-D/SEM 모드 전환 확인, AX 업무 혁신 공모전 제출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10월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Search Around · 알람 대응 시연 영상 제작, Cube 알림 유실 방지 (디스크 outbox)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42900"/>
            <a:ext cx="11049000" cy="2857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6B635A"/>
                </a:solidFill>
                <a:latin typeface="맑은 고딕"/>
                <a:ea typeface="맑은 고딕"/>
                <a:cs typeface="맑은 고딕"/>
              </a:rPr>
              <a:t>ALIGN TUNING AGENT · 2026 성과 보고 ·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90550"/>
            <a:ext cx="1104900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개발 규모와 이후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15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1381125"/>
            <a:ext cx="3524250" cy="1143000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552575"/>
            <a:ext cx="314325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4EC"/>
                </a:solidFill>
                <a:latin typeface="맑은 고딕"/>
                <a:ea typeface="맑은 고딕"/>
                <a:cs typeface="맑은 고딕"/>
              </a:rPr>
              <a:t>108,294줄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66925"/>
            <a:ext cx="3143250" cy="3810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8F4EC"/>
                </a:solidFill>
                <a:latin typeface="맑은 고딕"/>
                <a:ea typeface="맑은 고딕"/>
                <a:cs typeface="맑은 고딕"/>
              </a:rPr>
              <a:t>Python 코드 (실시간 루프 · CV 벤치 · VLM 서빙)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8625" y="1381125"/>
            <a:ext cx="3524250" cy="114300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>
            <a:solidFill>
              <a:srgbClr val="E2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125" y="1552575"/>
            <a:ext cx="314325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C75A3C"/>
                </a:solidFill>
                <a:latin typeface="맑은 고딕"/>
                <a:ea typeface="맑은 고딕"/>
                <a:cs typeface="맑은 고딕"/>
              </a:rPr>
              <a:t>1,617건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125" y="2066925"/>
            <a:ext cx="3143250" cy="3810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635A"/>
                </a:solidFill>
                <a:latin typeface="맑은 고딕"/>
                <a:ea typeface="맑은 고딕"/>
                <a:cs typeface="맑은 고딕"/>
              </a:rPr>
              <a:t>2026년 커밋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5750" y="1381125"/>
            <a:ext cx="3714750" cy="114300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>
            <a:solidFill>
              <a:srgbClr val="E2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6250" y="1552575"/>
            <a:ext cx="3333750" cy="4762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C75A3C"/>
                </a:solidFill>
                <a:latin typeface="맑은 고딕"/>
                <a:ea typeface="맑은 고딕"/>
                <a:cs typeface="맑은 고딕"/>
              </a:rPr>
              <a:t>1,329개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0" y="2066925"/>
            <a:ext cx="3333750" cy="3810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635A"/>
                </a:solidFill>
                <a:latin typeface="맑은 고딕"/>
                <a:ea typeface="맑은 고딕"/>
                <a:cs typeface="맑은 고딕"/>
              </a:rPr>
              <a:t>실장비 없이 도는 자동 테스트 (09-26 집계)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71500" y="2762250"/>
          <a:ext cx="53340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00"/>
                <a:gridCol w="2095500"/>
              </a:tblGrid>
              <a:tr h="4953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4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5250" marR="95250">
                    <a:solidFill>
                      <a:srgbClr val="2A2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4E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줄 수</a:t>
                      </a:r>
                    </a:p>
                  </a:txBody>
                  <a:tcPr marL="95250" marR="95250">
                    <a:solidFill>
                      <a:srgbClr val="2A2622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대응 루프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77,836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CV 정확도 벤치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21,517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서빙 · 배포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5,855</a:t>
                      </a:r>
                    </a:p>
                  </a:txBody>
                  <a:tcPr marL="95250" marR="95250">
                    <a:solidFill>
                      <a:srgbClr val="FBF8F3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 머신 계층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5110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3,086</a:t>
                      </a:r>
                    </a:p>
                  </a:txBody>
                  <a:tcPr marL="95250" marR="95250">
                    <a:solidFill>
                      <a:srgbClr val="F4EFE8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191250" y="2762250"/>
            <a:ext cx="5429250" cy="314325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>
            <a:solidFill>
              <a:srgbClr val="E2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1750" y="2895600"/>
            <a:ext cx="5048250" cy="3048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이후 과제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3276600"/>
            <a:ext cx="5048250" cy="253365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[테스트 중] reverse engineering 으로 RCS 화면 없이(headless) 장비 제어 -&gt; GUI 자동화처럼 Agent 가 PC 를 점유하지 않아, 가동 중에도 엔지니어가 다른 작업 병행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AI 전용 계정 · 방화벽 완료, 상시 운영 PC 마무리 -&gt; 단일 장비 pilot -&gt; R3 26대 확대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Search Around · 다음 위치 추적을 실알람에서 검증, 건별 실측 성공률 집계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재등록 대상 Recipe 를 현업과 대조해 Align Key 재등록 추진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15110D"/>
                </a:solidFill>
                <a:latin typeface="맑은 고딕"/>
                <a:ea typeface="맑은 고딕"/>
                <a:cs typeface="맑은 고딕"/>
              </a:rPr>
              <a:t>• 2027년: VLM 이 Recipe Tuning 을 직접 수행하도록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6096000"/>
            <a:ext cx="11049000" cy="381000"/>
          </a:xfrm>
          <a:prstGeom prst="rect">
            <a:avLst/>
          </a:prstGeom>
          <a:noFill/>
        </p:spPr>
        <p:txBody>
          <a:bodyPr wrap="square" anchor="t" lIns="38100" rIns="3810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75A3C"/>
                </a:solidFill>
                <a:latin typeface="맑은 고딕"/>
                <a:ea typeface="맑은 고딕"/>
                <a:cs typeface="맑은 고딕"/>
              </a:rPr>
              <a:t>최종 목표 · 교대조의 Align Fail 대응을 Agent 가 대신 진행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