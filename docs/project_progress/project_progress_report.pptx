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프로젝트 진행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DD7E6"/>
                </a:solidFill>
                <a:latin typeface="맑은 고딕"/>
              </a:rPr>
              <a:t>AI 기반 CD-SEM / VeritySEM Recipe 자동 Setup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86A1F"/>
                </a:solidFill>
                <a:latin typeface="맑은 고딕"/>
              </a:rPr>
              <a:t>VLM 배포·운영  ·  workflow_1 / workflow_2 / workflow_3      |      목적 · PoC 방향 · 성과 · 확장성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문제 정의 &amp; PoC 핵심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수동 recipe setup의 한계 → VLM(이해)과 CV(좌표)의 역할 분리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715000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CD-SEM recipe setup을 사람이 수동으로 — 야간/주말 무인 불가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RCS는 legacy GUI(UIA 부실) → 일반 자동화로 안정 제어 어려움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Align key는 contrast·밝기·반복패턴이 매 측정마다 달라 단순 인식 불가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실패 원인 분석용 화면 증거도 사후 소실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577840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PoC 방향 — 역할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47088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VLM = '어디를 볼까' (영역 식별·모호성 설명·모드 판독)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CV(OpenCV) = '얼마나 닮았나 / 정확히 어디' (정량 점수·최종 좌표)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낮은 CV 점수를 VLM이 덮어쓰지 않음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stateless VLM의 '기억'을 CV 점수가 외부 상태로 대신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611880"/>
            <a:ext cx="11475720" cy="26517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왜 역할 분리가 핵심인가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78808"/>
            <a:ext cx="11018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전체 화면에서 클릭 좌표를 한 번에 픽셀 정확도로 맞히기 어렵다 → coarse(VLM) + fine(VLM) + 정량검증(CV)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VLM은 호출 간 기억이 없다(stateless) → '직전 위치/유사도'를 CV 점수로 외부 보존해 다음 단계로 전달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화면 이해(VLM)와 정밀 좌표(CV)를 각자 강점에 맡겨 무인 자동화 신뢰도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설계 원칙 확정 2026-05-25  •  VLM은 식별/판단, CV는 점수/좌표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전체 진행 흐름 (Workstream Timeline)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VLM 인프라(0) → GUI 자동화 증명(1) → CV 정확도(2) → 실시간 통합 루프(3)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42A55"/>
                </a:solidFill>
                <a:latin typeface="맑은 고딕"/>
              </a:rPr>
              <a:t>0. deploy_vlms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23774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오픈소스 VLM 5종 조사·선정 → 사내 HCP(H200×2)에 vLLM 설치, Flask proxy 통합 운영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2676" y="2811780"/>
            <a:ext cx="201168" cy="41148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E86A1F"/>
                </a:solidFill>
                <a:latin typeface="맑은 고딕"/>
              </a:rPr>
              <a:t>1. workflow_1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67712"/>
            <a:ext cx="23774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RCS GUI 자동화(2-stage VLM) + Align Fail 감지 + CCTV 캡처 PoC (검증 후 동결)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3036" y="2811780"/>
            <a:ext cx="201168" cy="41148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42A55"/>
                </a:solidFill>
                <a:latin typeface="맑은 고딕"/>
              </a:rPr>
              <a:t>2. workflow_2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23774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오프라인 CV 평가 벤치 — golden set으로 matching/consensus A/B·튜닝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83396" y="2811780"/>
            <a:ext cx="201168" cy="41148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51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E86A1F"/>
                </a:solidFill>
                <a:latin typeface="맑은 고딕"/>
              </a:rPr>
              <a:t>3. workflow_3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67712"/>
            <a:ext cx="23774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통합 production 실시간 align-fail 모니터링 루프 (현재 주력)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1247120" cy="16002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823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흐름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30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각 단계가 다음 단계의 전제를 만든다: 인프라 → 자동화 가능성 → 정확도 → 실시간 통합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검증된 CV 변경만 wf2(벤치)에서 wf3(production)로 bit-parity 포팅 → 회귀 위험 통제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deploy_vlms → workflow_1 → workflow_2 → workflow_3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VLM 배포·운영 — 5개 특화 모델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단일 거대 모델 대신 역할별 오픈소스 VLM을 Flask proxy로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2788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356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42A55"/>
                </a:solidFill>
                <a:latin typeface="맑은 고딕"/>
              </a:rPr>
              <a:t>Port 8001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2821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맑은 고딕"/>
              </a:rPr>
              <a:t>UI-Venus-1.5-8B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933"/>
                </a:solidFill>
                <a:latin typeface="맑은 고딕"/>
              </a:rPr>
              <a:t>메인 GUI grounding — 전체 화면 coarse bbox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325880"/>
            <a:ext cx="2788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4356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E86A1F"/>
                </a:solidFill>
                <a:latin typeface="맑은 고딕"/>
              </a:rPr>
              <a:t>Port 8002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72821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맑은 고딕"/>
              </a:rPr>
              <a:t>MAI-UI-8B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084832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933"/>
                </a:solidFill>
                <a:latin typeface="맑은 고딕"/>
              </a:rPr>
              <a:t>정밀 클릭점 — coarse crop 확대 후 픽셀 좌표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25880"/>
            <a:ext cx="2788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4356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42A55"/>
                </a:solidFill>
                <a:latin typeface="맑은 고딕"/>
              </a:rPr>
              <a:t>Port 8004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72821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맑은 고딕"/>
              </a:rPr>
              <a:t>PaddleOCR-VL-1.5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84832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933"/>
                </a:solidFill>
                <a:latin typeface="맑은 고딕"/>
              </a:rPr>
              <a:t>OCR 보조 — 텍스트·Spotting(좌표)·표 인식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325880"/>
            <a:ext cx="2788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4356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E86A1F"/>
                </a:solidFill>
                <a:latin typeface="맑은 고딕"/>
              </a:rPr>
              <a:t>Port 8005 / 8003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172821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A55"/>
                </a:solidFill>
                <a:latin typeface="맑은 고딕"/>
              </a:rPr>
              <a:t>GOT-OCR / UI-TARS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084832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933"/>
                </a:solidFill>
                <a:latin typeface="맑은 고딕"/>
              </a:rPr>
              <a:t>OCR fallback / GUI agent 대안 경로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20440"/>
            <a:ext cx="5715000" cy="27432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3931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사내 HCP 설치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87368"/>
            <a:ext cx="5257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하드웨어: H200 140 GiB × 2, 서빙: vLLM(BF16) + GOT-OCR(transformers)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GPU 0: UI-Venus + UI-TARS(auto-tune u≈0.44) → ~123 GiB(88%)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GPU 1: MAI-UI + PaddleOCR-VL + GOT-OCR → ~81 GiB(58%)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오프라인 정책(HF live pull 금지·telemetry off), prefix caching 활용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520440"/>
            <a:ext cx="5577840" cy="27432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3931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Flask Proxy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87368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서비스 레지스트리(config.py): route_slug / port / enabled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URL: {base}/api/vlm_serve/{slug}/v1/chat/completions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health: /api/vlm_serve/health — upstream /v1/models probe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클라이언트는 route_slug로 호출 → 모델 교체에 무관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대표 파이프라인: UI-Venus(coarse) → MAI-UI(fine) → PaddleOCR-VL(검증)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효율 — 단일 거대 모델(Kimi-K2) 대비 약 20배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GUI grounding + OCR 작업 표면에 특화해 하드웨어를 크게 절감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57600" cy="210312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필요 하드웨어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A55"/>
                </a:solidFill>
                <a:latin typeface="맑은 고딕"/>
              </a:rPr>
              <a:t>H200 2장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56070"/>
                </a:solidFill>
                <a:latin typeface="맑은 고딕"/>
              </a:rPr>
              <a:t>vs Kimi-K2 약 8장 → 약 4배 절감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463040"/>
            <a:ext cx="3657600" cy="210312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E86A1F"/>
                </a:solidFill>
                <a:latin typeface="맑은 고딕"/>
              </a:rPr>
              <a:t>GPU당 모델 밀도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488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A55"/>
                </a:solidFill>
                <a:latin typeface="맑은 고딕"/>
              </a:rPr>
              <a:t>2.5 모델 / H200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56070"/>
                </a:solidFill>
                <a:latin typeface="맑은 고딕"/>
              </a:rPr>
              <a:t>vs 0.125 → 약 20배 우위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463040"/>
            <a:ext cx="3657600" cy="210312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가중치 풋프린트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1488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A55"/>
                </a:solidFill>
                <a:latin typeface="맑은 고딕"/>
              </a:rPr>
              <a:t>~51 GiB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56070"/>
                </a:solidFill>
                <a:latin typeface="맑은 고딕"/>
              </a:rPr>
              <a:t>vs ~1,040 GiB → 약 20배 절감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1147572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61688"/>
            <a:ext cx="11018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본 스택은 280 GiB 중 ~205 GiB로 5개 특화 모델 서빙 — 동일 2장으로 Kimi-K2는 1개도 적재 불가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레이턴시도 불리하지 않음: 7–8B dense VLM ~80–150 tok/s/req vs MoE 32B-active ~30–60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포기하는 것은 범용 추론 능력 — '실제로 읽어야 하는 화면'에 불필요한 범용성을 의도적으로 버린 트레이드오프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근거: docs/setup_vlms/05-resource-comparison-vs-kimi-k2.md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workflow_1 — RCS GUI 자동화 + CCTV 캡처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VLM 기반 GUI 자동화 가능성 증명 (검증 후 동결)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알람 API 1~2분 폴링, ALID=9006(Align Fail)만 필터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07208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4904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Locate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UI-Venus coarse bbox → MAI-UI 정밀 클릭점(2-stage)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11496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14904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PaddleOCR-VL로 입력값 OCR 재확인(closed-loop)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15784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14904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Open DVR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Tool DVR(CCTV) 자동 오픈, Channel 4 확대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2912" y="1371600"/>
            <a:ext cx="224028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0072" y="1508760"/>
            <a:ext cx="365760" cy="365760"/>
          </a:xfrm>
          <a:prstGeom prst="ellipse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14904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2A55"/>
                </a:solidFill>
                <a:latin typeface="맑은 고딕"/>
              </a:rPr>
              <a:t>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1920240"/>
            <a:ext cx="1874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최대 8분(~4,800 프레임) 100ms 간격 저장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017520"/>
            <a:ext cx="5715000" cy="32004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3639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증명한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84448"/>
            <a:ext cx="5257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VLM coarse→fine 좌표 인식이 UIA 없이 RCS UI를 안정적으로 클릭할 만큼 견고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Align Fail 시점 챔버 영상 100% 자동 보존 → 무인 모니터링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수집 프레임을 후속 VLM 자동 진단의 학습/검증 데이터로 재활용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DPI 보정·Tool 이름 OCR 정규화·edge-trigger 중복 제거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017520"/>
            <a:ext cx="5577840" cy="32004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1363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한계 / 배운 점 → 동결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84448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GUI 화면 읽기 ≠ align key 찾기 — 정밀 매칭은 CV 영역(→ wf2/wf3)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전 단계 VLM 의존은 비용·지연·edge-case 부담 → full 자동화 경제성 한계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production 경로는 workflow_3로 이전, CCTV/초기 실험만 잔류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align_images 데이터 루트 계약(rcp/msr/captured)의 원조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Trigger: ALID=9006  •  2-stage VLM locator  •  production은 wf3로 이전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workflow_2 — 오프라인 CV 평가 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golden set으로 matching/ensemble/consensus를 객관 검증·A/B·튜닝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715000" cy="23774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3대 Golden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golden_localization — rcp 단독 localization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golden_consensus — consensus vs rcp A/B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golden_combined — production 라우팅 end-to-end + 3축 + OM/SEM 층화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지표: in_topk(recall), rank1(top 정답) · GT는 cond.txt + LOO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577840" cy="23774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핵심 CV 기법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47088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Ensemble 3채널(Canny/Scharr/orientation+Chamfer) → RRF 융합 → NCC rerank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Youden 임계: match=0.6053, adjust=0.4727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Consensus: 최근 성공 S crop을 crosshair 기준 co-register 후 median blend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ensemble_lab로 production 무수정 실험(edge_ncc 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94760"/>
            <a:ext cx="1147572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역할·원칙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61688"/>
            <a:ext cx="11018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production 엔진 무수정 — poc.workflow_3.align을 import만(반대 금지)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'가정 말고 측정' — 정책 변경 전 golden set 수치 우선 확인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벤치→프로덕션 파이프라인: 검증된 변경만 bit-parity 포팅 → 회귀 위험 통제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bench/config 분리 + [DIGEST] 한 줄 회신으로 오피스↔개발 전달 비용 최소화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동결 아님 — 활성 연구·검증 harness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핵심 발견 — Consensus 재등록으로 정렬 정확도 도약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등록 align key(rcp) 단독의 천장을 뚫은 alignment 정확도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1475720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in_topk (proposer recall)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7452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56070"/>
                </a:solidFill>
                <a:latin typeface="맑은 고딕"/>
              </a:rPr>
              <a:t>0.434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537960" y="2057400"/>
            <a:ext cx="640080" cy="411480"/>
          </a:xfrm>
          <a:prstGeom prst="rightArrow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87452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7A3C"/>
                </a:solidFill>
                <a:latin typeface="맑은 고딕"/>
              </a:rPr>
              <a:t>0.876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6596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+0.442 (약 +102%)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91840"/>
            <a:ext cx="11475720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rank1 (top 후보 정답)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0332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56070"/>
                </a:solidFill>
                <a:latin typeface="맑은 고딕"/>
              </a:rPr>
              <a:t>0.318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37960" y="3886200"/>
            <a:ext cx="640080" cy="411480"/>
          </a:xfrm>
          <a:prstGeom prst="rightArrow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70332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7A3C"/>
                </a:solidFill>
                <a:latin typeface="맑은 고딕"/>
              </a:rPr>
              <a:t>0.764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79476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+0.446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29200"/>
            <a:ext cx="11475720" cy="12344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48072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해석 &amp; 단서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96128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같은 recipe의 최근 성공 외관을 따라가는 consensus가 stale rcp를 크게 능가 (golden set 벤치, LOO A/B, min_s=3)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주의: 벤치 기준 수치 — 오피스 실데이터 라우팅 종합·OM/SEM 층화는 golden_combined [DIGEST]로 확정 예정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근거: poc/workflow_3/README.md · workflow_2 bench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workflow_3 — 실시간 Align Fail 모니터링 루프 (현재 주력)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감지 → 접속 → CV 보정 → 실패 시 알림 → 상시 녹화 → 자동 종료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103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42A55"/>
                </a:solidFill>
                <a:latin typeface="맑은 고딕"/>
              </a:rPr>
              <a:t>1. 알람 감지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1828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ALID=9006 폴링
(edge-trigger 중복 제거)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78024" y="2148840"/>
            <a:ext cx="182880" cy="36576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70048" y="1554480"/>
            <a:ext cx="2103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E86A1F"/>
                </a:solidFill>
                <a:latin typeface="맑은 고딕"/>
              </a:rPr>
              <a:t>2. RCS 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1993392"/>
            <a:ext cx="1828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tool 선택·접속
+ 상시 녹화 시작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82312" y="2148840"/>
            <a:ext cx="182880" cy="36576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74336" y="1554480"/>
            <a:ext cx="2103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42A55"/>
                </a:solidFill>
                <a:latin typeface="맑은 고딕"/>
              </a:rPr>
              <a:t>3. CV 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1993392"/>
            <a:ext cx="1828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consensus/rcp 라우팅
match → reposition+OK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86600" y="2148840"/>
            <a:ext cx="182880" cy="36576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78624" y="1554480"/>
            <a:ext cx="2103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4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E86A1F"/>
                </a:solidFill>
                <a:latin typeface="맑은 고딕"/>
              </a:rPr>
              <a:t>4. 알림·녹화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1993392"/>
            <a:ext cx="1828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실패 시 cube 알림
엔지니어 조작까지 녹화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90888" y="2148840"/>
            <a:ext cx="182880" cy="365760"/>
          </a:xfrm>
          <a:prstGeom prst="rightArrow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82912" y="1554480"/>
            <a:ext cx="2103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42A55"/>
                </a:solidFill>
                <a:latin typeface="맑은 고딕"/>
              </a:rPr>
              <a:t>5. 자동 종료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1993392"/>
            <a:ext cx="1828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6070"/>
                </a:solidFill>
                <a:latin typeface="맑은 고딕"/>
              </a:rPr>
              <a:t>engineer-done 감지 시
tool 닫고 다음 대기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18688"/>
            <a:ext cx="11475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E86A1F"/>
                </a:solidFill>
                <a:latin typeface="맑은 고딕"/>
              </a:rPr>
              <a:t>↻  다음 장비 대기 — 알람마다 반복 (cleanup은 try/finally로 보장)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023360"/>
            <a:ext cx="5715000" cy="22402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14223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회귀 위험 0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590288"/>
            <a:ext cx="5257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office 모듈 부재 시 자동 비활성 → 기존 동작 불변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consensus 부적격(부족/blur/cold)이면 modality별 rcp 폴백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ALIGN_FAIL_CONSENSUS=0 킬스위치 → 순수 rcp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실보정 2단계 게이트(SAFE_MODE=0 + DRY_RUN=0)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023360"/>
            <a:ext cx="5577840" cy="22402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4223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부가 능력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90288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상시 녹화: 변화 감지 적응 캡처(수동 조작 보존)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engineer-done: Recipe Monitor 카운터 hybrid 판독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feasibility: 모호 시 align key 재등록 권고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zoom ladder / PM dropdown: 배율 바꿔 재매칭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monitor → {rcs, align, sem_monitor, runner, vlm, util}  •  4-layer DAG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현재 상태 — 완료 vs 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코드는 완료, 오피스 활성화·캘리브레이션이 남은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5715000" cy="32918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7A3C"/>
                </a:solidFill>
                <a:latin typeface="맑은 고딕"/>
              </a:rPr>
              <a:t>✅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92808"/>
            <a:ext cx="5257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VLM 배포·운영 (H200×2, 5 모델)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workflow_1 GUI 자동화 + CCTV PoC (동결)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workflow_2 CV 평가 벤치 (활성)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wf3 루프·primary 보정·fallback search (코드)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consensus 라우팅·box-crop 템플릿 (코드)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재등록 플래깅·check-only 진단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577840" cy="32918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4475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🟡 대기 / 진행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consensus 라이브 보정 활성화 (office_success_downloader 구현)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오피스 캘리브레이션 (zoom/click 좌표, engineer-done)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SEM-box landmark crop (모델별)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align_images 루트 이전 (wf1 → wf3)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golden_combined 오피스 실행 → 정확도 확정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pilot 실보정 (dry-run 후 단일 장비)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11475720" cy="15087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873752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리스크 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21808"/>
            <a:ext cx="11018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downloader 부재→자동 비활성, cold cache→bounded sync 후 rcp 폴백, 실보정→2단계 게이트+pilot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정확도 수치는 벤치 기준 — 오피스 실데이터 [DIGEST]로 확정 예정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상세: docs/project_progress/05_status_roadmap.md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확장성 &amp;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CDD7E6"/>
                </a:solidFill>
                <a:latin typeface="맑은 고딕"/>
              </a:rPr>
              <a:t>모델·장비·데이터·정확도 네 축의 확장 경로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5715000" cy="32918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확장성 (Scalability)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92808"/>
            <a:ext cx="5257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모델: Flask proxy에 .env+모듈 1개로 6번째 추가(GPU 1 ~50 GiB 헤드룸), multi-GPU parallel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장비·recipe: consensus 이력 풀이 &lt;class&gt;/&lt;recipe&gt; 키(장비 무관) → 학습 데이터 공유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데이터 자산화: 상시 녹화 + recording_filter → interaction timeline → 모방학습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VLM ROI prior: align key 영역 grounding으로 CV 탐색 범위 축소(2-tier fallback)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577840" cy="32918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4475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86A1F"/>
                </a:solidFill>
                <a:latin typeface="맑은 고딕"/>
              </a:rPr>
              <a:t>다음 주 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1. office_success_downloader 구현 → consensus 라이브 보정 활성화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2. 오피스 캘리브레이션(zoom/click, engineer-done) 완료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3. golden_combined 오피스 실행 → OM/SEM 층화·라우팅 정확도 확정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4. pilot 장비 1대 dry-run → 실보정 단계적 전환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11475720" cy="15087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14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873752"/>
            <a:ext cx="11018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A55"/>
                </a:solidFill>
                <a:latin typeface="맑은 고딕"/>
              </a:rPr>
              <a:t>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21808"/>
            <a:ext cx="11018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VLM 인프라 → GUI 자동화 → CV 정확도 → 실시간 통합 루프까지 PoC 완주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933"/>
                </a:solidFill>
                <a:latin typeface="맑은 고딕"/>
              </a:rPr>
              <a:t>• 남은 것은 오피스 활성화·캘리브레이션과 pilot 검증 — 회귀 위험을 통제한 단계적 전개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6070"/>
                </a:solidFill>
                <a:latin typeface="맑은 고딕"/>
              </a:rPr>
              <a:t>목적 · PoC 방향 · 성과 · 확장성  — 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