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8BDF8"/>
                </a:solidFill>
                <a:latin typeface="Segoe UI"/>
              </a:defRPr>
            </a:pPr>
            <a:r>
              <a:t>GUI-Specialized VLM for CD-SEM/RCS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818CF8"/>
                </a:solidFill>
                <a:latin typeface="Segoe UI"/>
              </a:defRPr>
            </a:pPr>
            <a:r>
              <a:t>Why Kimi-VL Is Not Enough &amp; Why We Need GPU H200 x2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Benchmark-Driven Proposal for Self-Hosted GUI Agent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7171"/>
                </a:solidFill>
                <a:latin typeface="Segoe UI"/>
              </a:defRPr>
            </a:pPr>
            <a:r>
              <a:t>Problem: Kimi-VL Cannot Handle Complex Engineering UIs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30352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Segoe UI"/>
              </a:defRPr>
            </a:pPr>
            <a:r>
              <a:t>Kimi-VL Current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  34.5% accuracy on ScreenSpot-Pro benchmark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  Misses 2 out of every 3 click targets on professional UIs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  General-purpose model not trained on GUI interaction data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  Icon/widget detection near-zero on engineering software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  API-only: latency, cost, and vendor lock-in risks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  No fine-tuning possible on proprietary RCS screenshots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30352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Segoe UI"/>
              </a:defRPr>
            </a:pPr>
            <a:r>
              <a:t>Critical: Narrow-Range Element Failure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When UI elements are packed in a narrow region (&lt;20px apart),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Kimi-VL CANNOT distinguish adjacent elements: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Click coordinates drift to neighboring buttons/labels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Toolbar icon clusters produce ambiguous outputs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Tree-view / list-view rows confused at small row heights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RCS recipe editor has dense panels with &lt;10px spacing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Root cause: No GUI spatial training. General VLMs are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trained on natural images, not dense engineering UIs.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Accuracy degrades rapidly as target size decreases.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Icon-only grounding drops to &lt; 5% for general models.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Segoe UI"/>
              </a:defRPr>
            </a:pPr>
            <a:r>
              <a:t>ScreenSpot-Pro: Professional GUI Grounding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Click-point accuracy on high-resolution professional application UIs (CAD, EDA, dev tools) — closest benchmark to CD-SEM/RCS use case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9052560" cy="329184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Segoe UI"/>
              </a:defRPr>
            </a:pPr>
            <a: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46304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Segoe UI"/>
              </a:defRPr>
            </a:pPr>
            <a:r>
              <a:t>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46304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Segoe UI"/>
              </a:defRPr>
            </a:pPr>
            <a:r>
              <a:t>Params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0" y="146304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Segoe UI"/>
              </a:defRPr>
            </a:pPr>
            <a:r>
              <a:t>ScreenSpot-Pro (%)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92224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9222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MAI-UI-32B (Alibaba)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9222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GUI-Trained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79222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32B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0" y="179222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Segoe UI"/>
              </a:defRPr>
            </a:pPr>
            <a:r>
              <a:t>67.9%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121408"/>
            <a:ext cx="905256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2140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MAI-UI-8B (Alibaba)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1214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GUI-Trained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12140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212140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Segoe UI"/>
              </a:defRPr>
            </a:pPr>
            <a:r>
              <a:t>65.7%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450592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45059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Qwen3-VL-30B-A3B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45059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Segoe UI"/>
              </a:defRPr>
            </a:pPr>
            <a:r>
              <a:t>General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45059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30B MoE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245059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61.8%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2779776"/>
            <a:ext cx="905256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277977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UI-TARS-1.5-7B (ByteDance)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7797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GUI-Trained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2779776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7B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277977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61.6%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108960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10896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MAI-UI-2B (Alibaba)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310896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GUI-Trained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310896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2B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0" y="310896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Segoe UI"/>
              </a:defRPr>
            </a:pPr>
            <a:r>
              <a:t>57.4%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438144"/>
            <a:ext cx="905256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43814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Qwen3-VL-8B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343814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Segoe UI"/>
              </a:defRPr>
            </a:pPr>
            <a:r>
              <a:t>General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343814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8B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0" y="343814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Segoe UI"/>
              </a:defRPr>
            </a:pPr>
            <a:r>
              <a:t>54.6%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3767328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376732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Kimi-K2.5 (Moonshot)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376732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Segoe UI"/>
              </a:defRPr>
            </a:pPr>
            <a:r>
              <a:t>General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0" y="376732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~200B+ MoE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0" y="376732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Segoe UI"/>
              </a:defRPr>
            </a:pPr>
            <a:r>
              <a:t>52.8%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096512"/>
            <a:ext cx="905256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409651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GUI-Actor-7B (Microsoft)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409651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GUI-Trained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409651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7B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0" y="409651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923C"/>
                </a:solidFill>
                <a:latin typeface="Segoe UI"/>
              </a:defRPr>
            </a:pPr>
            <a:r>
              <a:t>44.6%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1520" y="4425696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42569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UI-TARS-72B v1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44256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GUI-Trained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52160" y="4425696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72B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0" y="442569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923C"/>
                </a:solidFill>
                <a:latin typeface="Segoe UI"/>
              </a:defRPr>
            </a:pPr>
            <a:r>
              <a:t>38.1%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" y="4754879"/>
            <a:ext cx="9052560" cy="329184"/>
          </a:xfrm>
          <a:prstGeom prst="roundRect">
            <a:avLst/>
          </a:prstGeom>
          <a:solidFill>
            <a:srgbClr val="3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4754879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Segoe UI"/>
              </a:defRPr>
            </a:pPr>
            <a:r>
              <a:t>Kimi-VL / MoonViT (CURRENT)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80560" y="4754879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Segoe UI"/>
              </a:defRPr>
            </a:pPr>
            <a:r>
              <a:t>General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160" y="4754879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~3.9B MoE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98080" y="4754879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Segoe UI"/>
              </a:defRPr>
            </a:pPr>
            <a:r>
              <a:t>34.5%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5084064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50840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OS-Atlas-7B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80560" y="508406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GUI-Trained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52160" y="508406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7B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98080" y="508406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" y="5413248"/>
            <a:ext cx="905256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541324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Claude Computer Use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80560" y="541324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Segoe UI"/>
              </a:defRPr>
            </a:pPr>
            <a:r>
              <a:t>General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52160" y="541324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~200B+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98080" y="54132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1520" y="5742431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2960" y="5742431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GPT-4o (OpenAI)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80560" y="5742431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Segoe UI"/>
              </a:defRPr>
            </a:pPr>
            <a:r>
              <a:t>General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52160" y="5742431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~200B+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98080" y="5742431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326880" y="1463040"/>
            <a:ext cx="256032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41832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Segoe UI"/>
              </a:defRPr>
            </a:pPr>
            <a:r>
              <a:t>Key Insight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2011680"/>
            <a:ext cx="2377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Kimi-VL: 34.5%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UI-TARS-1.5-7B: 61.6%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+78% improvement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with a 7B model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GUI-trained 7B models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outperform general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200B+ models on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professional UIs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Segoe UI"/>
              </a:defRPr>
            </a:pPr>
            <a:r>
              <a:t>End-to-End Agent Benchmarks: Multi-Step Desktop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OSWorld &amp; WindowsAgentArena directly test Windows desktop automation — same environment as RCS/CD-SEM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554480"/>
            <a:ext cx="10515600" cy="329184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55448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OSWorld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59" y="15544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WinAgentArena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59" y="15544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AndroidWorld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59" y="155448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Mind2Web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883664"/>
            <a:ext cx="1051560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8366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2E8F0"/>
                </a:solidFill>
                <a:latin typeface="Segoe UI"/>
              </a:defRPr>
            </a:pPr>
            <a:r>
              <a:t>UI-TARS-2 (ByteDance)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88366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Segoe UI"/>
              </a:defRPr>
            </a:pPr>
            <a:r>
              <a:t>47.5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59" y="188366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Segoe UI"/>
              </a:defRPr>
            </a:pPr>
            <a:r>
              <a:t>50.6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59" y="188366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Segoe UI"/>
              </a:defRPr>
            </a:pPr>
            <a:r>
              <a:t>73.3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59" y="188366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Segoe UI"/>
              </a:defRPr>
            </a:pPr>
            <a:r>
              <a:t>88.2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212848"/>
            <a:ext cx="1051560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21284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2E8F0"/>
                </a:solidFill>
                <a:latin typeface="Segoe UI"/>
              </a:defRPr>
            </a:pPr>
            <a:r>
              <a:t>Claude 4 Sonnet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21284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43.9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59" y="221284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59" y="221284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59" y="221284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2542032"/>
            <a:ext cx="1051560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254203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2E8F0"/>
                </a:solidFill>
                <a:latin typeface="Segoe UI"/>
              </a:defRPr>
            </a:pPr>
            <a:r>
              <a:t>OpenAI CUA-o3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254203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42.9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54203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59" y="254203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Segoe UI"/>
              </a:defRPr>
            </a:pPr>
            <a:r>
              <a:t>52.5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254203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Segoe UI"/>
              </a:defRPr>
            </a:pPr>
            <a:r>
              <a:t>71.0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2871215"/>
            <a:ext cx="1051560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2871215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2E8F0"/>
                </a:solidFill>
                <a:latin typeface="Segoe UI"/>
              </a:defRPr>
            </a:pPr>
            <a:r>
              <a:t>UI-TARS-1.5 (ByteDance)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2871215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42.5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59" y="2871215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42.1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59" y="2871215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Segoe UI"/>
              </a:defRPr>
            </a:pPr>
            <a:r>
              <a:t>64.2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59" y="2871215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Segoe UI"/>
              </a:defRPr>
            </a:pPr>
            <a:r>
              <a:t>75.8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3200400"/>
            <a:ext cx="1051560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32004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2E8F0"/>
                </a:solidFill>
                <a:latin typeface="Segoe UI"/>
              </a:defRPr>
            </a:pPr>
            <a:r>
              <a:t>Qwen3-VL-32B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320040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59" y="32004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59" y="32004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Segoe UI"/>
              </a:defRPr>
            </a:pPr>
            <a:r>
              <a:t>63.7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59" y="320040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" y="3840480"/>
            <a:ext cx="1033272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7280" y="39319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Why This Matters for RCS Automation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4389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  UI-TARS-2 leads both OSWorld (47.5%) and WindowsAgentArena (50.6%) — direct Windows desktop benchmarks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  These models can autonomously navigate complex multi-step workflows: launch app → find controls → click → type → verify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  Exactly the capability needed for RCS recipe creation: login → switch tabs → select tools → configure parameters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  Open-source &amp; self-hostable via vLLM — no API cost, no vendor dependency, full data privacy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Segoe UI"/>
              </a:defRPr>
            </a:pPr>
            <a:r>
              <a:t>GPU Resource Requirement: H200 x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30352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NVIDIA H200 SXM Specifications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  HBM3e Memory: 141 GB per GPU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  Memory Bandwidth: 4.8 TB/s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  FP16 Throughput: 989 TFLOPS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  2x H200 Total: 282 GB VRAM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9509760" cy="320040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Segoe UI"/>
              </a:defRPr>
            </a:pPr>
            <a: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657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Segoe UI"/>
              </a:defRPr>
            </a:pPr>
            <a:r>
              <a:t>FP16 VRAM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657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Segoe UI"/>
              </a:defRPr>
            </a:pPr>
            <a:r>
              <a:t>INT8 VRAM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657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Segoe UI"/>
              </a:defRPr>
            </a:pPr>
            <a:r>
              <a:t>2x H200 Deployment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950976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UI-TARS-1.5-7B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9776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14 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776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7 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9776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Multi-model + large batch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97680"/>
            <a:ext cx="950976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MAI-UI-8B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297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16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297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8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297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Multi-model + large batch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617720"/>
            <a:ext cx="950976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17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GUI-Actor-7B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617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14 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617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7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617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Multi-model + large batch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937760"/>
            <a:ext cx="950976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UI-TARS-1.5-72B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144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72 GB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Requires 2x H200 (FP16)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257800"/>
            <a:ext cx="950976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57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MAI-UI-32B (SOTA)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5257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64 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5257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32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Comfortable on 1x H200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5577840"/>
            <a:ext cx="950976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577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Segoe UI"/>
              </a:defRPr>
            </a:pPr>
            <a:r>
              <a:t>Qwen3-VL-30B-A3B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5577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60 GB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5577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30 GB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577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Comfortable on 1x H200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Segoe UI"/>
              </a:defRPr>
            </a:pPr>
            <a:r>
              <a:t>Why 2x H200 (Not 1x)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173736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1. Multi-Model A/B Testing: Run UI-TARS + MAI-UI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   simultaneously for comparison and automatic fallback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2. 72B Model Access: Larger models need &gt;141GB total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   for comfortable FP16 serving with batch inference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3. Concurrent Sessions: Multiple RCS automation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   workflows need parallel GPU inference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4. Fine-Tuning: Training on proprietary CD-SEM/RCS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   screenshots requires 2-4x inference memory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5. Future-Proofing: Next-gen models trend larger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Segoe UI"/>
              </a:defRPr>
            </a:pPr>
            <a:r>
              <a:t>Cost-Benefit Analysis: API vs Self-Hosted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30352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Segoe UI"/>
              </a:defRPr>
            </a:pPr>
            <a:r>
              <a:t>Current: Cloud API (Kimi-VL)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Ongoing Costs: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Per-request API fees (vision tokens are expensive)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- 500-2000ms latency per VLM call (network round-trip)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Each RCS step = 3-5 VLM calls = 1.5-10s delay per step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Risks: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Vendor dependency (API deprecation, pricing changes)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Data privacy: screenshots sent to external servers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Rate limiting during peak automation runs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Cannot fine-tune on proprietary engineering UIs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Performance: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- 34.5% accuracy on professional GUI grounding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Frequent misclicks requiring human intervention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Cannot reliably distinguish narrow-range elements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30352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Segoe UI"/>
              </a:defRPr>
            </a:pPr>
            <a:r>
              <a:t>Proposed: Self-Hosted (H200 x2)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One-Time Investment: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- 2x H200 GPU hardware (282GB total VRAM)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Zero per-request cost after setup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vLLM serving: production-ready inference server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Advantages: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Full data privacy: all inference on-premise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&lt;100ms latency (local GPU vs cloud round-trip)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No rate limits: unlimited concurrent requests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Fine-tune on proprietary RCS/CD-SEM screenshots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Performance: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- 61.6-67.9% accuracy (GUI-specialized models)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+78% improvement over current Kimi-VL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Reliable narrow-range element detection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  - Run multiple models for fallback/ensemble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Segoe UI"/>
              </a:defRPr>
            </a:pPr>
            <a:r>
              <a:t>Implementation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698480" cy="1143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155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Phase 1: Immediate (Week 1-2)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417319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Deploy UI-TARS-1.5-7B on H200 via vLLM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73351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OpenAI-compatible API — minimal code changes to existing poc/work/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29384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A/B test: Kimi-VL vs UI-TARS side-by-side on RCS login + tab switching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10698480" cy="1417319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5000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Segoe UI"/>
              </a:defRPr>
            </a:pPr>
            <a:r>
              <a:t>Phase 2: Validation (Week 3-4)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51760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Deploy MAI-UI-8B as secondary model (2nd GPU)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07791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Benchmark on real RCS screenshots: login, tool list, recipe editor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163824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Measure click accuracy, especially on dense/narrow-range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19856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Implement model ensemble/fallback: try UI-TARS first, fall back to MAI-UI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0479"/>
            <a:ext cx="10698480" cy="1417319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5876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Segoe UI"/>
              </a:defRPr>
            </a:pPr>
            <a:r>
              <a:t>Phase 3: Optimization (Month 2-3)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160519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Collect proprietary RCS/CD-SEM screenshot dataset (~1000+ labeled images)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16551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Fine-tune UI-TARS-1.5-7B on domain-specific data (LoRA, ~16GB VRAM)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672583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Evaluate 72B models (UI-TARS-72B) using 2x H200 tensor parallel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928615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Integrate into full RCS recipe creation pipeline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49240"/>
            <a:ext cx="10698480" cy="1417319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36752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Segoe UI"/>
              </a:defRPr>
            </a:pPr>
            <a:r>
              <a:t>Phase 4: Production (Month 3+)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669279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Production deployment with monitoring and auto-recovery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92531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Expand to additional engineering tools (VeritySEM, CD-SEM viewer)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181344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Evaluate next-gen models (UI-TARS-2, MAI-UI v2) as they 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6437375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  Build internal benchmark dataset for continuous model evaluation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8BDF8"/>
                </a:solidFill>
                <a:latin typeface="Segoe UI"/>
              </a:defRPr>
            </a:pPr>
            <a:r>
              <a:t>Summary &amp;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1.  Current Kimi-VL model scores 34.5% on professional GUI grounding</a:t>
            </a: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     — insufficient for reliable CD-SEM/RCS recipe automation</a:t>
            </a: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2.  Kimi-VL fails on narrow-range UI elements (&lt;20px spacing)</a:t>
            </a: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     — critical limitation for dense engineering control panels</a:t>
            </a: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3.  GUI-specialized open-source models (UI-TARS, MAI-UI) achieve</a:t>
            </a: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     61-68% accuracy — a +78% improvement with self-hosted inference</a:t>
            </a: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4.  Self-hosting eliminates API costs, provides data privacy,</a:t>
            </a: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     enables fine-tuning on proprietary screenshots, and reduces</a:t>
            </a: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     inference latency from seconds to milliseconds</a:t>
            </a: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5.  2x H200 GPUs (282GB total) enables multi-model serving,</a:t>
            </a:r>
          </a:p>
          <a:p>
            <a:pPr>
              <a:spcAft>
                <a:spcPts val="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     72B model access, fine-tuning, and future-proofing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5349240"/>
            <a:ext cx="9052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Segoe UI"/>
              </a:defRPr>
            </a:pPr>
            <a:r>
              <a:t>Request: Approve procurement of 2x NVIDIA H200 SXM GPUs for self-hosted GUI-specialized VLM deployment and fine-tuning.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