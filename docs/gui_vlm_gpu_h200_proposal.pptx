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Malgun Gothic"/>
              </a:defRPr>
            </a:pPr>
            <a:r>
              <a:t>GUI 자동화 전용 VLM 모델 도입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18CF8"/>
                </a:solidFill>
                <a:latin typeface="Malgun Gothic"/>
              </a:defRPr>
            </a:pPr>
            <a:r>
              <a:t>CD-SEM / RCS 레시피 자동화를 위한 GPU H200 x 2 도입 필요성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벤치마크 기반 분석 — 범용 VLM vs GUI 전문 모델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Malgun Gothic"/>
              </a:defRPr>
            </a:pPr>
            <a:r>
              <a:t>현황: Kimi-VL은 사내 서버에서 자체 운영 중 (API 서빙)</a:t>
            </a:r>
            <a:br/>
            <a:r>
              <a:t>제안: GUI 자동화 전용 모델을 별도 GPU에서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2026년 2월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7171"/>
                </a:solidFill>
                <a:latin typeface="Malgun Gothic"/>
              </a:defRPr>
            </a:pPr>
            <a:r>
              <a:t>문제: 현재 Kimi-VL로는 복잡한 엔지니어링 UI를 처리할 수 없음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algun Gothic"/>
              </a:defRPr>
            </a:pPr>
            <a:r>
              <a:t>Kimi-VL 현재 성능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ScreenSpot-Pro 벤치마크 정확도: 34.5%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전문 UI에서 클릭 타겟 3개 중 2개를 놓침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범용 모델 — GUI 인터랙션 데이터로 학습되지 않음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아이콘/위젯 감지 능력이 엔지니어링 소프트웨어에서 거의 0%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사내 운영 중이나, 범용 모델의 근본적 한계 존재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RCS/CD-SEM 전용 파인튜닝이 불가능한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algun Gothic"/>
              </a:defRPr>
            </a:pPr>
            <a:r>
              <a:t>핵심 문제: 좁은 영역 UI 요소 인식 실패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UI 요소가 좁은 영역에 밀집되어 있을 때 (&lt;20px 간격),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Kimi-VL은 인접 요소를 구분하지 못합니다: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클릭 좌표가 인접 버튼/라벨로 이탈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툴바 아이콘 클러스터에서 모호한 좌표 출력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TreeView / ListView 행 높이가 작으면 행 혼동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RCS 레시피 편집기는 &lt;10px 간격의 밀집 패널 보유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근본 원인: GUI 공간 학습 부재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범용 VLM은 자연 이미지/문서로 학습 → 밀집 UI에 약함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타겟 크기가 줄어들수록 정확도가 급격히 하락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아이콘 전용 그라운딩은 범용 모델에서 &lt; 5% 정확도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Malgun Gothic"/>
              </a:defRPr>
            </a:pPr>
            <a:r>
              <a:t>ScreenSpot-Pro: 전문 GUI 그라운딩 벤치마크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고해상도 전문 애플리케이션 UI (CAD, EDA, 개발 도구)에서의 클릭 좌표 정확도 — CD-SEM/RCS 유즈케이스에 가장 유사한 공개 벤치마크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9052560" cy="329184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6304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4630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파라미터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4630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ScreenSpot-Pro (%)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92224"/>
            <a:ext cx="905256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9222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MAI-UI-32B (Alibaba)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7922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GUI 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79222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32B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79222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67.9%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21408"/>
            <a:ext cx="905256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2140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MAI-UI-8B (Alibaba)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214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GUI 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12140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12140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65.7%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450592"/>
            <a:ext cx="905256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45059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Qwen3-VL-30B-A3B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45059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범용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4505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30B MoE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45059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61.8%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779776"/>
            <a:ext cx="905256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77977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UI-TARS-1.5-7B (ByteDance)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77977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GUI 전용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77977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7B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7797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61.6%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108960"/>
            <a:ext cx="905256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10896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MAI-UI-2B (Alibaba)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1089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GUI 전용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1089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31089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Malgun Gothic"/>
              </a:defRPr>
            </a:pPr>
            <a:r>
              <a:t>57.4%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438144"/>
            <a:ext cx="905256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43814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Qwen3-VL-8B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43814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범용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43814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8B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343814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Malgun Gothic"/>
              </a:defRPr>
            </a:pPr>
            <a:r>
              <a:t>54.6%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767328"/>
            <a:ext cx="905256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76732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Kimi-K2.5 (Moonshot)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376732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범용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376732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~200B+ MoE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376732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Malgun Gothic"/>
              </a:defRPr>
            </a:pPr>
            <a:r>
              <a:t>52.8%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096512"/>
            <a:ext cx="905256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09651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GUI-Actor-7B (Microsoft)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09651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GUI 전용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409651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7B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409651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Malgun Gothic"/>
              </a:defRPr>
            </a:pPr>
            <a:r>
              <a:t>44.6%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425696"/>
            <a:ext cx="905256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442569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UI-TARS-72B v1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42569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GUI 전용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44256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72B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0" y="442569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Malgun Gothic"/>
              </a:defRPr>
            </a:pPr>
            <a:r>
              <a:t>38.1%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754879"/>
            <a:ext cx="9052560" cy="329184"/>
          </a:xfrm>
          <a:prstGeom prst="round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754879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Kimi-VL / MoonViT (현재 운영 중)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754879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범용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0" y="475487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~3.9B MoE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0" y="4754879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algun Gothic"/>
              </a:defRPr>
            </a:pPr>
            <a:r>
              <a:t>34.5%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084064"/>
            <a:ext cx="905256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08406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OS-Atlas-7B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8406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GUI 전용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2160" y="508406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7B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0" y="508406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algun Gothic"/>
              </a:defRPr>
            </a:pPr>
            <a:r>
              <a:t>18.9%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5413248"/>
            <a:ext cx="905256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541324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Claude Computer Use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54132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범용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541324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~200B+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0" y="54132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algun Gothic"/>
              </a:defRPr>
            </a:pPr>
            <a:r>
              <a:t>17.1%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5742431"/>
            <a:ext cx="905256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" y="5742431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GPT-4o (OpenAI)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5742431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범용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60" y="574243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~200B+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0" y="5742431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algun Gothic"/>
              </a:defRPr>
            </a:pPr>
            <a:r>
              <a:t>0.8%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26880" y="1463040"/>
            <a:ext cx="25603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Malgun Gothic"/>
              </a:defRPr>
            </a:pPr>
            <a:r>
              <a:t>핵심 수치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201168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현재 Kimi-VL: 34.5%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UI-TARS-1.5-7B: 61.6%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+78% 정확도 향상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(7B 모델로 달성 가능)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GUI 전용 7B 모델이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범용 200B+ 모델보다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전문 UI에서 월등히 우수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→ 전용 모델 + 전용 GPU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 가 해답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Malgun Gothic"/>
              </a:defRPr>
            </a:pPr>
            <a:r>
              <a:t>End-to-End Agent 벤치마크: 다단계 데스크톱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OSWorld &amp; WindowsAgentArena = Windows 데스크톱 자동화 직접 테스트 — RCS/CD-SEM과 동일한 환경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515600" cy="329184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55448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OSWorld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15544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WinAgentArena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15544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AndroidWorld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59" y="155448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Mind2Web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83664"/>
            <a:ext cx="1051560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836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UI-TARS-2 (ByteDance)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8366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47.5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8836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50.6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8836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73.3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59" y="188366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88.2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212848"/>
            <a:ext cx="1051560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128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Claude 4 Sonnet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1284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43.9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212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2212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1284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542032"/>
            <a:ext cx="1051560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5420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OpenAI CUA-o3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5420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42.9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5420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25420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52.5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5420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71.0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871215"/>
            <a:ext cx="1051560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2871215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UI-TARS-1.5 (ByteDance)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87121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42.5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9" y="2871215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42.1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59" y="2871215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64.2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287121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75.8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200400"/>
            <a:ext cx="10515600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2004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Qwen3-VL-32B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20040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59" y="32004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59" y="32004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63.7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59" y="320040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3840480"/>
            <a:ext cx="10332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39319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algun Gothic"/>
              </a:defRPr>
            </a:pPr>
            <a:r>
              <a:t>RCS 자동화에 왜 중요한가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38912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Malgun Gothic"/>
              </a:defRPr>
            </a:pPr>
            <a:r>
              <a:t>  UI-TARS-2가 OSWorld (47.5%) / WindowsAgentArena (50.6%) 모두 1위 — Windows 데스크톱 자동화 직접 벤치마크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Malgun Gothic"/>
              </a:defRPr>
            </a:pPr>
            <a:r>
              <a:t>  이 모델들은 복잡한 다단계 워크플로우를 자율 수행: 앱 실행 → 컨트롤 탐색 → 클릭 → 입력 → 검증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Malgun Gothic"/>
              </a:defRPr>
            </a:pPr>
            <a:r>
              <a:t>  RCS 레시피 생성에 필요한 능력과 정확히 일치: 로그인 → 탭 전환 → 도구 선택 → 파라미터 설정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Malgun Gothic"/>
              </a:defRPr>
            </a:pPr>
            <a:r>
              <a:t>  오픈소스 &amp; vLLM 셀프 호스팅 가능 — 현재 Kimi 사내 서버와 독립적으로 운영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Malgun Gothic"/>
              </a:defRPr>
            </a:pPr>
            <a:r>
              <a:t>GPU 리소스 요구사항: H200 x 2 도입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Malgun Gothic"/>
              </a:defRPr>
            </a:pPr>
            <a:r>
              <a:t>기존 Kimi-VL 사내 서버와 별도로, GUI 자동화 전용 모델을 위한 독립 GPU 인프라 필요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algun Gothic"/>
              </a:defRPr>
            </a:pPr>
            <a:r>
              <a:t>NVIDIA H200 SXM 사양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HBM3e 메모리: GPU당 141 GB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메모리 대역폭: 4.8 TB/s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FP16 처리량: 989 TFLOPS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Malgun Gothic"/>
              </a:defRPr>
            </a:pPr>
            <a:r>
              <a:t>  2x H200 합계: 282 GB VRAM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9509760" cy="3200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FP16 VRAM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INT8 VRAM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2x H200 배포 전략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95097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UI-TARS-1.5-7B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14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7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멀티 모델 + 대량 배치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950976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MAI-UI-8B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16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8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멀티 모델 + 대량 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95097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GUI-Actor-7B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14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7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멀티 모델 + 대량 배치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37760"/>
            <a:ext cx="950976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UI-TARS-1.5-72B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144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72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2x H200 필수 (FP16)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57800"/>
            <a:ext cx="95097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MAI-UI-32B (SOTA)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57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64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257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32 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1x H200으로 운영 가능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77840"/>
            <a:ext cx="950976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algun Gothic"/>
              </a:defRPr>
            </a:pPr>
            <a:r>
              <a:t>Qwen3-VL-30B-A3B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60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30 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1x H200으로 운영 가능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Malgun Gothic"/>
              </a:defRPr>
            </a:pPr>
            <a:r>
              <a:t>왜 2대인가 (1대가 아닌 이유)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8288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1. 멀티 모델 A/B 테스트: UI-TARS + MAI-UI를 동시에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 운영하여 비교 및 자동 폴백 구현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2. 72B 모델 운영: 대형 모델은 141GB 이상 필요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 → 2대 텐서 병렬로 FP16 배치 추론 가능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3. 동시 세션: 다수 RCS 자동화 워크플로우의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 병렬 GPU 추론 처리 필요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4. 파인튜닝: 자사 CD-SEM/RCS 스크린샷으로 학습 시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   추론 대비 2~4배 메모리 필요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5. 미래 대비: 차세대 모델은 더 큰 파라미터 추세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8BDF8"/>
                </a:solidFill>
                <a:latin typeface="Malgun Gothic"/>
              </a:defRPr>
            </a:pPr>
            <a:r>
              <a:t>현행 대비 개선 효과: Kimi-VL (사내 운영) vs GUI 전용 모델 (별도 GPU)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algun Gothic"/>
              </a:defRPr>
            </a:pPr>
            <a:r>
              <a:t>현행: Kimi-VL (사내 서버 운영 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운영 환경: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사내 서버에서 Kimi-VL API 서빙 중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범용 VLM으로 다양한 업무에 활용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GUI 자동화 외 다른 용도에도 사용 가능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GUI 자동화 한계: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ScreenSpot-Pro 정확도 34.5% (전문 UI 기준)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밀집된 좁은 영역 UI 요소 인식 불가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클릭 좌표가 인접 요소로 빈번하게 이탈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범용 모델의 근본적 한계 — 해결 불가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결론: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Kimi-VL은 범용 업무에는 적합하나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정밀 GUI 자동화에는 전용 모델이 필요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Malgun Gothic"/>
              </a:defRPr>
            </a:pPr>
            <a:r>
              <a:t>제안: GUI 전용 모델 (별도 H200 x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운영 구조: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기존 Kimi-VL 서버는 그대로 유지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별도 H200 GPU 2대에 GUI 전용 모델 배포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vLLM 기반 OpenAI 호환 API 서빙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기대 효과: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정확도 61.6~67.9% (UI-TARS, MAI-UI)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현재 대비 +78% 정확도 향상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좁은 영역 밀집 UI 요소도 정밀 인식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RCS/CD-SEM 스크린샷으로 파인튜닝 가능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추가 이점: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Kimi-VL과 독립 운영 → 기존 서비스 영향 없음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데이터 보안: 모든 추론이 사내에서 완결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  - 멀티 모델 앙상블/폴백으로 안정성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Malgun Gothic"/>
              </a:defRPr>
            </a:pPr>
            <a:r>
              <a:t>구현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Malgun Gothic"/>
              </a:defRPr>
            </a:pPr>
            <a:r>
              <a:t>1단계: 즉시 착수 (1~2주차)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17319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H200에 UI-TARS-1.5-7B 배포 (vLLM 서빙)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73351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OpenAI 호환 API — 기존 poc/work/ 파이프라인 코드 변경 최소화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93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A/B 테스트: Kimi-VL vs UI-TARS 병행 비교 (RCS 로그인 + 탭 전환)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141731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2단계: 검증 (3~4주차)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2번째 GPU에 MAI-UI-8B 배포 (보조 모델)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07791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실제 RCS 스크린샷으로 벤치마크: 로그인, 도구 목록, 레시피 편집기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6382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밀집/좁은 영역 컨트롤에서의 클릭 정확도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198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모델 앙상블/폴백 구현: UI-TARS 우선 → MAI-UI 보조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79"/>
            <a:ext cx="10698480" cy="141731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Malgun Gothic"/>
              </a:defRPr>
            </a:pPr>
            <a:r>
              <a:t>3단계: 최적화 (2~3개월차)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0519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자사 RCS/CD-SEM 스크린샷 데이터셋 구축 (~1,000장 이상 라벨링)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16551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UI-TARS-1.5-7B 도메인 파인튜닝 (LoRA, ~16GB VRAM)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72583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72B 모델 평가 (UI-TARS-72B) — 2x H200 텐서 병렬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28615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전체 RCS 레시피 생성 파이프라인에 통합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10698480" cy="141731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675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Malgun Gothic"/>
              </a:defRPr>
            </a:pPr>
            <a:r>
              <a:t>4단계: 프로덕션 (3개월차~)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669279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모니터링 및 자동 복구 기능 포함 프로덕션 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92531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추가 엔지니어링 도구로 확장 (VeritySEM, CD-SEM 뷰어)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18134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차세대 모델 (UI-TARS-2, MAI-UI v2) 출시 시 평가 및 교체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437375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내부 벤치마크 데이터셋 구축으로 지속적 모델 평가 체계 확립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Malgun Gothic"/>
              </a:defRPr>
            </a:pPr>
            <a:r>
              <a:t>요약 및 요청사항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1.  현재 사내 운영 중인 Kimi-VL은 ScreenSpot-Pro 기준 34.5% 정확도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 — CD-SEM/RCS 레시피 자동화에 신뢰할 수 없는 수준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2.  특히 좁은 영역에 밀집된 UI 요소 (&lt;20px 간격)를 구분하지 못함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 — RCS 레시피 편집기의 밀집 컨트롤 패널에서 치명적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3.  GUI 전용 오픈소스 모델 (UI-TARS, MAI-UI)은 61~68% 정확도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 — 현재 대비 +78% 향상, 7B 소형 모델로도 달성 가능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4.  기존 Kimi-VL 서버와 별도로 운영하여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 기존 서비스에 영향 없이 GUI 자동화 전용 인프라 구축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5.  H200 GPU 2대 (282GB VRAM)로 멀티 모델 서빙,</a:t>
            </a:r>
          </a:p>
          <a:p>
            <a:pPr>
              <a:spcAft>
                <a:spcPts val="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 72B 대형 모델 운영, 파인튜닝, 미래 확장성 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303520"/>
            <a:ext cx="94183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534924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Malgun Gothic"/>
              </a:defRPr>
            </a:pPr>
            <a:r>
              <a:t>요청: GUI 자동화 전용 VLM 모델 배포 및 파인튜닝을 위한</a:t>
            </a:r>
            <a:br/>
            <a:r>
              <a:t>NVIDIA H200 SXM GPU 2대 도입을 승인해 주시기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