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09728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38BDF8"/>
                </a:solidFill>
                <a:latin typeface="Malgun Gothic"/>
              </a:defRPr>
            </a:pPr>
            <a:r>
              <a:t>GUI 자동화 전용 VLM 및 UI 파싱 모델 도입 제안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2860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818CF8"/>
                </a:solidFill>
                <a:latin typeface="Malgun Gothic"/>
              </a:defRPr>
            </a:pPr>
            <a:r>
              <a:t>CD-SEM / RCS 레시피 자동화를 위한 GPU H200 x 2 도입 필요성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2004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Malgun Gothic"/>
              </a:defRPr>
            </a:pPr>
            <a:r>
              <a:t>벤치마크 기반 분석: Kimi-K2.5 (현재) vs GUI 전문 모델 + UI 파싱 도구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1148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BBF24"/>
                </a:solidFill>
                <a:latin typeface="Malgun Gothic"/>
              </a:defRPr>
            </a:pPr>
            <a:r>
              <a:t>현황: Kimi-K2.5는 사내 서버에서 자체 운영 중 (API 서빙)</a:t>
            </a:r>
            <a:br/>
            <a:r>
              <a:t>제안: GUI 자동화 전용 모델 + OmniParser를 별도 GPU에서 운영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486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Malgun Gothic"/>
              </a:defRPr>
            </a:pPr>
            <a:r>
              <a:t>2026년 2월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87171"/>
                </a:solidFill>
                <a:latin typeface="Malgun Gothic"/>
              </a:defRPr>
            </a:pPr>
            <a:r>
              <a:t>문제: Kimi-K2.5로는 복잡한 엔지니어링 UI를 정밀하게 처리할 수 없음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5303520" cy="50292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87171"/>
                </a:solidFill>
                <a:latin typeface="Malgun Gothic"/>
              </a:defRPr>
            </a:pPr>
            <a:r>
              <a:t>Kimi-K2.5 현재 성능 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  ScreenSpot-Pro 벤치마크 정확도: 52.8%</a:t>
            </a:r>
          </a:p>
          <a:p>
            <a:pPr>
              <a:spcAft>
                <a:spcPts val="4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  GUI 전용 SOTA 모델 (69.6%) 대비 17% 부족</a:t>
            </a:r>
          </a:p>
          <a:p>
            <a:pPr>
              <a:spcAft>
                <a:spcPts val="4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  범용 모델 — GUI 인터랙션 데이터로 학습되지 않음</a:t>
            </a:r>
          </a:p>
          <a:p>
            <a:pPr>
              <a:spcAft>
                <a:spcPts val="4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  아이콘/위젯 감지 능력이 엔지니어링 SW에서 취약</a:t>
            </a:r>
          </a:p>
          <a:p>
            <a:pPr>
              <a:spcAft>
                <a:spcPts val="4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  사내 운영 중이나, 범용 모델의 근본적 한계 존재</a:t>
            </a:r>
          </a:p>
          <a:p>
            <a:pPr>
              <a:spcAft>
                <a:spcPts val="4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  RCS/CD-SEM 전용 파인튜닝이 어려운 구조</a:t>
            </a:r>
          </a:p>
          <a:p>
            <a:pPr>
              <a:spcAft>
                <a:spcPts val="4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  * OSWorld (63.3%)에서는 높은 점수이나,</a:t>
            </a:r>
          </a:p>
          <a:p>
            <a:pPr>
              <a:spcAft>
                <a:spcPts val="4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    이는 다단계 작업 계획 능력이지</a:t>
            </a:r>
          </a:p>
          <a:p>
            <a:pPr>
              <a:spcAft>
                <a:spcPts val="400"/>
              </a:spcAft>
              <a:defRPr sz="1300">
                <a:solidFill>
                  <a:srgbClr val="94A3B8"/>
                </a:solidFill>
                <a:latin typeface="Malgun Gothic"/>
              </a:defRPr>
            </a:pPr>
            <a:r>
              <a:t>    정밀 클릭 좌표 능력이 아님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188720"/>
            <a:ext cx="5303520" cy="50292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28016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87171"/>
                </a:solidFill>
                <a:latin typeface="Malgun Gothic"/>
              </a:defRPr>
            </a:pPr>
            <a:r>
              <a:t>핵심 문제: 좁은 영역 UI 요소 인식 실패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  UI 요소가 좁은 영역에 밀집되어 있을 때 (&lt;20px 간격),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  Kimi-K2.5는 인접 요소를 구분하지 못합니다: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  - 클릭 좌표가 인접 버튼/라벨로 이탈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  - 툴바 아이콘 클러스터에서 모호한 좌표 출력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  - TreeView / ListView 행 높이가 작으면 행 혼동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  - RCS 레시피 편집기는 &lt;10px 간격의 밀집 패널 보유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  근본 원인: GUI 공간 학습 부재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  범용 VLM은 자연 이미지/문서로 학습됨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  → 밀집 엔지니어링 UI에서 타겟 크기 줄어들수록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    정확도가 급격히 하락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8BDF8"/>
                </a:solidFill>
                <a:latin typeface="Malgun Gothic"/>
              </a:defRPr>
            </a:pPr>
            <a:r>
              <a:t>ScreenSpot-Pro: 전문 GUI 그라운딩 벤치마크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Malgun Gothic"/>
              </a:defRPr>
            </a:pPr>
            <a:r>
              <a:t>고해상도 전문 애플리케이션 UI (CAD, EDA, 개발 도구)에서의 클릭 좌표 정확도 — CD-SEM/RCS 유즈케이스에 가장 유사한 공개 벤치마크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9052560" cy="329184"/>
          </a:xfrm>
          <a:prstGeom prst="round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3840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8BDF8"/>
                </a:solidFill>
                <a:latin typeface="Malgun Gothic"/>
              </a:defRPr>
            </a:pPr>
            <a:r>
              <a:t>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463040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8BDF8"/>
                </a:solidFill>
                <a:latin typeface="Malgun Gothic"/>
              </a:defRPr>
            </a:pPr>
            <a:r>
              <a:t>유형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0" y="1463040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8BDF8"/>
                </a:solidFill>
                <a:latin typeface="Malgun Gothic"/>
              </a:defRPr>
            </a:pPr>
            <a:r>
              <a:t>파라미터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0" y="1463040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8BDF8"/>
                </a:solidFill>
                <a:latin typeface="Malgun Gothic"/>
              </a:defRPr>
            </a:pPr>
            <a:r>
              <a:t>ScreenSpot-Pro (%)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792224"/>
            <a:ext cx="9052560" cy="329184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792224"/>
            <a:ext cx="3840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2E8F0"/>
                </a:solidFill>
                <a:latin typeface="Malgun Gothic"/>
              </a:defRPr>
            </a:pPr>
            <a:r>
              <a:t>UI-Venus-1.5-8B (Huawei)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1792224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DE80"/>
                </a:solidFill>
                <a:latin typeface="Malgun Gothic"/>
              </a:defRPr>
            </a:pPr>
            <a:r>
              <a:t>GUI 전용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1792224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Malgun Gothic"/>
              </a:defRPr>
            </a:pPr>
            <a:r>
              <a:t>8B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0" y="1792224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ADE80"/>
                </a:solidFill>
                <a:latin typeface="Malgun Gothic"/>
              </a:defRPr>
            </a:pPr>
            <a:r>
              <a:t>69.6%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121408"/>
            <a:ext cx="9052560" cy="329184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121408"/>
            <a:ext cx="3840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2E8F0"/>
                </a:solidFill>
                <a:latin typeface="Malgun Gothic"/>
              </a:defRPr>
            </a:pPr>
            <a:r>
              <a:t>MAI-UI-32B (Alibaba)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121408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DE80"/>
                </a:solidFill>
                <a:latin typeface="Malgun Gothic"/>
              </a:defRPr>
            </a:pPr>
            <a:r>
              <a:t>GUI 전용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2121408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Malgun Gothic"/>
              </a:defRPr>
            </a:pPr>
            <a:r>
              <a:t>32B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0" y="2121408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ADE80"/>
                </a:solidFill>
                <a:latin typeface="Malgun Gothic"/>
              </a:defRPr>
            </a:pPr>
            <a:r>
              <a:t>67.9%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2450592"/>
            <a:ext cx="9052560" cy="329184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2450592"/>
            <a:ext cx="3840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2E8F0"/>
                </a:solidFill>
                <a:latin typeface="Malgun Gothic"/>
              </a:defRPr>
            </a:pPr>
            <a:r>
              <a:t>MAI-UI-8B (Alibaba)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2450592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DE80"/>
                </a:solidFill>
                <a:latin typeface="Malgun Gothic"/>
              </a:defRPr>
            </a:pPr>
            <a:r>
              <a:t>GUI 전용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2450592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Malgun Gothic"/>
              </a:defRPr>
            </a:pPr>
            <a:r>
              <a:t>8B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0" y="2450592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ADE80"/>
                </a:solidFill>
                <a:latin typeface="Malgun Gothic"/>
              </a:defRPr>
            </a:pPr>
            <a:r>
              <a:t>65.7%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2779776"/>
            <a:ext cx="9052560" cy="329184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2779776"/>
            <a:ext cx="3840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2E8F0"/>
                </a:solidFill>
                <a:latin typeface="Malgun Gothic"/>
              </a:defRPr>
            </a:pPr>
            <a:r>
              <a:t>Qwen3-VL-30B-A3B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2779776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BBF24"/>
                </a:solidFill>
                <a:latin typeface="Malgun Gothic"/>
              </a:defRPr>
            </a:pPr>
            <a:r>
              <a:t>범용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52160" y="2779776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Malgun Gothic"/>
              </a:defRPr>
            </a:pPr>
            <a:r>
              <a:t>30B MoE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0" y="2779776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8BDF8"/>
                </a:solidFill>
                <a:latin typeface="Malgun Gothic"/>
              </a:defRPr>
            </a:pPr>
            <a:r>
              <a:t>61.8%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3108960"/>
            <a:ext cx="9052560" cy="329184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3108960"/>
            <a:ext cx="3840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2E8F0"/>
                </a:solidFill>
                <a:latin typeface="Malgun Gothic"/>
              </a:defRPr>
            </a:pPr>
            <a:r>
              <a:t>UI-TARS-1.5-7B (ByteDance)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108960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DE80"/>
                </a:solidFill>
                <a:latin typeface="Malgun Gothic"/>
              </a:defRPr>
            </a:pPr>
            <a:r>
              <a:t>GUI 전용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52160" y="3108960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Malgun Gothic"/>
              </a:defRPr>
            </a:pPr>
            <a:r>
              <a:t>7B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80" y="3108960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8BDF8"/>
                </a:solidFill>
                <a:latin typeface="Malgun Gothic"/>
              </a:defRPr>
            </a:pPr>
            <a:r>
              <a:t>61.6%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3438144"/>
            <a:ext cx="9052560" cy="329184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3438144"/>
            <a:ext cx="3840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2E8F0"/>
                </a:solidFill>
                <a:latin typeface="Malgun Gothic"/>
              </a:defRPr>
            </a:pPr>
            <a:r>
              <a:t>MAI-UI-2B (Alibaba)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63440" y="3438144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DE80"/>
                </a:solidFill>
                <a:latin typeface="Malgun Gothic"/>
              </a:defRPr>
            </a:pPr>
            <a:r>
              <a:t>GUI 전용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52160" y="3438144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Malgun Gothic"/>
              </a:defRPr>
            </a:pPr>
            <a:r>
              <a:t>2B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0" y="3438144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BBF24"/>
                </a:solidFill>
                <a:latin typeface="Malgun Gothic"/>
              </a:defRPr>
            </a:pPr>
            <a:r>
              <a:t>57.4%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1520" y="3767328"/>
            <a:ext cx="9052560" cy="329184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3767328"/>
            <a:ext cx="3840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2E8F0"/>
                </a:solidFill>
                <a:latin typeface="Malgun Gothic"/>
              </a:defRPr>
            </a:pPr>
            <a:r>
              <a:t>Qwen3-VL-8B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63440" y="3767328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BBF24"/>
                </a:solidFill>
                <a:latin typeface="Malgun Gothic"/>
              </a:defRPr>
            </a:pPr>
            <a:r>
              <a:t>범용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52160" y="3767328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Malgun Gothic"/>
              </a:defRPr>
            </a:pPr>
            <a:r>
              <a:t>8B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8080" y="3767328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BBF24"/>
                </a:solidFill>
                <a:latin typeface="Malgun Gothic"/>
              </a:defRPr>
            </a:pPr>
            <a:r>
              <a:t>54.6%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31520" y="4096512"/>
            <a:ext cx="9052560" cy="329184"/>
          </a:xfrm>
          <a:prstGeom prst="roundRect">
            <a:avLst/>
          </a:prstGeom>
          <a:solidFill>
            <a:srgbClr val="3B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2960" y="4096512"/>
            <a:ext cx="3840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B923C"/>
                </a:solidFill>
                <a:latin typeface="Malgun Gothic"/>
              </a:defRPr>
            </a:pPr>
            <a:r>
              <a:t>Kimi-K2.5 (현재 사내 운영 중)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63440" y="4096512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BBF24"/>
                </a:solidFill>
                <a:latin typeface="Malgun Gothic"/>
              </a:defRPr>
            </a:pPr>
            <a:r>
              <a:t>범용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52160" y="4096512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Malgun Gothic"/>
              </a:defRPr>
            </a:pPr>
            <a:r>
              <a:t>~200B+ MoE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98080" y="4096512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B923C"/>
                </a:solidFill>
                <a:latin typeface="Malgun Gothic"/>
              </a:defRPr>
            </a:pPr>
            <a:r>
              <a:t>52.8%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31520" y="4425696"/>
            <a:ext cx="9052560" cy="329184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2960" y="4425696"/>
            <a:ext cx="3840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2E8F0"/>
                </a:solidFill>
                <a:latin typeface="Malgun Gothic"/>
              </a:defRPr>
            </a:pPr>
            <a:r>
              <a:t>GUI-Actor-7B (Microsoft)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425696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DE80"/>
                </a:solidFill>
                <a:latin typeface="Malgun Gothic"/>
              </a:defRPr>
            </a:pPr>
            <a:r>
              <a:t>GUI 전용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852160" y="4425696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Malgun Gothic"/>
              </a:defRPr>
            </a:pPr>
            <a:r>
              <a:t>7B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98080" y="4425696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B923C"/>
                </a:solidFill>
                <a:latin typeface="Malgun Gothic"/>
              </a:defRPr>
            </a:pPr>
            <a:r>
              <a:t>44.6%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31520" y="4754879"/>
            <a:ext cx="9052560" cy="329184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22960" y="4754879"/>
            <a:ext cx="3840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2E8F0"/>
                </a:solidFill>
                <a:latin typeface="Malgun Gothic"/>
              </a:defRPr>
            </a:pPr>
            <a:r>
              <a:t>OmniParser V2 + GPT-4o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4754879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D4BF"/>
                </a:solidFill>
                <a:latin typeface="Malgun Gothic"/>
              </a:defRPr>
            </a:pPr>
            <a:r>
              <a:t>파서+VLM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52160" y="4754879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Malgun Gothic"/>
              </a:defRPr>
            </a:pPr>
            <a:r>
              <a:t>YOLO+Florence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498080" y="4754879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D4BF"/>
                </a:solidFill>
                <a:latin typeface="Malgun Gothic"/>
              </a:defRPr>
            </a:pPr>
            <a:r>
              <a:t>39.6%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31520" y="5084064"/>
            <a:ext cx="9052560" cy="329184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22960" y="5084064"/>
            <a:ext cx="3840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2E8F0"/>
                </a:solidFill>
                <a:latin typeface="Malgun Gothic"/>
              </a:defRPr>
            </a:pPr>
            <a:r>
              <a:t>UI-TARS-72B v1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663440" y="5084064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DE80"/>
                </a:solidFill>
                <a:latin typeface="Malgun Gothic"/>
              </a:defRPr>
            </a:pPr>
            <a:r>
              <a:t>GUI 전용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852160" y="5084064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Malgun Gothic"/>
              </a:defRPr>
            </a:pPr>
            <a:r>
              <a:t>72B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498080" y="5084064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B923C"/>
                </a:solidFill>
                <a:latin typeface="Malgun Gothic"/>
              </a:defRPr>
            </a:pPr>
            <a:r>
              <a:t>38.1%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31520" y="5413248"/>
            <a:ext cx="9052560" cy="329184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2960" y="5413248"/>
            <a:ext cx="3840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2E8F0"/>
                </a:solidFill>
                <a:latin typeface="Malgun Gothic"/>
              </a:defRPr>
            </a:pPr>
            <a:r>
              <a:t>GPT-4o (단독)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5413248"/>
            <a:ext cx="1188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BBF24"/>
                </a:solidFill>
                <a:latin typeface="Malgun Gothic"/>
              </a:defRPr>
            </a:pPr>
            <a:r>
              <a:t>범용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52160" y="5413248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Malgun Gothic"/>
              </a:defRPr>
            </a:pPr>
            <a:r>
              <a:t>~200B+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498080" y="5413248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87171"/>
                </a:solidFill>
                <a:latin typeface="Malgun Gothic"/>
              </a:defRPr>
            </a:pPr>
            <a:r>
              <a:t>0.8%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326880" y="1463040"/>
            <a:ext cx="2560320" cy="50292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418320" y="15544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8BDF8"/>
                </a:solidFill>
                <a:latin typeface="Malgun Gothic"/>
              </a:defRPr>
            </a:pPr>
            <a:r>
              <a:t>핵심 수치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418320" y="2011680"/>
            <a:ext cx="2377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Malgun Gothic"/>
              </a:defRPr>
            </a:pPr>
            <a:r>
              <a:t>현재 Kimi-K2.5: 52.8%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Malgun Gothic"/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Malgun Gothic"/>
              </a:defRPr>
            </a:pPr>
            <a:r>
              <a:t>GUI 전용 SOTA: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Malgun Gothic"/>
              </a:defRPr>
            </a:pPr>
            <a:r>
              <a:t>UI-Venus-1.5: 69.6%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Malgun Gothic"/>
              </a:defRPr>
            </a:pPr>
            <a:r>
              <a:t>→ +32% 정확도 향상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Malgun Gothic"/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Malgun Gothic"/>
              </a:defRPr>
            </a:pPr>
            <a:r>
              <a:t>UI-TARS-1.5-7B: 61.6%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Malgun Gothic"/>
              </a:defRPr>
            </a:pPr>
            <a:r>
              <a:t>→ +17% 향상 (7B만으로)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Malgun Gothic"/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Malgun Gothic"/>
              </a:defRPr>
            </a:pPr>
            <a:r>
              <a:t>OmniParser가 GPT-4o를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Malgun Gothic"/>
              </a:defRPr>
            </a:pPr>
            <a:r>
              <a:t>0.8% → 39.6%로 끌어올림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Malgun Gothic"/>
              </a:defRPr>
            </a:pPr>
            <a:r>
              <a:t>→ 파서+VLM 조합의 힘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DD4BF"/>
                </a:solidFill>
                <a:latin typeface="Malgun Gothic"/>
              </a:defRPr>
            </a:pPr>
            <a:r>
              <a:t>해결 전략: UI 파싱 도구 + GUI 전용 VLM 결합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Malgun Gothic"/>
              </a:defRPr>
            </a:pPr>
            <a:r>
              <a:t>UI 파싱 도구가 스크린샷의 모든 인터랙션 요소를 사전 감지 → GUI 전용 VLM이 정확한 좌표 결정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0698480" cy="1097280"/>
          </a:xfrm>
          <a:prstGeom prst="roundRect">
            <a:avLst/>
          </a:prstGeom>
          <a:solidFill>
            <a:srgbClr val="334155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D4BF"/>
                </a:solidFill>
                <a:latin typeface="Malgun Gothic"/>
              </a:defRPr>
            </a:pPr>
            <a:r>
              <a:t>제안 파이프라인 (2단계 아키텍처)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874519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Malgun Gothic"/>
              </a:defRPr>
            </a:pPr>
            <a:r>
              <a:t>스크린샷 → [OmniParser V2: YOLOv8 + Florence-2 + OCR] → 구조화된 요소 (bbox + 라벨) → [GUI 전용 VLM: UI-TARS / UI-Venus / MAI-UI] → 정확한 클릭 좌표 + 액션 → [pynput 마우스/키보드]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43200"/>
            <a:ext cx="530352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DD4BF"/>
                </a:solidFill>
                <a:latin typeface="Malgun Gothic"/>
              </a:defRPr>
            </a:pPr>
            <a:r>
              <a:t>OmniParser V2 (Microsoft, 오픈소스)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200400"/>
            <a:ext cx="4937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Malgun Gothic"/>
              </a:defRPr>
            </a:pPr>
            <a:r>
              <a:t>아키텍처: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Malgun Gothic"/>
              </a:defRPr>
            </a:pPr>
            <a:r>
              <a:t>  1단계: YOLOv8 Nano — 인터랙션 요소 감지 (bbox)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Malgun Gothic"/>
              </a:defRPr>
            </a:pPr>
            <a:r>
              <a:t>  2단계: Florence-2 — 아이콘 기능 설명 생성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Malgun Gothic"/>
              </a:defRPr>
            </a:pPr>
            <a:r>
              <a:t>  3단계: PaddleOCR — 텍스트 추출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Malgun Gothic"/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Malgun Gothic"/>
              </a:defRPr>
            </a:pPr>
            <a:r>
              <a:t>성능: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Malgun Gothic"/>
              </a:defRPr>
            </a:pPr>
            <a:r>
              <a:t>  - GPT-4o 단독: 0.8% → OmniParser 결합: 39.6%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Malgun Gothic"/>
              </a:defRPr>
            </a:pPr>
            <a:r>
              <a:t>  - V1 대비 지연시간 60% 감소 (A100 기준 0.6초/프레임)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Malgun Gothic"/>
              </a:defRPr>
            </a:pPr>
            <a:r>
              <a:t>  - 작은 요소 (&lt;20px) 감지 정확도 대폭 향상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Malgun Gothic"/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Malgun Gothic"/>
              </a:defRPr>
            </a:pPr>
            <a:r>
              <a:t>OmniTool: Docker 기반 Windows 11 VM 제공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Malgun Gothic"/>
              </a:defRPr>
            </a:pPr>
            <a:r>
              <a:t>  → 에이전트 테스트 + 학습 데이터 자동 수집 가능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743200"/>
            <a:ext cx="5303520" cy="3474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7889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8BDF8"/>
                </a:solidFill>
                <a:latin typeface="Malgun Gothic"/>
              </a:defRPr>
            </a:pPr>
            <a:r>
              <a:t>기타 UI 파싱 도구 및 기법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200400"/>
            <a:ext cx="4937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Malgun Gothic"/>
              </a:defRPr>
            </a:pPr>
            <a:r>
              <a:t>SparkUI-Parser (Ant Group, 오픈소스):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Malgun Gothic"/>
              </a:defRPr>
            </a:pPr>
            <a:r>
              <a:t>  - MLLM + 토큰 라우터 + 좌표 디코더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Malgun Gothic"/>
              </a:defRPr>
            </a:pPr>
            <a:r>
              <a:t>  - 연속 좌표 모델링 (이산화 없음) → 최고 정밀도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Malgun Gothic"/>
              </a:defRPr>
            </a:pPr>
            <a:r>
              <a:t>  - 클래스 최고 추론 속도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Malgun Gothic"/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Malgun Gothic"/>
              </a:defRPr>
            </a:pPr>
            <a:r>
              <a:t>Set-of-Mark / SoM (Microsoft):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Malgun Gothic"/>
              </a:defRPr>
            </a:pPr>
            <a:r>
              <a:t>  - 감지된 UI 요소에 번호 마크 오버레이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Malgun Gothic"/>
              </a:defRPr>
            </a:pPr>
            <a:r>
              <a:t>  - VLM이 좌표 대신 번호로 요소 참조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Malgun Gothic"/>
              </a:defRPr>
            </a:pPr>
            <a:r>
              <a:t>  - 모든 감지 모델과 조합 가능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Malgun Gothic"/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Malgun Gothic"/>
              </a:defRPr>
            </a:pPr>
            <a:r>
              <a:t>SeeClick (NJU):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Malgun Gothic"/>
              </a:defRPr>
            </a:pPr>
            <a:r>
              <a:t>  - Qwen-VL 기반 파인튜닝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Malgun Gothic"/>
              </a:defRPr>
            </a:pPr>
            <a:r>
              <a:t>  - UI 스크린샷만으로 자동 GUI 인식의 첫 사례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8BDF8"/>
                </a:solidFill>
                <a:latin typeface="Malgun Gothic"/>
              </a:defRPr>
            </a:pPr>
            <a:r>
              <a:t>End-to-End Agent 벤치마크: 다단계 데스크톱 자동화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Malgun Gothic"/>
              </a:defRPr>
            </a:pPr>
            <a:r>
              <a:t>OSWorld &amp; WindowsAgentArena = Windows 데스크톱 자동화 직접 테스트 — RCS/CD-SEM과 동일한 환경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554480"/>
            <a:ext cx="10607040" cy="329184"/>
          </a:xfrm>
          <a:prstGeom prst="round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554480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8BDF8"/>
                </a:solidFill>
                <a:latin typeface="Malgun Gothic"/>
              </a:defRPr>
            </a:pPr>
            <a:r>
              <a:t>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1554480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8BDF8"/>
                </a:solidFill>
                <a:latin typeface="Malgun Gothic"/>
              </a:defRPr>
            </a:pPr>
            <a:r>
              <a:t>OSWorld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55448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8BDF8"/>
                </a:solidFill>
                <a:latin typeface="Malgun Gothic"/>
              </a:defRPr>
            </a:pPr>
            <a:r>
              <a:t>WinAgentArena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155448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8BDF8"/>
                </a:solidFill>
                <a:latin typeface="Malgun Gothic"/>
              </a:defRPr>
            </a:pPr>
            <a:r>
              <a:t>AndroidWorld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1554480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8BDF8"/>
                </a:solidFill>
                <a:latin typeface="Malgun Gothic"/>
              </a:defRPr>
            </a:pPr>
            <a:r>
              <a:t>Mind2Web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1883664"/>
            <a:ext cx="10607040" cy="329184"/>
          </a:xfrm>
          <a:prstGeom prst="roundRect">
            <a:avLst/>
          </a:prstGeom>
          <a:solidFill>
            <a:srgbClr val="3B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883664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B923C"/>
                </a:solidFill>
                <a:latin typeface="Malgun Gothic"/>
              </a:defRPr>
            </a:pPr>
            <a:r>
              <a:t>Kimi-K2.5 (현재 사내 운영)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1883664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ADE80"/>
                </a:solidFill>
                <a:latin typeface="Malgun Gothic"/>
              </a:defRPr>
            </a:pPr>
            <a:r>
              <a:t>63.3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1883664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Malgun Gothic"/>
              </a:defRPr>
            </a:pPr>
            <a: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1883664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Malgun Gothic"/>
              </a:defRPr>
            </a:pPr>
            <a: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1883664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Malgun Gothic"/>
              </a:defRPr>
            </a:pPr>
            <a:r>
              <a:t>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2212848"/>
            <a:ext cx="10607040" cy="329184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212848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2E8F0"/>
                </a:solidFill>
                <a:latin typeface="Malgun Gothic"/>
              </a:defRPr>
            </a:pPr>
            <a:r>
              <a:t>UI-Venus-1.5 (Huawei)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2212848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Malgun Gothic"/>
              </a:defRPr>
            </a:pPr>
            <a: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212848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Malgun Gothic"/>
              </a:defRPr>
            </a:pPr>
            <a:r>
              <a:t>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2212848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ADE80"/>
                </a:solidFill>
                <a:latin typeface="Malgun Gothic"/>
              </a:defRPr>
            </a:pPr>
            <a:r>
              <a:t>77.6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2212848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Malgun Gothic"/>
              </a:defRPr>
            </a:pPr>
            <a:r>
              <a:t>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" y="2542032"/>
            <a:ext cx="10607040" cy="329184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2542032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2E8F0"/>
                </a:solidFill>
                <a:latin typeface="Malgun Gothic"/>
              </a:defRPr>
            </a:pPr>
            <a:r>
              <a:t>UI-TARS-2 (ByteDance)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2542032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ADE80"/>
                </a:solidFill>
                <a:latin typeface="Malgun Gothic"/>
              </a:defRPr>
            </a:pPr>
            <a:r>
              <a:t>47.5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2542032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ADE80"/>
                </a:solidFill>
                <a:latin typeface="Malgun Gothic"/>
              </a:defRPr>
            </a:pPr>
            <a:r>
              <a:t>50.6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542032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ADE80"/>
                </a:solidFill>
                <a:latin typeface="Malgun Gothic"/>
              </a:defRPr>
            </a:pPr>
            <a:r>
              <a:t>73.3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2542032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ADE80"/>
                </a:solidFill>
                <a:latin typeface="Malgun Gothic"/>
              </a:defRPr>
            </a:pPr>
            <a:r>
              <a:t>88.2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4400" y="2871215"/>
            <a:ext cx="10607040" cy="329184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2871215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2E8F0"/>
                </a:solidFill>
                <a:latin typeface="Malgun Gothic"/>
              </a:defRPr>
            </a:pPr>
            <a:r>
              <a:t>Claude 4 Sonnet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2871215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8BDF8"/>
                </a:solidFill>
                <a:latin typeface="Malgun Gothic"/>
              </a:defRPr>
            </a:pPr>
            <a:r>
              <a:t>43.9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0" y="2871215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Malgun Gothic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0" y="2871215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Malgun Gothic"/>
              </a:defRPr>
            </a:pPr>
            <a: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0" y="2871215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Malgun Gothic"/>
              </a:defRPr>
            </a:pPr>
            <a:r>
              <a:t>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4400" y="3200400"/>
            <a:ext cx="10607040" cy="329184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5840" y="3200400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2E8F0"/>
                </a:solidFill>
                <a:latin typeface="Malgun Gothic"/>
              </a:defRPr>
            </a:pPr>
            <a:r>
              <a:t>OpenAI CUA-o3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0560" y="3200400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8BDF8"/>
                </a:solidFill>
                <a:latin typeface="Malgun Gothic"/>
              </a:defRPr>
            </a:pPr>
            <a:r>
              <a:t>42.9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0" y="320040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Malgun Gothic"/>
              </a:defRPr>
            </a:pPr>
            <a: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320040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ADE80"/>
                </a:solidFill>
                <a:latin typeface="Malgun Gothic"/>
              </a:defRPr>
            </a:pPr>
            <a:r>
              <a:t>52.5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0" y="3200400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ADE80"/>
                </a:solidFill>
                <a:latin typeface="Malgun Gothic"/>
              </a:defRPr>
            </a:pPr>
            <a:r>
              <a:t>71.0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" y="3529584"/>
            <a:ext cx="10607040" cy="329184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5840" y="3529584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2E8F0"/>
                </a:solidFill>
                <a:latin typeface="Malgun Gothic"/>
              </a:defRPr>
            </a:pPr>
            <a:r>
              <a:t>UI-TARS-1.5 (ByteDance)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80560" y="3529584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8BDF8"/>
                </a:solidFill>
                <a:latin typeface="Malgun Gothic"/>
              </a:defRPr>
            </a:pPr>
            <a:r>
              <a:t>42.5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43600" y="3529584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8BDF8"/>
                </a:solidFill>
                <a:latin typeface="Malgun Gothic"/>
              </a:defRPr>
            </a:pPr>
            <a:r>
              <a:t>42.1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0" y="3529584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ADE80"/>
                </a:solidFill>
                <a:latin typeface="Malgun Gothic"/>
              </a:defRPr>
            </a:pPr>
            <a:r>
              <a:t>64.2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0" y="3529584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ADE80"/>
                </a:solidFill>
                <a:latin typeface="Malgun Gothic"/>
              </a:defRPr>
            </a:pPr>
            <a:r>
              <a:t>75.8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4400" y="3858768"/>
            <a:ext cx="10607040" cy="329184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5840" y="3858768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2E8F0"/>
                </a:solidFill>
                <a:latin typeface="Malgun Gothic"/>
              </a:defRPr>
            </a:pPr>
            <a:r>
              <a:t>Qwen3-VL-32B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80560" y="3858768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Malgun Gothic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0" y="3858768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Malgun Gothic"/>
              </a:defRPr>
            </a:pPr>
            <a: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72400" y="3858768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4ADE80"/>
                </a:solidFill>
                <a:latin typeface="Malgun Gothic"/>
              </a:defRPr>
            </a:pPr>
            <a:r>
              <a:t>63.7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0" y="3858768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  <a:latin typeface="Malgun Gothic"/>
              </a:defRPr>
            </a:pPr>
            <a:r>
              <a:t>—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14400" y="4206240"/>
            <a:ext cx="10332720" cy="2103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97280" y="425196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BBF24"/>
                </a:solidFill>
                <a:latin typeface="Malgun Gothic"/>
              </a:defRPr>
            </a:pPr>
            <a:r>
              <a:t>Kimi-K2.5 OSWorld 점수가 높은데 왜 부족한가?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97280" y="4663440"/>
            <a:ext cx="9966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  Kimi-K2.5는 OSWorld (63.3%)에서 높은 점수 → 다단계 작업 계획/추론 능력은 우수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  그러나 ScreenSpot-Pro (52.8%)에서 드러나듯, 정밀 클릭 좌표 능력은 GUI 전용 모델 대비 크게 부족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  RCS 자동화의 병목은 '어떤 순서로 할 것인가' (계획)가 아니라 '정확히 어디를 클릭할 것인가' (그라운딩)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  GUI 전용 모델 (UI-TARS, UI-Venus)은 정밀 그라운딩에 특화 → Kimi-K2.5의 계획 능력과 상호 보완 가능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8BDF8"/>
                </a:solidFill>
                <a:latin typeface="Malgun Gothic"/>
              </a:defRPr>
            </a:pPr>
            <a:r>
              <a:t>GPU 리소스 요구사항: H200 x 2 도입 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BBF24"/>
                </a:solidFill>
                <a:latin typeface="Malgun Gothic"/>
              </a:defRPr>
            </a:pPr>
            <a:r>
              <a:t>기존 Kimi-K2.5 사내 서버와 별도로, GUI 자동화 전용 모델 + UI 파싱 도구를 위한 독립 GPU 인프라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486400" cy="2468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173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8BDF8"/>
                </a:solidFill>
                <a:latin typeface="Malgun Gothic"/>
              </a:defRPr>
            </a:pPr>
            <a:r>
              <a:t>NVIDIA H200 SXM 사양 및 배포 전략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51206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Malgun Gothic"/>
              </a:defRPr>
            </a:pPr>
            <a:r>
              <a:t>  HBM3e 메모리: GPU당 141 GB / 2대 합계 282 GB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Malgun Gothic"/>
              </a:defRPr>
            </a:pPr>
            <a:r>
              <a:t>  메모리 대역폭: 4.8 TB/s | FP16: 989 TFLOPS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Malgun Gothic"/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Malgun Gothic"/>
              </a:defRPr>
            </a:pPr>
            <a:r>
              <a:t>  GPU 1 배포 계획: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Malgun Gothic"/>
              </a:defRPr>
            </a:pPr>
            <a:r>
              <a:t>    OmniParser V2 (~4GB) + UI-TARS-1.5-7B (~14GB)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Malgun Gothic"/>
              </a:defRPr>
            </a:pPr>
            <a:r>
              <a:t>    + UI-Venus-1.5-8B (~16GB) = 약 34GB → 배치 추론 여유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Malgun Gothic"/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Malgun Gothic"/>
              </a:defRPr>
            </a:pPr>
            <a:r>
              <a:t>  GPU 2 배포 계획: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Malgun Gothic"/>
              </a:defRPr>
            </a:pPr>
            <a:r>
              <a:t>    MAI-UI-32B (~64GB) 또는 파인튜닝 워크로드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Malgun Gothic"/>
              </a:defRPr>
            </a:pPr>
            <a:r>
              <a:t>    또는 UI-TARS-72B (~72GB INT8) 대형 모델 운영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303520" cy="2468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4173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ADE80"/>
                </a:solidFill>
                <a:latin typeface="Malgun Gothic"/>
              </a:defRPr>
            </a:pPr>
            <a:r>
              <a:t>왜 2대인가 (1대가 아닌 이유)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828800"/>
            <a:ext cx="49377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Malgun Gothic"/>
              </a:defRPr>
            </a:pPr>
            <a:r>
              <a:t>1. 파서 + 다중 VLM 동시 운영: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Malgun Gothic"/>
              </a:defRPr>
            </a:pPr>
            <a:r>
              <a:t>   OmniParser + 2~3개 GUI 전용 모델 병렬 서빙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Malgun Gothic"/>
              </a:defRPr>
            </a:pPr>
            <a:r>
              <a:t>2. 대형 모델 접근: 32B/72B 모델은 64~144GB 필요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Malgun Gothic"/>
              </a:defRPr>
            </a:pPr>
            <a:r>
              <a:t>   → 1대로는 다른 모델과 동시 운영 불가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Malgun Gothic"/>
              </a:defRPr>
            </a:pPr>
            <a:r>
              <a:t>3. A/B 테스트: UI-TARS vs MAI-UI vs UI-Venus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Malgun Gothic"/>
              </a:defRPr>
            </a:pPr>
            <a:r>
              <a:t>   비교 평가 및 자동 폴백 구현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Malgun Gothic"/>
              </a:defRPr>
            </a:pPr>
            <a:r>
              <a:t>4. 파인튜닝: LoRA 학습 시 추론의 2~4배 메모리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Malgun Gothic"/>
              </a:defRPr>
            </a:pPr>
            <a:r>
              <a:t>   → 한쪽에서 서빙, 한쪽에서 학습 병행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  <a:latin typeface="Malgun Gothic"/>
              </a:defRPr>
            </a:pPr>
            <a:r>
              <a:t>5. 미래 대비: 차세대 모델은 더 큰 파라미터 추세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14800"/>
            <a:ext cx="8503920" cy="320040"/>
          </a:xfrm>
          <a:prstGeom prst="round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1148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8BDF8"/>
                </a:solidFill>
                <a:latin typeface="Malgun Gothic"/>
              </a:defRPr>
            </a:pPr>
            <a:r>
              <a:t>모델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41148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8BDF8"/>
                </a:solidFill>
                <a:latin typeface="Malgun Gothic"/>
              </a:defRPr>
            </a:pPr>
            <a:r>
              <a:t>파라미터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41148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8BDF8"/>
                </a:solidFill>
                <a:latin typeface="Malgun Gothic"/>
              </a:defRPr>
            </a:pPr>
            <a:r>
              <a:t>FP16 VRAM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41148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8BDF8"/>
                </a:solidFill>
                <a:latin typeface="Malgun Gothic"/>
              </a:defRPr>
            </a:pPr>
            <a:r>
              <a:t>INT8 VRAM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434840"/>
            <a:ext cx="8503920" cy="320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4348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2E8F0"/>
                </a:solidFill>
                <a:latin typeface="Malgun Gothic"/>
              </a:defRPr>
            </a:pPr>
            <a:r>
              <a:t>OmniParser V2 (파서)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44348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Malgun Gothic"/>
              </a:defRPr>
            </a:pPr>
            <a:r>
              <a:t>YOLO+Florence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44348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Malgun Gothic"/>
              </a:defRPr>
            </a:pPr>
            <a:r>
              <a:t>~4-8 GB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44348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Malgun Gothic"/>
              </a:defRPr>
            </a:pPr>
            <a:r>
              <a:t>~2-4 GB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754880"/>
            <a:ext cx="8503920" cy="3200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7548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2E8F0"/>
                </a:solidFill>
                <a:latin typeface="Malgun Gothic"/>
              </a:defRPr>
            </a:pPr>
            <a:r>
              <a:t>UI-Venus-1.5-8B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23360" y="47548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Malgun Gothic"/>
              </a:defRPr>
            </a:pPr>
            <a:r>
              <a:t>8B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0" y="47548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Malgun Gothic"/>
              </a:defRPr>
            </a:pPr>
            <a:r>
              <a:t>~16 GB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47548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Malgun Gothic"/>
              </a:defRPr>
            </a:pPr>
            <a:r>
              <a:t>~8 GB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074920"/>
            <a:ext cx="8503920" cy="320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0749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2E8F0"/>
                </a:solidFill>
                <a:latin typeface="Malgun Gothic"/>
              </a:defRPr>
            </a:pPr>
            <a:r>
              <a:t>UI-TARS-1.5-7B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23360" y="50749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Malgun Gothic"/>
              </a:defRPr>
            </a:pPr>
            <a:r>
              <a:t>7B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0" y="50749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Malgun Gothic"/>
              </a:defRPr>
            </a:pPr>
            <a:r>
              <a:t>~14 GB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50749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Malgun Gothic"/>
              </a:defRPr>
            </a:pPr>
            <a:r>
              <a:t>~7 GB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5394960"/>
            <a:ext cx="8503920" cy="3200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3949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2E8F0"/>
                </a:solidFill>
                <a:latin typeface="Malgun Gothic"/>
              </a:defRPr>
            </a:pPr>
            <a:r>
              <a:t>MAI-UI-8B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23360" y="53949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Malgun Gothic"/>
              </a:defRPr>
            </a:pPr>
            <a:r>
              <a:t>8B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0" y="53949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Malgun Gothic"/>
              </a:defRPr>
            </a:pPr>
            <a:r>
              <a:t>~16 GB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53949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Malgun Gothic"/>
              </a:defRPr>
            </a:pPr>
            <a:r>
              <a:t>~8 GB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1520" y="5715000"/>
            <a:ext cx="8503920" cy="320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960" y="57150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2E8F0"/>
                </a:solidFill>
                <a:latin typeface="Malgun Gothic"/>
              </a:defRPr>
            </a:pPr>
            <a:r>
              <a:t>MAI-UI-32B (SOTA)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23360" y="57150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Malgun Gothic"/>
              </a:defRPr>
            </a:pPr>
            <a:r>
              <a:t>32B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0" y="57150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Malgun Gothic"/>
              </a:defRPr>
            </a:pPr>
            <a:r>
              <a:t>~64 GB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0" y="57150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Malgun Gothic"/>
              </a:defRPr>
            </a:pPr>
            <a:r>
              <a:t>~32 GB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31520" y="6035040"/>
            <a:ext cx="8503920" cy="3200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960" y="60350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2E8F0"/>
                </a:solidFill>
                <a:latin typeface="Malgun Gothic"/>
              </a:defRPr>
            </a:pPr>
            <a:r>
              <a:t>UI-TARS-1.5-72B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360" y="60350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Malgun Gothic"/>
              </a:defRPr>
            </a:pPr>
            <a:r>
              <a:t>72B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0" y="60350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Malgun Gothic"/>
              </a:defRPr>
            </a:pPr>
            <a:r>
              <a:t>~144 GB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60350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Malgun Gothic"/>
              </a:defRPr>
            </a:pPr>
            <a:r>
              <a:t>~72 GB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8BDF8"/>
                </a:solidFill>
                <a:latin typeface="Malgun Gothic"/>
              </a:defRPr>
            </a:pPr>
            <a:r>
              <a:t>현행 대비 개선 효과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097280"/>
            <a:ext cx="5303520" cy="53035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87171"/>
                </a:solidFill>
                <a:latin typeface="Malgun Gothic"/>
              </a:defRPr>
            </a:pPr>
            <a:r>
              <a:t>현행: Kimi-K2.5 단독 (사내 서버)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9377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운영 환경: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  - 사내 서버에서 Kimi-K2.5 API 서빙 중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  - 범용 VLM으로 다양한 업무에 활용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GUI 자동화 한계: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  - ScreenSpot-Pro 정확도 52.8%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  - 밀집된 좁은 영역 UI 요소 인식 불가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  - 클릭 좌표가 인접 요소로 빈번하게 이탈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  - UI 파싱 전처리 없이 VLM에 직접 의존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  - 범용 모델의 근본적 한계 — 해결 불가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결론: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  - Kimi-K2.5는 범용 업무 및 작업 계획에 적합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  - 정밀 GUI 그라운딩에는 전용 모델이 필요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  - UI 파싱 도구로 사전 요소 감지가 필수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097280"/>
            <a:ext cx="5303520" cy="53035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ADE80"/>
                </a:solidFill>
                <a:latin typeface="Malgun Gothic"/>
              </a:defRPr>
            </a:pPr>
            <a:r>
              <a:t>제안: 파서 + GUI VLM (별도 H200 x 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49377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운영 구조: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  - 기존 Kimi-K2.5 서버는 그대로 유지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  - 별도 H200 GPU 2대에 전용 모델 배포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  - OmniParser (파서) + GUI VLM 2단계 파이프라인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기대 효과: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  - 정확도 61.6~69.6% (UI-TARS, UI-Venus)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  - 현재 대비 최대 +32% 향상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  - OmniParser가 밀집 UI 요소를 사전 감지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  - 좁은 영역도 bbox로 분리 → 혼동 해소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  - RCS/CD-SEM 스크린샷으로 파인튜닝 가능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추가 이점: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  - Kimi-K2.5와 독립 운영 → 기존 서비스 무영향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  - OmniTool로 학습 데이터 자동 수집 가능</a:t>
            </a:r>
          </a:p>
          <a:p>
            <a:pPr>
              <a:spcAft>
                <a:spcPts val="400"/>
              </a:spcAft>
              <a:defRPr sz="1200">
                <a:solidFill>
                  <a:srgbClr val="94A3B8"/>
                </a:solidFill>
                <a:latin typeface="Malgun Gothic"/>
              </a:defRPr>
            </a:pPr>
            <a:r>
              <a:t>  - 멀티 모델 앙상블/폴백으로 안정성 확보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8BDF8"/>
                </a:solidFill>
                <a:latin typeface="Malgun Gothic"/>
              </a:defRPr>
            </a:pPr>
            <a:r>
              <a:t>구현 로드맵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097280"/>
            <a:ext cx="10698480" cy="1143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11556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8BDF8"/>
                </a:solidFill>
                <a:latin typeface="Malgun Gothic"/>
              </a:defRPr>
            </a:pPr>
            <a:r>
              <a:t>1단계: 즉시 착수 (1~2주차)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417319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algun Gothic"/>
              </a:defRPr>
            </a:pPr>
            <a:r>
              <a:t>  H200 GPU 1에 OmniParser V2 + UI-TARS-1.5-7B 배포 (vLLM 서빙)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73351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algun Gothic"/>
              </a:defRPr>
            </a:pPr>
            <a:r>
              <a:t>  OmniParser → UI-TARS 2단계 파이프라인 구현, 기존 poc/work/ 코드에 통합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929384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algun Gothic"/>
              </a:defRPr>
            </a:pPr>
            <a:r>
              <a:t>  A/B 테스트: Kimi-K2.5 단독 vs OmniParser+UI-TARS (RCS 로그인 + 탭 전환)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331720"/>
            <a:ext cx="10698480" cy="1143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35000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BBF24"/>
                </a:solidFill>
                <a:latin typeface="Malgun Gothic"/>
              </a:defRPr>
            </a:pPr>
            <a:r>
              <a:t>2단계: 검증 (3~4주차)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651760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algun Gothic"/>
              </a:defRPr>
            </a:pPr>
            <a:r>
              <a:t>  GPU 2에 UI-Venus-1.5-8B / MAI-UI-8B 배포 (보조 모델)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907791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algun Gothic"/>
              </a:defRPr>
            </a:pPr>
            <a:r>
              <a:t>  실제 RCS 스크린샷으로 벤치마크: 밀집 컨트롤 패널, 좁은 영역 클릭 정확도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163824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algun Gothic"/>
              </a:defRPr>
            </a:pPr>
            <a:r>
              <a:t>  모델 앙상블/폴백 구현: 파서+UI-TARS 우선 → UI-Venus 보조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566159"/>
            <a:ext cx="10698480" cy="1143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584447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ADE80"/>
                </a:solidFill>
                <a:latin typeface="Malgun Gothic"/>
              </a:defRPr>
            </a:pPr>
            <a:r>
              <a:t>3단계: 최적화 (2~3개월차)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886199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algun Gothic"/>
              </a:defRPr>
            </a:pPr>
            <a:r>
              <a:t>  자사 RCS/CD-SEM 스크린샷 데이터셋 구축 (OmniTool로 자동 수집)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4142231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algun Gothic"/>
              </a:defRPr>
            </a:pPr>
            <a:r>
              <a:t>  UI-TARS-1.5-7B 도메인 파인튜닝 (LoRA, GPU 2에서 학습)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398263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algun Gothic"/>
              </a:defRPr>
            </a:pPr>
            <a:r>
              <a:t>  전체 RCS 레시피 생성 파이프라인에 통합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800599"/>
            <a:ext cx="10698480" cy="1143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818887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18CF8"/>
                </a:solidFill>
                <a:latin typeface="Malgun Gothic"/>
              </a:defRPr>
            </a:pPr>
            <a:r>
              <a:t>4단계: 프로덕션 (3개월차~)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120639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algun Gothic"/>
              </a:defRPr>
            </a:pPr>
            <a:r>
              <a:t>  모니터링 및 자동 복구 기능 포함 프로덕션 배포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376671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algun Gothic"/>
              </a:defRPr>
            </a:pPr>
            <a:r>
              <a:t>  차세대 모델 (UI-TARS-2, UI-Venus v2, MAI-UI v2) 출시 시 평가 및 교체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5632703"/>
            <a:ext cx="10058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Malgun Gothic"/>
              </a:defRPr>
            </a:pPr>
            <a:r>
              <a:t>  내부 벤치마크 데이터셋으로 지속적 모델 평가 체계 확립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54864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38BDF8"/>
                </a:solidFill>
                <a:latin typeface="Malgun Gothic"/>
              </a:defRPr>
            </a:pPr>
            <a:r>
              <a:t>요약 및 요청사항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554480"/>
            <a:ext cx="9144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94A3B8"/>
                </a:solidFill>
                <a:latin typeface="Malgun Gothic"/>
              </a:defRPr>
            </a:pPr>
            <a:r>
              <a:t>1.  현재 사내 운영 중인 Kimi-K2.5는 ScreenSpot-Pro 기준 52.8% 정확도</a:t>
            </a:r>
          </a:p>
          <a:p>
            <a:pPr>
              <a:spcAft>
                <a:spcPts val="400"/>
              </a:spcAft>
              <a:defRPr sz="1400">
                <a:solidFill>
                  <a:srgbClr val="94A3B8"/>
                </a:solidFill>
                <a:latin typeface="Malgun Gothic"/>
              </a:defRPr>
            </a:pPr>
            <a:r>
              <a:t>     — 밀집 UI 요소가 많은 RCS 레시피 편집기에서 신뢰할 수 없는 수준</a:t>
            </a:r>
          </a:p>
          <a:p>
            <a:pPr>
              <a:spcAft>
                <a:spcPts val="400"/>
              </a:spcAft>
              <a:defRPr sz="1400">
                <a:solidFill>
                  <a:srgbClr val="94A3B8"/>
                </a:solidFill>
                <a:latin typeface="Malgun Gothic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94A3B8"/>
                </a:solidFill>
                <a:latin typeface="Malgun Gothic"/>
              </a:defRPr>
            </a:pPr>
            <a:r>
              <a:t>2.  특히 좁은 영역에 밀집된 UI 요소 (&lt;20px 간격)를 구분하지 못함</a:t>
            </a:r>
          </a:p>
          <a:p>
            <a:pPr>
              <a:spcAft>
                <a:spcPts val="400"/>
              </a:spcAft>
              <a:defRPr sz="1400">
                <a:solidFill>
                  <a:srgbClr val="94A3B8"/>
                </a:solidFill>
                <a:latin typeface="Malgun Gothic"/>
              </a:defRPr>
            </a:pPr>
            <a:r>
              <a:t>     — 클릭 좌표가 인접 요소로 이탈하여 자동화 실패</a:t>
            </a:r>
          </a:p>
          <a:p>
            <a:pPr>
              <a:spcAft>
                <a:spcPts val="400"/>
              </a:spcAft>
              <a:defRPr sz="1400">
                <a:solidFill>
                  <a:srgbClr val="94A3B8"/>
                </a:solidFill>
                <a:latin typeface="Malgun Gothic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94A3B8"/>
                </a:solidFill>
                <a:latin typeface="Malgun Gothic"/>
              </a:defRPr>
            </a:pPr>
            <a:r>
              <a:t>3.  GUI 전용 오픈소스 모델은 61~70% 정확도 (현재 대비 최대 +32% 향상)</a:t>
            </a:r>
          </a:p>
          <a:p>
            <a:pPr>
              <a:spcAft>
                <a:spcPts val="400"/>
              </a:spcAft>
              <a:defRPr sz="1400">
                <a:solidFill>
                  <a:srgbClr val="94A3B8"/>
                </a:solidFill>
                <a:latin typeface="Malgun Gothic"/>
              </a:defRPr>
            </a:pPr>
            <a:r>
              <a:t>     — UI-TARS-1.5-7B (61.6%), UI-Venus-1.5-8B (69.6%, SOTA)</a:t>
            </a:r>
          </a:p>
          <a:p>
            <a:pPr>
              <a:spcAft>
                <a:spcPts val="400"/>
              </a:spcAft>
              <a:defRPr sz="1400">
                <a:solidFill>
                  <a:srgbClr val="94A3B8"/>
                </a:solidFill>
                <a:latin typeface="Malgun Gothic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94A3B8"/>
                </a:solidFill>
                <a:latin typeface="Malgun Gothic"/>
              </a:defRPr>
            </a:pPr>
            <a:r>
              <a:t>4.  OmniParser 등 UI 파싱 도구를 전처리로 결합하면</a:t>
            </a:r>
          </a:p>
          <a:p>
            <a:pPr>
              <a:spcAft>
                <a:spcPts val="400"/>
              </a:spcAft>
              <a:defRPr sz="1400">
                <a:solidFill>
                  <a:srgbClr val="94A3B8"/>
                </a:solidFill>
                <a:latin typeface="Malgun Gothic"/>
              </a:defRPr>
            </a:pPr>
            <a:r>
              <a:t>     밀집 요소 사전 감지 → VLM 그라운딩 정확도 추가 향상</a:t>
            </a:r>
          </a:p>
          <a:p>
            <a:pPr>
              <a:spcAft>
                <a:spcPts val="400"/>
              </a:spcAft>
              <a:defRPr sz="1400">
                <a:solidFill>
                  <a:srgbClr val="94A3B8"/>
                </a:solidFill>
                <a:latin typeface="Malgun Gothic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94A3B8"/>
                </a:solidFill>
                <a:latin typeface="Malgun Gothic"/>
              </a:defRPr>
            </a:pPr>
            <a:r>
              <a:t>5.  기존 Kimi-K2.5 서버와 독립적으로 운영하여 기존 서비스 무영향</a:t>
            </a:r>
          </a:p>
          <a:p>
            <a:pPr>
              <a:spcAft>
                <a:spcPts val="400"/>
              </a:spcAft>
              <a:defRPr sz="1400">
                <a:solidFill>
                  <a:srgbClr val="94A3B8"/>
                </a:solidFill>
                <a:latin typeface="Malgun Gothic"/>
              </a:defRPr>
            </a:pPr>
            <a:r>
              <a:t>     H200 GPU 2대 (282GB)로 파서 + 다중 모델 서빙 + 파인튜닝 가능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5120640"/>
            <a:ext cx="9418320" cy="1097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54480" y="5166360"/>
            <a:ext cx="9052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8BDF8"/>
                </a:solidFill>
                <a:latin typeface="Malgun Gothic"/>
              </a:defRPr>
            </a:pPr>
            <a:r>
              <a:t>요청: GUI 자동화 전용 VLM + UI 파싱 도구 배포 및 파인튜닝을 위한</a:t>
            </a:r>
            <a:br/>
            <a:r>
              <a:t>NVIDIA H200 SXM GPU 2대 도입을 승인해 주시기 바랍니다.</a:t>
            </a:r>
            <a:br/>
            <a:r>
              <a:t>(기존 Kimi-K2.5 인프라와 별도 운영, 기존 서비스에 영향 없음)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