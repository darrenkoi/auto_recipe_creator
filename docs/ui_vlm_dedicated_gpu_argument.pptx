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2C4A"/>
                </a:solidFill>
              </a:defRPr>
            </a:pPr>
            <a:r>
              <a:t>Why We Need a Dedicated Local GPU for UI-Specialized VLMs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268"/>
                </a:solidFill>
              </a:defRPr>
            </a:pPr>
            <a:r>
              <a:t>CD-SEM/VeritySEM automation: current VLM struggles with dense, ambiguous UI elements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2529"/>
                </a:solidFill>
              </a:defRPr>
            </a:pPr>
            <a:r>
              <a:t>Observed issue: current general VLM often misses fine-grained UI components (nested panes, tiny icons, similar controls).</a:t>
            </a:r>
          </a:p>
          <a:p>
            <a:pPr>
              <a:defRPr sz="2000">
                <a:solidFill>
                  <a:srgbClr val="212529"/>
                </a:solidFill>
              </a:defRPr>
            </a:pPr>
            <a:r>
              <a:t>Consequence: repeated correction loops, unstable click targets, and slower recipe creation throughput.</a:t>
            </a:r>
          </a:p>
          <a:p>
            <a:pPr>
              <a:defRPr sz="2000">
                <a:solidFill>
                  <a:srgbClr val="212529"/>
                </a:solidFill>
              </a:defRPr>
            </a:pPr>
            <a:r>
              <a:t>Decision: run a UI-strong VLM locally on dedicated GPU to improve visual grounding, response time, and data control.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440680"/>
            <a:ext cx="10972800" cy="914400"/>
          </a:xfrm>
          <a:prstGeom prst="rect">
            <a:avLst/>
          </a:prstGeom>
          <a:solidFill>
            <a:srgbClr val="EBF5FF"/>
          </a:solidFill>
          <a:ln>
            <a:solidFill>
              <a:srgbClr val="14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42C4A"/>
                </a:solidFill>
              </a:defRPr>
            </a:pPr>
            <a:r>
              <a:t>Bottom line: for complicated industrial UI, model quality + local latency matter more than raw token price.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2C4A"/>
                </a:solidFill>
              </a:defRPr>
            </a:pPr>
            <a:r>
              <a:t>SOTA VLMs for UI Understanding (as of Feb 25,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268"/>
                </a:solidFill>
              </a:defRPr>
            </a:pPr>
            <a:r>
              <a:t>Higher is better. N/A means no public score in official model docs.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1152144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34440"/>
                <a:gridCol w="914400"/>
                <a:gridCol w="914400"/>
                <a:gridCol w="1828800"/>
                <a:gridCol w="4343400"/>
              </a:tblGrid>
              <a:tr h="476794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42C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ScreenSpot-Pro</a:t>
                      </a:r>
                    </a:p>
                  </a:txBody>
                  <a:tcPr>
                    <a:solidFill>
                      <a:srgbClr val="142C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OSWorld</a:t>
                      </a:r>
                    </a:p>
                  </a:txBody>
                  <a:tcPr>
                    <a:solidFill>
                      <a:srgbClr val="142C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OSWorld-G</a:t>
                      </a:r>
                    </a:p>
                  </a:txBody>
                  <a:tcPr>
                    <a:solidFill>
                      <a:srgbClr val="142C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Adoption signal</a:t>
                      </a:r>
                    </a:p>
                  </a:txBody>
                  <a:tcPr>
                    <a:solidFill>
                      <a:srgbClr val="142C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142C4A"/>
                    </a:solidFill>
                  </a:tcPr>
                </a:tc>
              </a:tr>
              <a:tr h="47679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Qwen3-VL-30B-A3B-Instruct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60.5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30.3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61.0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1.79M downloads/mo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Strong open model; widely used baseline for GUI agents.</a:t>
                      </a:r>
                    </a:p>
                  </a:txBody>
                  <a:tcPr/>
                </a:tc>
              </a:tr>
              <a:tr h="47679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UI-TARS-1.5-7B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61.6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42.5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9.7k GitHub stars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Purpose-built UI agent model; strong action grounding.</a:t>
                      </a:r>
                    </a:p>
                  </a:txBody>
                  <a:tcPr/>
                </a:tc>
              </a:tr>
              <a:tr h="47679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GroundNext-7B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52.9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67.7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GroundCUA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Grounding-focused; strong OSWorld-G generalization.</a:t>
                      </a:r>
                    </a:p>
                  </a:txBody>
                  <a:tcPr/>
                </a:tc>
              </a:tr>
              <a:tr h="47679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Gelato-30B-A3B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63.88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69.15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Open model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Best published open UI benchmark among listed models.</a:t>
                      </a:r>
                    </a:p>
                  </a:txBody>
                  <a:tcPr/>
                </a:tc>
              </a:tr>
              <a:tr h="47679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Gelato-30B-A3B + Refined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66.16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74.65</a:t>
                      </a:r>
                    </a:p>
                  </a:txBody>
                  <a:tcPr>
                    <a:solidFill>
                      <a:srgbClr val="E8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Open model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Top score with iterative refinement pipeline.</a:t>
                      </a:r>
                    </a:p>
                  </a:txBody>
                  <a:tcPr/>
                </a:tc>
              </a:tr>
              <a:tr h="47679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Kimi-K2.5-Instruct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1.38M downloads/mo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Frontier multimodal model; no public ScreenSpot/OSWorld in official card.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7472" y="5074920"/>
            <a:ext cx="1133856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268"/>
                </a:solidFill>
              </a:defRPr>
            </a:pPr>
            <a:r>
              <a:t>Sources: Qwen official model card (Qwen/Qwen3-VL-30B-A3B-Instruct), UI-TARS official GitHub README, GroundCUA official README,</a:t>
            </a:r>
          </a:p>
          <a:p>
            <a:pPr>
              <a:defRPr sz="1000">
                <a:solidFill>
                  <a:srgbClr val="5A6268"/>
                </a:solidFill>
              </a:defRPr>
            </a:pPr>
            <a:r>
              <a:t>Gelato model card (ServiceNow-AI/Gelato-30B-A3B), Kimi official model card (moonshotai/Kimi-K2.5-Instruct).</a:t>
            </a:r>
          </a:p>
          <a:p>
            <a:pPr>
              <a:defRPr sz="1000">
                <a:solidFill>
                  <a:srgbClr val="5A6268"/>
                </a:solidFill>
              </a:defRPr>
            </a:pPr>
            <a:r>
              <a:t>Note: OSWorld and OSWorld-G are different benchmarks; compare within the same column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2C4A"/>
                </a:solidFill>
              </a:defRPr>
            </a:pPr>
            <a:r>
              <a:t>Recommendation: Dedicated Local GPU for Stable UI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268"/>
                </a:solidFill>
              </a:defRPr>
            </a:pPr>
            <a:r>
              <a:t>Deploy a UI-specialized local model as default, keep cloud/frontier model as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54864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12529"/>
                </a:solidFill>
              </a:defRPr>
            </a:pPr>
            <a:r>
              <a:t>1) Default local model: UI-TARS-1.5-7B or Qwen3-VL-30B (quantized) for real-time UI grounding.</a:t>
            </a:r>
          </a:p>
          <a:p>
            <a:pPr>
              <a:defRPr sz="1700">
                <a:solidFill>
                  <a:srgbClr val="212529"/>
                </a:solidFill>
              </a:defRPr>
            </a:pPr>
            <a:r>
              <a:t>2) Fallback routing: escalate hard/ambiguous screens to larger model (e.g., Kimi-K2.5) only when needed.</a:t>
            </a:r>
          </a:p>
          <a:p>
            <a:pPr>
              <a:defRPr sz="1700">
                <a:solidFill>
                  <a:srgbClr val="212529"/>
                </a:solidFill>
              </a:defRPr>
            </a:pPr>
            <a:r>
              <a:t>3) Expected gain: fewer mis-click retries, faster step completion, better reproducibility and auditability.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737360"/>
          <a:ext cx="5669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142C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Target model class</a:t>
                      </a:r>
                    </a:p>
                  </a:txBody>
                  <a:tcPr>
                    <a:solidFill>
                      <a:srgbClr val="142C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GPU guidance</a:t>
                      </a:r>
                    </a:p>
                  </a:txBody>
                  <a:tcPr>
                    <a:solidFill>
                      <a:srgbClr val="142C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Pilot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7B UI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Single GPU (&gt;=24GB VRAM)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30B VLM (int4/int8)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Dedicated GPU (&gt;=48GB VRAM)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Frontier fallback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Kimi-K2.5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Multi-GPU node (official guide: TP8 H200)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4360" y="5486400"/>
            <a:ext cx="11292840" cy="822960"/>
          </a:xfrm>
          <a:prstGeom prst="rect">
            <a:avLst/>
          </a:prstGeom>
          <a:solidFill>
            <a:srgbClr val="EDFCF5"/>
          </a:solidFill>
          <a:ln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98754"/>
                </a:solidFill>
              </a:defRPr>
            </a:pPr>
            <a:r>
              <a:t>Ask: approve independent GPU budget so we can run UI-specialized local VLM as primary engine.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709160"/>
            <a:ext cx="56692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268"/>
                </a:solidFill>
              </a:defRPr>
            </a:pPr>
            <a:r>
              <a:t>Source for frontier deployment: moonshotai/Kimi-K2.5 Deployment Guide (TP8 H200 example).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2C4A"/>
                </a:solidFill>
              </a:defRPr>
            </a:pPr>
            <a:r>
              <a:t>OmniParser: Can It Be Used with UI-Specialized Models?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268"/>
                </a:solidFill>
              </a:defRPr>
            </a:pPr>
            <a:r>
              <a:t>Yes. Use OmniParser as the perception layer, then route actions to your UI-specialized VLM.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5669280" cy="3108960"/>
          </a:xfrm>
          <a:prstGeom prst="rect">
            <a:avLst/>
          </a:prstGeom>
          <a:solidFill>
            <a:srgbClr val="EEF6FF"/>
          </a:solidFill>
          <a:ln>
            <a:solidFill>
              <a:srgbClr val="14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42C4A"/>
                </a:solidFill>
              </a:defRPr>
            </a:pPr>
            <a:r>
              <a:t>What OmniParser does</a:t>
            </a:r>
          </a:p>
          <a:p>
            <a:pPr>
              <a:defRPr sz="1300" b="0">
                <a:solidFill>
                  <a:srgbClr val="212529"/>
                </a:solidFill>
              </a:defRPr>
            </a:pPr>
            <a:r>
              <a:t>• Converts screenshot into structured, actionable UI elements.</a:t>
            </a:r>
          </a:p>
          <a:p>
            <a:pPr>
              <a:defRPr sz="1300" b="0">
                <a:solidFill>
                  <a:srgbClr val="212529"/>
                </a:solidFill>
              </a:defRPr>
            </a:pPr>
            <a:r>
              <a:t>• Detects interactable regions and captions icons.</a:t>
            </a:r>
          </a:p>
          <a:p>
            <a:pPr>
              <a:defRPr sz="1300" b="0">
                <a:solidFill>
                  <a:srgbClr val="212529"/>
                </a:solidFill>
              </a:defRPr>
            </a:pPr>
            <a:r>
              <a:t>• Improves grounding for models that struggle with tiny/ambiguous controls.</a:t>
            </a:r>
          </a:p>
          <a:p>
            <a:pPr>
              <a:defRPr sz="1300" b="0">
                <a:solidFill>
                  <a:srgbClr val="212529"/>
                </a:solidFill>
              </a:defRPr>
            </a:pPr>
            <a:r>
              <a:t>• Reported gain: GPT-4o on ScreenSpot Pro 39.6 -&gt; 52.1.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645920"/>
            <a:ext cx="5349240" cy="3108960"/>
          </a:xfrm>
          <a:prstGeom prst="rect">
            <a:avLst/>
          </a:prstGeom>
          <a:solidFill>
            <a:srgbClr val="F1FCF5"/>
          </a:solidFill>
          <a:ln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98754"/>
                </a:solidFill>
              </a:defRPr>
            </a:pPr>
            <a:r>
              <a:t>Officially shown compatible (OmniTool)</a:t>
            </a:r>
          </a:p>
          <a:p>
            <a:pPr>
              <a:defRPr sz="1300" b="0">
                <a:solidFill>
                  <a:srgbClr val="212529"/>
                </a:solidFill>
              </a:defRPr>
            </a:pPr>
            <a:r>
              <a:t>• GPT-4o / o1 / o3-mini</a:t>
            </a:r>
          </a:p>
          <a:p>
            <a:pPr>
              <a:defRPr sz="1300" b="0">
                <a:solidFill>
                  <a:srgbClr val="212529"/>
                </a:solidFill>
              </a:defRPr>
            </a:pPr>
            <a:r>
              <a:t>• DeepSeek-R1 (via OpenRouter)</a:t>
            </a:r>
          </a:p>
          <a:p>
            <a:pPr>
              <a:defRPr sz="1300" b="0">
                <a:solidFill>
                  <a:srgbClr val="212529"/>
                </a:solidFill>
              </a:defRPr>
            </a:pPr>
            <a:r>
              <a:t>• Qwen2.5-VL series</a:t>
            </a:r>
          </a:p>
          <a:p>
            <a:pPr>
              <a:defRPr sz="1300" b="0">
                <a:solidFill>
                  <a:srgbClr val="212529"/>
                </a:solidFill>
              </a:defRPr>
            </a:pPr>
            <a:r>
              <a:t>• InternVL2.5-Llama3-76B</a:t>
            </a:r>
          </a:p>
          <a:p>
            <a:pPr>
              <a:defRPr sz="1300" b="0">
                <a:solidFill>
                  <a:srgbClr val="212529"/>
                </a:solidFill>
              </a:defRPr>
            </a:pPr>
            <a:r>
              <a:t>• Plus local model endpoints through adapter APIs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983480"/>
            <a:ext cx="11201400" cy="1325880"/>
          </a:xfrm>
          <a:prstGeom prst="rect">
            <a:avLst/>
          </a:prstGeom>
          <a:solidFill>
            <a:srgbClr val="FFFAE6"/>
          </a:solidFill>
          <a:ln>
            <a:solidFill>
              <a:srgbClr val="C8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12529"/>
                </a:solidFill>
              </a:defRPr>
            </a:pPr>
            <a:r>
              <a:t>Recommended stack for your case</a:t>
            </a:r>
          </a:p>
          <a:p>
            <a:pPr>
              <a:defRPr sz="1200" b="0">
                <a:solidFill>
                  <a:srgbClr val="212529"/>
                </a:solidFill>
              </a:defRPr>
            </a:pPr>
            <a:r>
              <a:t>Capture -&gt; OmniParser (element map) -&gt; UI-specialized VLM (Qwen3-VL/UI-TARS/GroundNext) -&gt; Action executor -&gt; Verifier</a:t>
            </a:r>
          </a:p>
          <a:p>
            <a:pPr>
              <a:defRPr sz="1200" b="0">
                <a:solidFill>
                  <a:srgbClr val="212529"/>
                </a:solidFill>
              </a:defRPr>
            </a:pPr>
            <a:r>
              <a:t>Inference: this hybrid design typically reduces coordinate hallucination and retry loops in complex industrial 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40080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268"/>
                </a:solidFill>
              </a:defRPr>
            </a:pPr>
            <a:r>
              <a:t>Sources: microsoft/OmniParser README + arXiv 2408.00203; compatibility list from OmniTool section in official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