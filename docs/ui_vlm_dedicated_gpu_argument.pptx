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C4A"/>
                </a:solidFill>
              </a:defRPr>
            </a:pPr>
            <a:r>
              <a:t>복잡 UI 대응을 위한 독립 GPU 필요성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8"/>
                </a:solidFill>
              </a:defRPr>
            </a:pPr>
            <a:r>
              <a:t>CD-SEM/VeritySEM 자동화: 현재 VLM은 복잡한 UI 요소 해석에서 한계가 확인됨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142C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72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212529"/>
                </a:solidFill>
              </a:defRPr>
            </a:pPr>
            <a:r>
              <a:t>관찰된 문제: 현재 범용 VLM은 중첩 패널, 작은 아이콘, 유사 컨트롤 구분에서 오인식이 잦음.</a:t>
            </a:r>
          </a:p>
          <a:p>
            <a:pPr>
              <a:defRPr sz="2000">
                <a:solidFill>
                  <a:srgbClr val="212529"/>
                </a:solidFill>
              </a:defRPr>
            </a:pPr>
            <a:r>
              <a:t>영향: 클릭 재시도 증가, 단계 실패 누적, 레시피 생성 리드타임 증가.</a:t>
            </a:r>
          </a:p>
          <a:p>
            <a:pPr>
              <a:defRPr sz="2000">
                <a:solidFill>
                  <a:srgbClr val="212529"/>
                </a:solidFill>
              </a:defRPr>
            </a:pPr>
            <a:r>
              <a:t>결론: UI 특화 로컬 VLM을 독립 GPU에서 상시 구동해 정확도·지연시간·재현성을 동시에 개선해야 함.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5440680"/>
            <a:ext cx="10972800" cy="914400"/>
          </a:xfrm>
          <a:prstGeom prst="rect">
            <a:avLst/>
          </a:prstGeom>
          <a:solidFill>
            <a:srgbClr val="EBF5FF"/>
          </a:solidFill>
          <a:ln>
            <a:solidFill>
              <a:srgbClr val="14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42C4A"/>
                </a:solidFill>
              </a:defRPr>
            </a:pPr>
            <a:r>
              <a:t>핵심: 산업용 복잡 UI 자동화에서는 모델 품질과 로컬 응답성이 비용보다 우선됨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C4A"/>
                </a:solidFill>
              </a:defRPr>
            </a:pPr>
            <a:r>
              <a:t>UI 이해 특화 SOTA VLM 비교 (2026-02-25 기준)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8"/>
                </a:solidFill>
              </a:defRPr>
            </a:pPr>
            <a:r>
              <a:t>값이 높을수록 우수. N/A는 공식 문서상 미공개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600200"/>
          <a:ext cx="115214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234440"/>
                <a:gridCol w="914400"/>
                <a:gridCol w="914400"/>
                <a:gridCol w="1828800"/>
                <a:gridCol w="4343400"/>
              </a:tblGrid>
              <a:tr h="476794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모델</a:t>
                      </a:r>
                    </a:p>
                  </a:txBody>
                  <a:tcPr>
                    <a:solidFill>
                      <a:srgbClr val="142C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ScreenSpot-Pro</a:t>
                      </a:r>
                    </a:p>
                  </a:txBody>
                  <a:tcPr>
                    <a:solidFill>
                      <a:srgbClr val="142C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OSWorld</a:t>
                      </a:r>
                    </a:p>
                  </a:txBody>
                  <a:tcPr>
                    <a:solidFill>
                      <a:srgbClr val="142C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OSWorld-G</a:t>
                      </a:r>
                    </a:p>
                  </a:txBody>
                  <a:tcPr>
                    <a:solidFill>
                      <a:srgbClr val="142C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활용 신호</a:t>
                      </a:r>
                    </a:p>
                  </a:txBody>
                  <a:tcPr>
                    <a:solidFill>
                      <a:srgbClr val="142C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FFFFF"/>
                          </a:solidFill>
                        </a:defRPr>
                      </a:pPr>
                      <a:r>
                        <a:t>요약</a:t>
                      </a:r>
                    </a:p>
                  </a:txBody>
                  <a:tcPr>
                    <a:solidFill>
                      <a:srgbClr val="142C4A"/>
                    </a:solidFill>
                  </a:tcPr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Qwen3-VL-30B-A3B-Instruct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60.5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30.3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61.0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월 179만 다운로드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오픈 모델 중 GUI 에이전트 기본선으로 널리 사용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UI-TARS-1.5-7B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61.6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42.5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GitHub 9.7k stars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UI 에이전트 목적 특화, 액션 grounding 강점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GroundNext-7B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52.9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67.7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GroundCUA 공식 공개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grounding 중심, OSWorld-G 일반화 강함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Gelato-30B-A3B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63.88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69.15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공식 모델 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공개 지표 기준 상위권 UI 성능</a:t>
                      </a:r>
                    </a:p>
                  </a:txBody>
                  <a:tcPr/>
                </a:tc>
              </a:tr>
              <a:tr h="47679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Gelato-30B-A3B + Refined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66.16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74.65</a:t>
                      </a:r>
                    </a:p>
                  </a:txBody>
                  <a:tcPr>
                    <a:solidFill>
                      <a:srgbClr val="E8F8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공식 모델 카드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반복 정제 파이프라인 포함 시 최고 점수</a:t>
                      </a:r>
                    </a:p>
                  </a:txBody>
                  <a:tcPr/>
                </a:tc>
              </a:tr>
              <a:tr h="476796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Kimi-K2.5-Instruct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월 138만 다운로드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프런티어 멀티모달 모델, UI 벤치마크 공개치 부재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47472" y="5074920"/>
            <a:ext cx="11338560" cy="1508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A6268"/>
                </a:solidFill>
              </a:defRPr>
            </a:pPr>
            <a:r>
              <a:t>출처: Qwen 공식 모델 카드(Qwen/Qwen3-VL-30B-A3B-Instruct), UI-TARS 공식 GitHub README, GroundCUA README,</a:t>
            </a:r>
          </a:p>
          <a:p>
            <a:pPr>
              <a:defRPr sz="1000">
                <a:solidFill>
                  <a:srgbClr val="5A6268"/>
                </a:solidFill>
              </a:defRPr>
            </a:pPr>
            <a:r>
              <a:t>Gelato 모델 카드(ServiceNow-AI/Gelato-30B-A3B), Kimi 공식 모델 카드(moonshotai/Kimi-K2.5-Instruct).</a:t>
            </a:r>
          </a:p>
          <a:p>
            <a:pPr>
              <a:defRPr sz="1000">
                <a:solidFill>
                  <a:srgbClr val="5A6268"/>
                </a:solidFill>
              </a:defRPr>
            </a:pPr>
            <a:r>
              <a:t>주의: OSWorld와 OSWorld-G는 다른 벤치마크이므로 동일 열 내에서만 비교 필요.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C4A"/>
                </a:solidFill>
              </a:defRPr>
            </a:pPr>
            <a:r>
              <a:t>권고안: UI 자동화 안정화를 위한 독립 GPU 도입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8"/>
                </a:solidFill>
              </a:defRPr>
            </a:pPr>
            <a:r>
              <a:t>기본은 로컬 UI 특화 모델, 난이도 높은 케이스만 프런티어 모델로 라우팅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645920"/>
            <a:ext cx="548640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212529"/>
                </a:solidFill>
              </a:defRPr>
            </a:pPr>
            <a:r>
              <a:t>1) 기본 로컬 모델: UI-TARS-1.5-7B 또는 Qwen3-VL-30B(양자화) 상시 운용</a:t>
            </a:r>
          </a:p>
          <a:p>
            <a:pPr>
              <a:defRPr sz="1700">
                <a:solidFill>
                  <a:srgbClr val="212529"/>
                </a:solidFill>
              </a:defRPr>
            </a:pPr>
            <a:r>
              <a:t>2) 예외 라우팅: 난해/모호 화면만 Kimi-K2.5급 모델로 업스케일</a:t>
            </a:r>
          </a:p>
          <a:p>
            <a:pPr>
              <a:defRPr sz="1700">
                <a:solidFill>
                  <a:srgbClr val="212529"/>
                </a:solidFill>
              </a:defRPr>
            </a:pPr>
            <a:r>
              <a:t>3) 기대효과: 오클릭 재시도 감소, 단계 완료 시간 단축, 재현성과 감사 용이성 향상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1737360"/>
          <a:ext cx="56692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68580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42C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권장 모델군</a:t>
                      </a:r>
                    </a:p>
                  </a:txBody>
                  <a:tcPr>
                    <a:solidFill>
                      <a:srgbClr val="142C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GPU 가이드</a:t>
                      </a:r>
                    </a:p>
                  </a:txBody>
                  <a:tcPr>
                    <a:solidFill>
                      <a:srgbClr val="142C4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파일럿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7B UI 특화 모델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단일 GPU (VRAM 24GB 이상)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프로덕션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30B VLM (int4/int8)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독립 GPU (VRAM 48GB 이상)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프런티어 보조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Kimi-K2.5급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12529"/>
                          </a:solidFill>
                        </a:defRPr>
                      </a:pPr>
                      <a:r>
                        <a:t>멀티 GPU 노드 (공식 예시: TP8 H200)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" y="5486400"/>
            <a:ext cx="11292840" cy="822960"/>
          </a:xfrm>
          <a:prstGeom prst="rect">
            <a:avLst/>
          </a:prstGeom>
          <a:solidFill>
            <a:srgbClr val="EDFCF5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98754"/>
                </a:solidFill>
              </a:defRPr>
            </a:pPr>
            <a:r>
              <a:t>요청사항: UI 특화 로컬 VLM 상시 구동을 위한 독립 GPU 예산 승인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4709160"/>
            <a:ext cx="56692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8"/>
                </a:solidFill>
              </a:defRPr>
            </a:pPr>
            <a:r>
              <a:t>프런티어 배치 근거: moonshotai/Kimi-K2.5 Deployment Guide (TP8 H200 예시).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42C4A"/>
                </a:solidFill>
              </a:defRPr>
            </a:pPr>
            <a:r>
              <a:t>OmniParser 병행 활용 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51560"/>
            <a:ext cx="110642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5A6268"/>
                </a:solidFill>
              </a:defRPr>
            </a:pPr>
            <a:r>
              <a:t>가능함: OmniParser를 인지 계층으로 두고 UI 특화 VLM과 결합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45920"/>
            <a:ext cx="5669280" cy="3108960"/>
          </a:xfrm>
          <a:prstGeom prst="rect">
            <a:avLst/>
          </a:prstGeom>
          <a:solidFill>
            <a:srgbClr val="EEF6FF"/>
          </a:solidFill>
          <a:ln>
            <a:solidFill>
              <a:srgbClr val="142C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42C4A"/>
                </a:solidFill>
              </a:defRPr>
            </a:pPr>
            <a:r>
              <a:t>OmniParser가 하는 일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• 스크린샷을 구조화된 UI 요소 목록으로 변환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• 인터랙션 가능한 영역 검출 + 아이콘 의미 캡셔닝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• 작은/모호한 컨트롤에서 모델 grounding 보강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• 공개 보고치: GPT-4o ScreenSpot Pro 39.6 -&gt; 52.1</a:t>
            </a:r>
          </a:p>
        </p:txBody>
      </p:sp>
      <p:sp>
        <p:nvSpPr>
          <p:cNvPr id="5" name="Rectangle 4"/>
          <p:cNvSpPr/>
          <p:nvPr/>
        </p:nvSpPr>
        <p:spPr>
          <a:xfrm>
            <a:off x="6355080" y="1645920"/>
            <a:ext cx="5349240" cy="3108960"/>
          </a:xfrm>
          <a:prstGeom prst="rect">
            <a:avLst/>
          </a:prstGeom>
          <a:solidFill>
            <a:srgbClr val="F1FCF5"/>
          </a:solidFill>
          <a:ln>
            <a:solidFill>
              <a:srgbClr val="1987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98754"/>
                </a:solidFill>
              </a:defRPr>
            </a:pPr>
            <a:r>
              <a:t>공식 호환(OmniTool 공개 예시)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• GPT-4o / o1 / o3-mini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• DeepSeek-R1 (OpenRouter 경유)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• Qwen2.5-VL 계열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• InternVL2.5-Llama3-76B</a:t>
            </a:r>
          </a:p>
          <a:p>
            <a:pPr>
              <a:defRPr sz="1300" b="0">
                <a:solidFill>
                  <a:srgbClr val="212529"/>
                </a:solidFill>
              </a:defRPr>
            </a:pPr>
            <a:r>
              <a:t>• 로컬 API 어댑터를 통한 자체 모델 연동 가능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983480"/>
            <a:ext cx="11201400" cy="1325880"/>
          </a:xfrm>
          <a:prstGeom prst="rect">
            <a:avLst/>
          </a:prstGeom>
          <a:solidFill>
            <a:srgbClr val="FFFAE6"/>
          </a:solidFill>
          <a:ln>
            <a:solidFill>
              <a:srgbClr val="C8A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12529"/>
                </a:solidFill>
              </a:defRPr>
            </a:pPr>
            <a:r>
              <a:t>권장 아키텍처</a:t>
            </a:r>
          </a:p>
          <a:p>
            <a:pPr>
              <a:defRPr sz="1200" b="0">
                <a:solidFill>
                  <a:srgbClr val="212529"/>
                </a:solidFill>
              </a:defRPr>
            </a:pPr>
            <a:r>
              <a:t>Capture -&gt; OmniParser(요소 맵) -&gt; UI 특화 VLM(Qwen3-VL/UI-TARS/GroundNext) -&gt; Action Executor -&gt; Verifier</a:t>
            </a:r>
          </a:p>
          <a:p>
            <a:pPr>
              <a:defRPr sz="1200" b="0">
                <a:solidFill>
                  <a:srgbClr val="212529"/>
                </a:solidFill>
              </a:defRPr>
            </a:pPr>
            <a:r>
              <a:t>실무 효과: 좌표 환각(hallucination)과 재시도 루프를 줄여 복잡 UI 자동화 안정성 개선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6400800"/>
            <a:ext cx="111556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A6268"/>
                </a:solidFill>
              </a:defRPr>
            </a:pPr>
            <a:r>
              <a:t>출처: microsoft/OmniParser README, arXiv 2408.00203, OmniTool 호환 모델 목록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